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7"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Assistant" pitchFamily="2" charset="-79"/>
      <p:regular r:id="rId15"/>
      <p:bold r:id="rId16"/>
    </p:embeddedFont>
    <p:embeddedFont>
      <p:font typeface="Assistant Medium" panose="020B0604020202020204" charset="-79"/>
      <p:regular r:id="rId17"/>
      <p:bold r:id="rId18"/>
    </p:embeddedFont>
    <p:embeddedFont>
      <p:font typeface="Assistant SemiBold" pitchFamily="2" charset="-79"/>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CB0DD0-7A76-43A5-AA74-EA01109FAF4E}">
  <a:tblStyle styleId="{1ECB0DD0-7A76-43A5-AA74-EA01109FAF4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754"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drivendata.org/competitions/66/flu-shot-learning/page/210/"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b56d264711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b56d264711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a:solidFill>
                  <a:schemeClr val="dk1"/>
                </a:solidFill>
              </a:rPr>
              <a:t>Hi, I’m Sergii, and together with Diana, we investigated one of the puzzling aspects of human behavior: </a:t>
            </a:r>
            <a:r>
              <a:rPr lang="en" b="1">
                <a:solidFill>
                  <a:schemeClr val="dk1"/>
                </a:solidFill>
              </a:rPr>
              <a:t>why people sometimes reject measures that protect their health, even when those measures are simple and proven.</a:t>
            </a:r>
            <a:r>
              <a:rPr lang="en">
                <a:solidFill>
                  <a:schemeClr val="dk1"/>
                </a:solidFill>
              </a:rPr>
              <a:t> We focused on the decision to get a flu vaccine, comparing uptake of the standard seasonal flu vaccine and the one for the H1N1 “swine flu” strain.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dfe2a7bf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adfe2a7b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Our work builds on data from the National 2009 U.S.-wide Flu Survey during the global H1N1 outbreak.</a:t>
            </a:r>
            <a:r>
              <a:rPr lang="en">
                <a:solidFill>
                  <a:schemeClr val="dk1"/>
                </a:solidFill>
                <a:uFill>
                  <a:noFill/>
                </a:uFill>
                <a:hlinkClick r:id="rId3">
                  <a:extLst>
                    <a:ext uri="{A12FA001-AC4F-418D-AE19-62706E023703}">
                      <ahyp:hlinkClr xmlns:ahyp="http://schemas.microsoft.com/office/drawing/2018/hyperlinkcolor" val="tx"/>
                    </a:ext>
                  </a:extLst>
                </a:hlinkClick>
              </a:rPr>
              <a:t> </a:t>
            </a:r>
            <a:r>
              <a:rPr lang="en">
                <a:solidFill>
                  <a:schemeClr val="dk1"/>
                </a:solidFill>
              </a:rPr>
              <a:t>The swine flu pandemic had caused hundreds of thousands of deaths worldwide, and the H1N1 vaccine became available in October 2009.</a:t>
            </a:r>
            <a:endParaRPr u="sng">
              <a:solidFill>
                <a:schemeClr val="hlink"/>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Using this large dataset (about 27,000 respondents) we looked at how socioeconomic, demographic, health-behavior and opinion factors shaped whether people got vaccinated. While the data are limited to a particular time (just after the H1N1 outbreak) and a specific population (U.S.), they still offer valuable, stable signals about decision patterns.</a:t>
            </a: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
                <a:solidFill>
                  <a:schemeClr val="dk1"/>
                </a:solidFill>
              </a:rPr>
              <a:t>Our findings can help public-health organisations understand and address why many people decline well-studied preventive measures. This matters especially in light of the recent COVID-19 pandemic, which underscored how dangerous low vaccination uptake can be.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d99f87c29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ad99f87c2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t>We started by ingesting and cleaning a large public flu-vaccination dataset, performing exploratory analysis and preprocessing to ensure data quality. </a:t>
            </a:r>
            <a:endParaRPr/>
          </a:p>
          <a:p>
            <a:pPr marL="0" lvl="0" indent="0" algn="l" rtl="0">
              <a:lnSpc>
                <a:spcPct val="115000"/>
              </a:lnSpc>
              <a:spcBef>
                <a:spcPts val="1200"/>
              </a:spcBef>
              <a:spcAft>
                <a:spcPts val="0"/>
              </a:spcAft>
              <a:buNone/>
            </a:pPr>
            <a:r>
              <a:rPr lang="en"/>
              <a:t>Next, we engineered new features based on the given ones and trained baseline models to establish initial predictive performance. </a:t>
            </a:r>
            <a:endParaRPr/>
          </a:p>
          <a:p>
            <a:pPr marL="0" lvl="0" indent="0" algn="l" rtl="0">
              <a:lnSpc>
                <a:spcPct val="115000"/>
              </a:lnSpc>
              <a:spcBef>
                <a:spcPts val="1200"/>
              </a:spcBef>
              <a:spcAft>
                <a:spcPts val="0"/>
              </a:spcAft>
              <a:buNone/>
            </a:pPr>
            <a:r>
              <a:rPr lang="en"/>
              <a:t>Through an iterative refinement loop, we used a popular model explainability technique (SHAP) to interpret predictions, reduce unnecessary features, and tune hyperparameters. </a:t>
            </a:r>
            <a:endParaRPr/>
          </a:p>
          <a:p>
            <a:pPr marL="0" lvl="0" indent="0" algn="l" rtl="0">
              <a:lnSpc>
                <a:spcPct val="115000"/>
              </a:lnSpc>
              <a:spcBef>
                <a:spcPts val="1200"/>
              </a:spcBef>
              <a:spcAft>
                <a:spcPts val="1200"/>
              </a:spcAft>
              <a:buNone/>
            </a:pPr>
            <a:r>
              <a:rPr lang="en"/>
              <a:t>Finally, we retrained the optimized model and prepared it for submission and interactive deployment via a Streamlit application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af83f1124d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af83f1124d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It is important to keep in mind that </a:t>
            </a:r>
            <a:r>
              <a:rPr lang="en" b="1">
                <a:solidFill>
                  <a:schemeClr val="dk1"/>
                </a:solidFill>
              </a:rPr>
              <a:t>every dataset reflects the population it was collected from and therefore carries representational biases</a:t>
            </a:r>
            <a:r>
              <a:rPr lang="en">
                <a:solidFill>
                  <a:schemeClr val="dk1"/>
                </a:solidFill>
              </a:rPr>
              <a:t>. Before extending any conclusions to other contexts or countries, we need to understand who is actually represented in the data.</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This slide summarizes the socio-economic composition of our dataset. The sample is predominantly White, relatively well educated, and largely employed, with a high share of homeowners. Income and education levels are skewed toward middle- and higher-income groups, and women are slightly more represented, especially in older age groups.</a:t>
            </a:r>
            <a:endParaRPr>
              <a:solidFill>
                <a:schemeClr val="dk1"/>
              </a:solidFill>
            </a:endParaRPr>
          </a:p>
          <a:p>
            <a:pPr marL="0" lvl="0" indent="0" algn="l" rtl="0">
              <a:lnSpc>
                <a:spcPct val="115000"/>
              </a:lnSpc>
              <a:spcBef>
                <a:spcPts val="1200"/>
              </a:spcBef>
              <a:spcAft>
                <a:spcPts val="1200"/>
              </a:spcAft>
              <a:buNone/>
            </a:pPr>
            <a:r>
              <a:rPr lang="en">
                <a:solidFill>
                  <a:schemeClr val="dk1"/>
                </a:solidFill>
              </a:rPr>
              <a:t>These characteristics are essential context for interpreting our results: they shape both vaccination behavior and the limits of how broadly our findings can be generalized beyond the U.S. population captured in this survey.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ae1753e475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ae1753e475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solidFill>
                  <a:schemeClr val="dk1"/>
                </a:solidFill>
              </a:rPr>
              <a:t>The dataset contains </a:t>
            </a:r>
            <a:r>
              <a:rPr lang="en" b="1">
                <a:solidFill>
                  <a:schemeClr val="dk1"/>
                </a:solidFill>
              </a:rPr>
              <a:t>dozens of heterogeneous features</a:t>
            </a:r>
            <a:r>
              <a:rPr lang="en">
                <a:solidFill>
                  <a:schemeClr val="dk1"/>
                </a:solidFill>
              </a:rPr>
              <a:t> covering health behavior, opinions, demographics, and socio-economic context. Our strategy focused on </a:t>
            </a:r>
            <a:r>
              <a:rPr lang="en" b="1">
                <a:solidFill>
                  <a:schemeClr val="dk1"/>
                </a:solidFill>
              </a:rPr>
              <a:t>making this complexity usable without losing meaning</a:t>
            </a:r>
            <a:r>
              <a:rPr lang="en">
                <a:solidFill>
                  <a:schemeClr val="dk1"/>
                </a:solidFill>
              </a:rPr>
              <a:t>.</a:t>
            </a:r>
            <a:endParaRPr>
              <a:solidFill>
                <a:schemeClr val="dk1"/>
              </a:solidFill>
            </a:endParaRPr>
          </a:p>
          <a:p>
            <a:pPr marL="0" lvl="0" indent="0" algn="l" rtl="0">
              <a:lnSpc>
                <a:spcPct val="100000"/>
              </a:lnSpc>
              <a:spcBef>
                <a:spcPts val="1200"/>
              </a:spcBef>
              <a:spcAft>
                <a:spcPts val="0"/>
              </a:spcAft>
              <a:buNone/>
            </a:pPr>
            <a:r>
              <a:rPr lang="en" b="1">
                <a:solidFill>
                  <a:schemeClr val="dk1"/>
                </a:solidFill>
              </a:rPr>
              <a:t>Missingness was handled explicitly and intentionally</a:t>
            </a:r>
            <a:r>
              <a:rPr lang="en">
                <a:solidFill>
                  <a:schemeClr val="dk1"/>
                </a:solidFill>
              </a:rPr>
              <a:t>, rather than treated as noise.</a:t>
            </a:r>
            <a:endParaRPr>
              <a:solidFill>
                <a:schemeClr val="dk1"/>
              </a:solidFill>
            </a:endParaRPr>
          </a:p>
          <a:p>
            <a:pPr marL="457200" lvl="0" indent="-298450" algn="l" rtl="0">
              <a:lnSpc>
                <a:spcPct val="100000"/>
              </a:lnSpc>
              <a:spcBef>
                <a:spcPts val="1200"/>
              </a:spcBef>
              <a:spcAft>
                <a:spcPts val="0"/>
              </a:spcAft>
              <a:buClr>
                <a:schemeClr val="dk1"/>
              </a:buClr>
              <a:buSzPts val="1100"/>
              <a:buChar char="-"/>
            </a:pPr>
            <a:r>
              <a:rPr lang="en">
                <a:solidFill>
                  <a:schemeClr val="dk1"/>
                </a:solidFill>
              </a:rPr>
              <a:t>For behavioral and opinion variables, we used </a:t>
            </a:r>
            <a:r>
              <a:rPr lang="en" b="1">
                <a:solidFill>
                  <a:schemeClr val="dk1"/>
                </a:solidFill>
              </a:rPr>
              <a:t>median imputation</a:t>
            </a:r>
            <a:r>
              <a:rPr lang="en">
                <a:solidFill>
                  <a:schemeClr val="dk1"/>
                </a:solidFill>
              </a:rPr>
              <a:t> to preserve scale meaning.</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a:solidFill>
                  <a:schemeClr val="dk1"/>
                </a:solidFill>
              </a:rPr>
              <a:t>For socio-economic and employment variables, missing values were treated as </a:t>
            </a:r>
            <a:r>
              <a:rPr lang="en" b="1">
                <a:solidFill>
                  <a:schemeClr val="dk1"/>
                </a:solidFill>
              </a:rPr>
              <a:t>informative categories</a:t>
            </a:r>
            <a:r>
              <a:rPr lang="en">
                <a:solidFill>
                  <a:schemeClr val="dk1"/>
                </a:solidFill>
              </a:rPr>
              <a:t>.</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a:solidFill>
                  <a:schemeClr val="dk1"/>
                </a:solidFill>
              </a:rPr>
              <a:t>Doctor-recommendation fields were conservatively imputed as “no recommendation” when missing.</a:t>
            </a:r>
            <a:endParaRPr>
              <a:solidFill>
                <a:schemeClr val="dk1"/>
              </a:solidFill>
            </a:endParaRPr>
          </a:p>
          <a:p>
            <a:pPr marL="0" lvl="0" indent="0" algn="l" rtl="0">
              <a:lnSpc>
                <a:spcPct val="100000"/>
              </a:lnSpc>
              <a:spcBef>
                <a:spcPts val="1200"/>
              </a:spcBef>
              <a:spcAft>
                <a:spcPts val="0"/>
              </a:spcAft>
              <a:buNone/>
            </a:pPr>
            <a:r>
              <a:rPr lang="en">
                <a:solidFill>
                  <a:schemeClr val="dk1"/>
                </a:solidFill>
              </a:rPr>
              <a:t>For </a:t>
            </a:r>
            <a:r>
              <a:rPr lang="en" b="1">
                <a:solidFill>
                  <a:schemeClr val="dk1"/>
                </a:solidFill>
              </a:rPr>
              <a:t>encoding</a:t>
            </a:r>
            <a:r>
              <a:rPr lang="en">
                <a:solidFill>
                  <a:schemeClr val="dk1"/>
                </a:solidFill>
              </a:rPr>
              <a:t>, we applied different methods depending on semantics:</a:t>
            </a:r>
            <a:endParaRPr>
              <a:solidFill>
                <a:schemeClr val="dk1"/>
              </a:solidFill>
            </a:endParaRPr>
          </a:p>
          <a:p>
            <a:pPr marL="457200" lvl="0" indent="-298450" algn="l" rtl="0">
              <a:lnSpc>
                <a:spcPct val="100000"/>
              </a:lnSpc>
              <a:spcBef>
                <a:spcPts val="1200"/>
              </a:spcBef>
              <a:spcAft>
                <a:spcPts val="0"/>
              </a:spcAft>
              <a:buClr>
                <a:schemeClr val="dk1"/>
              </a:buClr>
              <a:buSzPts val="1100"/>
              <a:buChar char="-"/>
            </a:pPr>
            <a:r>
              <a:rPr lang="en" b="1">
                <a:solidFill>
                  <a:schemeClr val="dk1"/>
                </a:solidFill>
              </a:rPr>
              <a:t>Ordinal mappings</a:t>
            </a:r>
            <a:r>
              <a:rPr lang="en">
                <a:solidFill>
                  <a:schemeClr val="dk1"/>
                </a:solidFill>
              </a:rPr>
              <a:t> for naturally ordered features like age, education, and income.</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b="1">
                <a:solidFill>
                  <a:schemeClr val="dk1"/>
                </a:solidFill>
              </a:rPr>
              <a:t>One-hot encoding</a:t>
            </a:r>
            <a:r>
              <a:rPr lang="en">
                <a:solidFill>
                  <a:schemeClr val="dk1"/>
                </a:solidFill>
              </a:rPr>
              <a:t> for small categorical sets (e.g. sex, insurance, housing).</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b="1">
                <a:solidFill>
                  <a:schemeClr val="dk1"/>
                </a:solidFill>
              </a:rPr>
              <a:t>Target encoding</a:t>
            </a:r>
            <a:r>
              <a:rPr lang="en">
                <a:solidFill>
                  <a:schemeClr val="dk1"/>
                </a:solidFill>
              </a:rPr>
              <a:t> for high-cardinality features (industry and occupation) to retain predictive signal without exploding dimensionality.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ae1753e47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ae1753e47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solidFill>
                  <a:schemeClr val="dk1"/>
                </a:solidFill>
              </a:rPr>
              <a:t>Finally, we introduced </a:t>
            </a:r>
            <a:r>
              <a:rPr lang="en" b="1">
                <a:solidFill>
                  <a:schemeClr val="dk1"/>
                </a:solidFill>
              </a:rPr>
              <a:t>feature engineering to reflect real-world decision mechanisms</a:t>
            </a:r>
            <a:r>
              <a:rPr lang="en">
                <a:solidFill>
                  <a:schemeClr val="dk1"/>
                </a:solidFill>
              </a:rPr>
              <a:t> rather than isolated variables.</a:t>
            </a:r>
            <a:endParaRPr>
              <a:solidFill>
                <a:schemeClr val="dk1"/>
              </a:solidFill>
            </a:endParaRPr>
          </a:p>
          <a:p>
            <a:pPr marL="0" lvl="0" indent="0" algn="l" rtl="0">
              <a:lnSpc>
                <a:spcPct val="115000"/>
              </a:lnSpc>
              <a:spcBef>
                <a:spcPts val="1200"/>
              </a:spcBef>
              <a:spcAft>
                <a:spcPts val="0"/>
              </a:spcAft>
              <a:buNone/>
            </a:pPr>
            <a:r>
              <a:rPr lang="en">
                <a:solidFill>
                  <a:schemeClr val="dk1"/>
                </a:solidFill>
              </a:rPr>
              <a:t>We engineered features by grouping many individual survey questions into meaningful categories that reflect how people actually make health decisions, such as behavior, beliefs, medical risk, and access to medical services.</a:t>
            </a:r>
            <a:endParaRPr>
              <a:solidFill>
                <a:schemeClr val="dk1"/>
              </a:solidFill>
            </a:endParaRPr>
          </a:p>
          <a:p>
            <a:pPr marL="0" marR="381000" lvl="0" indent="0" algn="l" rtl="0">
              <a:lnSpc>
                <a:spcPct val="115000"/>
              </a:lnSpc>
              <a:spcBef>
                <a:spcPts val="1200"/>
              </a:spcBef>
              <a:spcAft>
                <a:spcPts val="0"/>
              </a:spcAft>
              <a:buNone/>
            </a:pPr>
            <a:r>
              <a:rPr lang="en">
                <a:solidFill>
                  <a:schemeClr val="dk1"/>
                </a:solidFill>
              </a:rPr>
              <a:t>One example is </a:t>
            </a:r>
            <a:r>
              <a:rPr lang="en" i="1">
                <a:solidFill>
                  <a:schemeClr val="dk1"/>
                </a:solidFill>
              </a:rPr>
              <a:t>Perceived Vaccine Advantage</a:t>
            </a:r>
            <a:r>
              <a:rPr lang="en">
                <a:solidFill>
                  <a:schemeClr val="dk1"/>
                </a:solidFill>
              </a:rPr>
              <a:t>. Instead of treating opinions separately, we combined three related ideas: how effective people think the vaccine is, how risky they believe the disease is, and how worried they are about possible side effects.</a:t>
            </a:r>
            <a:endParaRPr>
              <a:solidFill>
                <a:schemeClr val="dk1"/>
              </a:solidFill>
            </a:endParaRPr>
          </a:p>
          <a:p>
            <a:pPr marL="0" marR="381000" lvl="0" indent="0" algn="l" rtl="0">
              <a:lnSpc>
                <a:spcPct val="115000"/>
              </a:lnSpc>
              <a:spcBef>
                <a:spcPts val="1200"/>
              </a:spcBef>
              <a:spcAft>
                <a:spcPts val="1200"/>
              </a:spcAft>
              <a:buNone/>
            </a:pPr>
            <a:r>
              <a:rPr lang="en">
                <a:solidFill>
                  <a:schemeClr val="dk1"/>
                </a:solidFill>
              </a:rPr>
              <a:t>This mirrors a natural thought process: people mentally weigh benefits against risks before acting. By encoding that trade-off directly, we aim to represent decision-making more realistically than with isolated variables.</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ae1753e475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ae1753e475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Assistant"/>
              <a:buAutoNum type="arabicPeriod"/>
            </a:pPr>
            <a:r>
              <a:rPr lang="en" sz="1200">
                <a:solidFill>
                  <a:schemeClr val="dk1"/>
                </a:solidFill>
                <a:latin typeface="Assistant"/>
                <a:ea typeface="Assistant"/>
                <a:cs typeface="Assistant"/>
                <a:sym typeface="Assistant"/>
              </a:rPr>
              <a:t>We started with a distinct challenge: two very different datasets. The Seasonal Flu data is effectively balanced, but the H1N1 data is heavily skewed, with only 21% of people actually getting the vaccine.</a:t>
            </a:r>
            <a:endParaRPr sz="1200">
              <a:solidFill>
                <a:schemeClr val="dk1"/>
              </a:solidFill>
              <a:latin typeface="Assistant"/>
              <a:ea typeface="Assistant"/>
              <a:cs typeface="Assistant"/>
              <a:sym typeface="Assistant"/>
            </a:endParaRPr>
          </a:p>
          <a:p>
            <a:pPr marL="457200" lvl="0" indent="-304800" algn="l" rtl="0">
              <a:lnSpc>
                <a:spcPct val="115000"/>
              </a:lnSpc>
              <a:spcBef>
                <a:spcPts val="0"/>
              </a:spcBef>
              <a:spcAft>
                <a:spcPts val="0"/>
              </a:spcAft>
              <a:buClr>
                <a:schemeClr val="dk1"/>
              </a:buClr>
              <a:buSzPts val="1200"/>
              <a:buFont typeface="Assistant"/>
              <a:buAutoNum type="arabicPeriod"/>
            </a:pPr>
            <a:r>
              <a:rPr lang="en" sz="1200">
                <a:solidFill>
                  <a:schemeClr val="dk1"/>
                </a:solidFill>
                <a:latin typeface="Assistant"/>
                <a:ea typeface="Assistant"/>
                <a:cs typeface="Assistant"/>
                <a:sym typeface="Assistant"/>
              </a:rPr>
              <a:t>To handle this, we tested three models: a Logistic Regression baseline, a Random Forest, and LightGBM, which is state-of-the-art for tabular data. We chose ROC-AUC as our guiding metric because it ignores the imbalance: we need a model that actually ranks high-risk people correctly, not just one that maximizes accuracy by guessing 'No' every time.</a:t>
            </a:r>
            <a:endParaRPr sz="1200">
              <a:solidFill>
                <a:schemeClr val="dk1"/>
              </a:solidFill>
              <a:latin typeface="Assistant"/>
              <a:ea typeface="Assistant"/>
              <a:cs typeface="Assistant"/>
              <a:sym typeface="Assistant"/>
            </a:endParaRPr>
          </a:p>
          <a:p>
            <a:pPr marL="457200" lvl="0" indent="-304800" algn="l" rtl="0">
              <a:lnSpc>
                <a:spcPct val="115000"/>
              </a:lnSpc>
              <a:spcBef>
                <a:spcPts val="0"/>
              </a:spcBef>
              <a:spcAft>
                <a:spcPts val="0"/>
              </a:spcAft>
              <a:buClr>
                <a:schemeClr val="dk1"/>
              </a:buClr>
              <a:buSzPts val="1200"/>
              <a:buFont typeface="Assistant"/>
              <a:buAutoNum type="arabicPeriod"/>
            </a:pPr>
            <a:r>
              <a:rPr lang="en" sz="1200">
                <a:solidFill>
                  <a:schemeClr val="dk1"/>
                </a:solidFill>
                <a:latin typeface="Assistant"/>
                <a:ea typeface="Assistant"/>
                <a:cs typeface="Assistant"/>
                <a:sym typeface="Assistant"/>
              </a:rPr>
              <a:t>The clear winner was LightGBM, scoring an 0.87 AUC for H1N1 and 0.86 for Seasonal Flu.</a:t>
            </a:r>
            <a:endParaRPr sz="1200">
              <a:solidFill>
                <a:schemeClr val="dk1"/>
              </a:solidFill>
              <a:latin typeface="Assistant"/>
              <a:ea typeface="Assistant"/>
              <a:cs typeface="Assistant"/>
              <a:sym typeface="Assistant"/>
            </a:endParaRPr>
          </a:p>
          <a:p>
            <a:pPr marL="457200" lvl="0" indent="-304800" algn="l" rtl="0">
              <a:lnSpc>
                <a:spcPct val="115000"/>
              </a:lnSpc>
              <a:spcBef>
                <a:spcPts val="0"/>
              </a:spcBef>
              <a:spcAft>
                <a:spcPts val="0"/>
              </a:spcAft>
              <a:buClr>
                <a:schemeClr val="dk1"/>
              </a:buClr>
              <a:buSzPts val="1200"/>
              <a:buFont typeface="Assistant"/>
              <a:buAutoNum type="arabicPeriod"/>
            </a:pPr>
            <a:r>
              <a:rPr lang="en" sz="1200">
                <a:solidFill>
                  <a:schemeClr val="dk1"/>
                </a:solidFill>
                <a:latin typeface="Assistant"/>
                <a:ea typeface="Assistant"/>
                <a:cs typeface="Assistant"/>
                <a:sym typeface="Assistant"/>
              </a:rPr>
              <a:t>But looking deeper, we see a key difference. The Seasonal model is balanced, missing about 20% of cases either way. The H1N1 model, however, is too conservative. It misses only 6% of the unvaccinated, but it misses nearly half of the people who actually got the vaccine.</a:t>
            </a:r>
            <a:endParaRPr sz="1200">
              <a:solidFill>
                <a:schemeClr val="dk1"/>
              </a:solidFill>
              <a:latin typeface="Assistant"/>
              <a:ea typeface="Assistant"/>
              <a:cs typeface="Assistant"/>
              <a:sym typeface="Assistant"/>
            </a:endParaRPr>
          </a:p>
          <a:p>
            <a:pPr marL="457200" lvl="0" indent="-304800" algn="l" rtl="0">
              <a:lnSpc>
                <a:spcPct val="115000"/>
              </a:lnSpc>
              <a:spcBef>
                <a:spcPts val="0"/>
              </a:spcBef>
              <a:spcAft>
                <a:spcPts val="0"/>
              </a:spcAft>
              <a:buClr>
                <a:schemeClr val="dk1"/>
              </a:buClr>
              <a:buSzPts val="1200"/>
              <a:buFont typeface="Assistant"/>
              <a:buAutoNum type="arabicPeriod"/>
            </a:pPr>
            <a:r>
              <a:rPr lang="en" sz="1200">
                <a:solidFill>
                  <a:schemeClr val="dk1"/>
                </a:solidFill>
                <a:latin typeface="Assistant"/>
                <a:ea typeface="Assistant"/>
                <a:cs typeface="Assistant"/>
                <a:sym typeface="Assistant"/>
              </a:rPr>
              <a:t>That key insight defines our next step: we need to fine-tune specifically to fix that recall gap</a:t>
            </a:r>
            <a:endParaRPr sz="1200">
              <a:solidFill>
                <a:schemeClr val="dk1"/>
              </a:solidFill>
              <a:latin typeface="Assistant"/>
              <a:ea typeface="Assistant"/>
              <a:cs typeface="Assistant"/>
              <a:sym typeface="Assistan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9176771680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9176771680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We selected </a:t>
            </a:r>
            <a:r>
              <a:rPr lang="en" b="1">
                <a:solidFill>
                  <a:schemeClr val="dk1"/>
                </a:solidFill>
              </a:rPr>
              <a:t>LightGBM</a:t>
            </a:r>
            <a:r>
              <a:rPr lang="en">
                <a:solidFill>
                  <a:schemeClr val="dk1"/>
                </a:solidFill>
              </a:rPr>
              <a:t> after comparing several models because it achieved the strongest overall performance.</a:t>
            </a:r>
            <a:endParaRPr>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The key challenge was </a:t>
            </a:r>
            <a:r>
              <a:rPr lang="en" b="1">
                <a:solidFill>
                  <a:schemeClr val="dk1"/>
                </a:solidFill>
              </a:rPr>
              <a:t>class imbalance</a:t>
            </a:r>
            <a:r>
              <a:rPr lang="en">
                <a:solidFill>
                  <a:schemeClr val="dk1"/>
                </a:solidFill>
              </a:rPr>
              <a:t>, especially for H1N1, where vaccinated cases were much rarer. Optimizing for standard metrics would favor predicting “no,” so we instead fine-tuned the model using </a:t>
            </a:r>
            <a:r>
              <a:rPr lang="en" b="1">
                <a:solidFill>
                  <a:schemeClr val="dk1"/>
                </a:solidFill>
              </a:rPr>
              <a:t>F1-score</a:t>
            </a:r>
            <a:r>
              <a:rPr lang="en">
                <a:solidFill>
                  <a:schemeClr val="dk1"/>
                </a:solidFill>
              </a:rPr>
              <a:t>, which balances precision and recall and better reflects the real objective.</a:t>
            </a:r>
            <a:endParaRPr>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We also adjusted for imbalance using </a:t>
            </a:r>
            <a:r>
              <a:rPr lang="en" b="1">
                <a:solidFill>
                  <a:schemeClr val="dk1"/>
                </a:solidFill>
              </a:rPr>
              <a:t>class weighting</a:t>
            </a:r>
            <a:r>
              <a:rPr lang="en">
                <a:solidFill>
                  <a:schemeClr val="dk1"/>
                </a:solidFill>
              </a:rPr>
              <a:t> and validated the tuning with </a:t>
            </a:r>
            <a:r>
              <a:rPr lang="en" b="1">
                <a:solidFill>
                  <a:schemeClr val="dk1"/>
                </a:solidFill>
              </a:rPr>
              <a:t>cross-validation</a:t>
            </a:r>
            <a:r>
              <a:rPr lang="en">
                <a:solidFill>
                  <a:schemeClr val="dk1"/>
                </a:solidFill>
              </a:rPr>
              <a:t>, rather than relying on a single train-test split.</a:t>
            </a:r>
            <a:endParaRPr>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This led to a clear improvement for </a:t>
            </a:r>
            <a:r>
              <a:rPr lang="en" b="1">
                <a:solidFill>
                  <a:schemeClr val="dk1"/>
                </a:solidFill>
              </a:rPr>
              <a:t>H1N1</a:t>
            </a:r>
            <a:r>
              <a:rPr lang="en">
                <a:solidFill>
                  <a:schemeClr val="dk1"/>
                </a:solidFill>
              </a:rPr>
              <a:t>: the model identifies far more vaccinated individuals, increasing recall by over </a:t>
            </a:r>
            <a:r>
              <a:rPr lang="en" b="1">
                <a:solidFill>
                  <a:schemeClr val="dk1"/>
                </a:solidFill>
              </a:rPr>
              <a:t>36%</a:t>
            </a:r>
            <a:r>
              <a:rPr lang="en">
                <a:solidFill>
                  <a:schemeClr val="dk1"/>
                </a:solidFill>
              </a:rPr>
              <a:t> and improving the overall F1-score. For </a:t>
            </a:r>
            <a:r>
              <a:rPr lang="en" b="1">
                <a:solidFill>
                  <a:schemeClr val="dk1"/>
                </a:solidFill>
              </a:rPr>
              <a:t>Seasonal Flu</a:t>
            </a:r>
            <a:r>
              <a:rPr lang="en">
                <a:solidFill>
                  <a:schemeClr val="dk1"/>
                </a:solidFill>
              </a:rPr>
              <a:t>, which was already balanced, performance stayed mostly the same, confirming the model was already near optimal.</a:t>
            </a:r>
            <a:endParaRPr>
              <a:solidFill>
                <a:schemeClr val="dk1"/>
              </a:solidFill>
            </a:endParaRPr>
          </a:p>
          <a:p>
            <a:pPr marL="381000" marR="381000" lvl="0" indent="0" algn="l" rtl="0">
              <a:lnSpc>
                <a:spcPct val="115000"/>
              </a:lnSpc>
              <a:spcBef>
                <a:spcPts val="1200"/>
              </a:spcBef>
              <a:spcAft>
                <a:spcPts val="1200"/>
              </a:spcAft>
              <a:buNone/>
            </a:pPr>
            <a:r>
              <a:rPr lang="en">
                <a:solidFill>
                  <a:schemeClr val="dk1"/>
                </a:solidFill>
              </a:rPr>
              <a:t>Overall, fine-tuning made the model more effective where the problem was hardest, without sacrificing robustness.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9176771680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9176771680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381000" lvl="0" indent="-298450" algn="l" rtl="0">
              <a:lnSpc>
                <a:spcPct val="115000"/>
              </a:lnSpc>
              <a:spcBef>
                <a:spcPts val="1200"/>
              </a:spcBef>
              <a:spcAft>
                <a:spcPts val="0"/>
              </a:spcAft>
              <a:buClr>
                <a:schemeClr val="dk1"/>
              </a:buClr>
              <a:buSzPts val="1100"/>
              <a:buChar char="●"/>
            </a:pPr>
            <a:r>
              <a:rPr lang="en">
                <a:solidFill>
                  <a:schemeClr val="dk1"/>
                </a:solidFill>
              </a:rPr>
              <a:t>SHAP analysis indicates that both vaccination decisions are driven primarily by </a:t>
            </a:r>
            <a:r>
              <a:rPr lang="en" b="1">
                <a:solidFill>
                  <a:schemeClr val="dk1"/>
                </a:solidFill>
              </a:rPr>
              <a:t>attitudes </a:t>
            </a:r>
            <a:r>
              <a:rPr lang="en">
                <a:solidFill>
                  <a:schemeClr val="dk1"/>
                </a:solidFill>
              </a:rPr>
              <a:t>and </a:t>
            </a:r>
            <a:r>
              <a:rPr lang="en" b="1">
                <a:solidFill>
                  <a:schemeClr val="dk1"/>
                </a:solidFill>
              </a:rPr>
              <a:t>physician recommendation</a:t>
            </a:r>
            <a:r>
              <a:rPr lang="en">
                <a:solidFill>
                  <a:schemeClr val="dk1"/>
                </a:solidFill>
              </a:rPr>
              <a:t> rather than demographics. </a:t>
            </a:r>
            <a:endParaRPr>
              <a:solidFill>
                <a:schemeClr val="dk1"/>
              </a:solidFill>
            </a:endParaRPr>
          </a:p>
          <a:p>
            <a:pPr marL="457200" marR="381000" lvl="0" indent="-298450" algn="l" rtl="0">
              <a:lnSpc>
                <a:spcPct val="115000"/>
              </a:lnSpc>
              <a:spcBef>
                <a:spcPts val="0"/>
              </a:spcBef>
              <a:spcAft>
                <a:spcPts val="0"/>
              </a:spcAft>
              <a:buClr>
                <a:schemeClr val="dk1"/>
              </a:buClr>
              <a:buSzPts val="1100"/>
              <a:buChar char="●"/>
            </a:pPr>
            <a:r>
              <a:rPr lang="en">
                <a:solidFill>
                  <a:schemeClr val="dk1"/>
                </a:solidFill>
              </a:rPr>
              <a:t>For </a:t>
            </a:r>
            <a:r>
              <a:rPr lang="en" b="1">
                <a:solidFill>
                  <a:schemeClr val="dk1"/>
                </a:solidFill>
              </a:rPr>
              <a:t>seasonal flu</a:t>
            </a:r>
            <a:r>
              <a:rPr lang="en">
                <a:solidFill>
                  <a:schemeClr val="dk1"/>
                </a:solidFill>
              </a:rPr>
              <a:t>, a </a:t>
            </a:r>
            <a:r>
              <a:rPr lang="en" b="1">
                <a:solidFill>
                  <a:schemeClr val="dk1"/>
                </a:solidFill>
              </a:rPr>
              <a:t>composite pro-vaccine attitude</a:t>
            </a:r>
            <a:r>
              <a:rPr lang="en">
                <a:solidFill>
                  <a:schemeClr val="dk1"/>
                </a:solidFill>
              </a:rPr>
              <a:t> score dominates prediction, suggesting habitual and belief-consistent behavior. </a:t>
            </a:r>
            <a:endParaRPr>
              <a:solidFill>
                <a:schemeClr val="dk1"/>
              </a:solidFill>
            </a:endParaRPr>
          </a:p>
          <a:p>
            <a:pPr marL="457200" marR="381000" lvl="0" indent="-298450" algn="l" rtl="0">
              <a:lnSpc>
                <a:spcPct val="115000"/>
              </a:lnSpc>
              <a:spcBef>
                <a:spcPts val="0"/>
              </a:spcBef>
              <a:spcAft>
                <a:spcPts val="0"/>
              </a:spcAft>
              <a:buClr>
                <a:schemeClr val="dk1"/>
              </a:buClr>
              <a:buSzPts val="1100"/>
              <a:buChar char="●"/>
            </a:pPr>
            <a:r>
              <a:rPr lang="en">
                <a:solidFill>
                  <a:schemeClr val="dk1"/>
                </a:solidFill>
              </a:rPr>
              <a:t>In contrast, </a:t>
            </a:r>
            <a:r>
              <a:rPr lang="en" b="1">
                <a:solidFill>
                  <a:schemeClr val="dk1"/>
                </a:solidFill>
              </a:rPr>
              <a:t>H1N1 </a:t>
            </a:r>
            <a:r>
              <a:rPr lang="en">
                <a:solidFill>
                  <a:schemeClr val="dk1"/>
                </a:solidFill>
              </a:rPr>
              <a:t>vaccination, representing a novel and risk-salient decision, relies more heavily on </a:t>
            </a:r>
            <a:r>
              <a:rPr lang="en" b="1">
                <a:solidFill>
                  <a:schemeClr val="dk1"/>
                </a:solidFill>
              </a:rPr>
              <a:t>explicit beliefs about vaccine effectiveness, perceived infection risk, and doctor endorsement</a:t>
            </a:r>
            <a:r>
              <a:rPr lang="en">
                <a:solidFill>
                  <a:schemeClr val="dk1"/>
                </a:solidFill>
              </a:rPr>
              <a:t>, with the aggregate attitude score playing a secondary role. </a:t>
            </a:r>
            <a:endParaRPr>
              <a:solidFill>
                <a:schemeClr val="dk1"/>
              </a:solidFill>
            </a:endParaRPr>
          </a:p>
          <a:p>
            <a:pPr marL="457200" marR="381000" lvl="0" indent="-298450" algn="l" rtl="0">
              <a:lnSpc>
                <a:spcPct val="115000"/>
              </a:lnSpc>
              <a:spcBef>
                <a:spcPts val="0"/>
              </a:spcBef>
              <a:spcAft>
                <a:spcPts val="0"/>
              </a:spcAft>
              <a:buClr>
                <a:schemeClr val="dk1"/>
              </a:buClr>
              <a:buSzPts val="1100"/>
              <a:buChar char="●"/>
            </a:pPr>
            <a:r>
              <a:rPr lang="en" b="1">
                <a:solidFill>
                  <a:schemeClr val="dk1"/>
                </a:solidFill>
              </a:rPr>
              <a:t>Health insurance</a:t>
            </a:r>
            <a:r>
              <a:rPr lang="en">
                <a:solidFill>
                  <a:schemeClr val="dk1"/>
                </a:solidFill>
              </a:rPr>
              <a:t> status strongly influences </a:t>
            </a:r>
            <a:r>
              <a:rPr lang="en" b="1">
                <a:solidFill>
                  <a:schemeClr val="dk1"/>
                </a:solidFill>
              </a:rPr>
              <a:t>H1N1 </a:t>
            </a:r>
            <a:r>
              <a:rPr lang="en">
                <a:solidFill>
                  <a:schemeClr val="dk1"/>
                </a:solidFill>
              </a:rPr>
              <a:t>uptake but is less decisive for </a:t>
            </a:r>
            <a:r>
              <a:rPr lang="en" b="1">
                <a:solidFill>
                  <a:schemeClr val="dk1"/>
                </a:solidFill>
              </a:rPr>
              <a:t>seasonal flu</a:t>
            </a:r>
            <a:r>
              <a:rPr lang="en">
                <a:solidFill>
                  <a:schemeClr val="dk1"/>
                </a:solidFill>
              </a:rPr>
              <a:t>. </a:t>
            </a:r>
            <a:endParaRPr>
              <a:solidFill>
                <a:schemeClr val="dk1"/>
              </a:solidFill>
            </a:endParaRPr>
          </a:p>
          <a:p>
            <a:pPr marL="457200" marR="381000" lvl="0" indent="-298450" algn="l" rtl="0">
              <a:lnSpc>
                <a:spcPct val="115000"/>
              </a:lnSpc>
              <a:spcBef>
                <a:spcPts val="0"/>
              </a:spcBef>
              <a:spcAft>
                <a:spcPts val="0"/>
              </a:spcAft>
              <a:buClr>
                <a:schemeClr val="dk1"/>
              </a:buClr>
              <a:buSzPts val="1100"/>
              <a:buChar char="●"/>
            </a:pPr>
            <a:r>
              <a:rPr lang="en" b="1">
                <a:solidFill>
                  <a:schemeClr val="dk1"/>
                </a:solidFill>
              </a:rPr>
              <a:t>Age </a:t>
            </a:r>
            <a:r>
              <a:rPr lang="en">
                <a:solidFill>
                  <a:schemeClr val="dk1"/>
                </a:solidFill>
              </a:rPr>
              <a:t>shows a stronger effect for </a:t>
            </a:r>
            <a:r>
              <a:rPr lang="en" b="1">
                <a:solidFill>
                  <a:schemeClr val="dk1"/>
                </a:solidFill>
              </a:rPr>
              <a:t>seasonal flu</a:t>
            </a:r>
            <a:r>
              <a:rPr lang="en">
                <a:solidFill>
                  <a:schemeClr val="dk1"/>
                </a:solidFill>
              </a:rPr>
              <a:t>, consistent with routine preventive behavior, while </a:t>
            </a:r>
            <a:r>
              <a:rPr lang="en" b="1">
                <a:solidFill>
                  <a:schemeClr val="dk1"/>
                </a:solidFill>
              </a:rPr>
              <a:t>education </a:t>
            </a:r>
            <a:r>
              <a:rPr lang="en">
                <a:solidFill>
                  <a:schemeClr val="dk1"/>
                </a:solidFill>
              </a:rPr>
              <a:t>and </a:t>
            </a:r>
            <a:r>
              <a:rPr lang="en" b="1">
                <a:solidFill>
                  <a:schemeClr val="dk1"/>
                </a:solidFill>
              </a:rPr>
              <a:t>sex </a:t>
            </a:r>
            <a:r>
              <a:rPr lang="en">
                <a:solidFill>
                  <a:schemeClr val="dk1"/>
                </a:solidFill>
              </a:rPr>
              <a:t>contribute modestly. </a:t>
            </a:r>
            <a:endParaRPr>
              <a:solidFill>
                <a:schemeClr val="dk1"/>
              </a:solidFill>
            </a:endParaRPr>
          </a:p>
          <a:p>
            <a:pPr marL="457200" marR="381000" lvl="0" indent="-298450" algn="l" rtl="0">
              <a:lnSpc>
                <a:spcPct val="115000"/>
              </a:lnSpc>
              <a:spcBef>
                <a:spcPts val="0"/>
              </a:spcBef>
              <a:spcAft>
                <a:spcPts val="0"/>
              </a:spcAft>
              <a:buClr>
                <a:schemeClr val="dk1"/>
              </a:buClr>
              <a:buSzPts val="1100"/>
              <a:buChar char="●"/>
            </a:pPr>
            <a:r>
              <a:rPr lang="en">
                <a:solidFill>
                  <a:schemeClr val="dk1"/>
                </a:solidFill>
              </a:rPr>
              <a:t>Notably, </a:t>
            </a:r>
            <a:r>
              <a:rPr lang="en" b="1">
                <a:solidFill>
                  <a:schemeClr val="dk1"/>
                </a:solidFill>
              </a:rPr>
              <a:t>positive seasonal flu attitudes</a:t>
            </a:r>
            <a:r>
              <a:rPr lang="en">
                <a:solidFill>
                  <a:schemeClr val="dk1"/>
                </a:solidFill>
              </a:rPr>
              <a:t> and </a:t>
            </a:r>
            <a:r>
              <a:rPr lang="en" b="1">
                <a:solidFill>
                  <a:schemeClr val="dk1"/>
                </a:solidFill>
              </a:rPr>
              <a:t>physician recommendation jointly</a:t>
            </a:r>
            <a:r>
              <a:rPr lang="en">
                <a:solidFill>
                  <a:schemeClr val="dk1"/>
                </a:solidFill>
              </a:rPr>
              <a:t> increase the likelihood of </a:t>
            </a:r>
            <a:r>
              <a:rPr lang="en" b="1">
                <a:solidFill>
                  <a:schemeClr val="dk1"/>
                </a:solidFill>
              </a:rPr>
              <a:t>H1N1 </a:t>
            </a:r>
            <a:r>
              <a:rPr lang="en">
                <a:solidFill>
                  <a:schemeClr val="dk1"/>
                </a:solidFill>
              </a:rPr>
              <a:t>vaccination, highlighting belief spillover and authority amplification effects.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9176771680_0_7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9176771680_0_7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achieved near-benchmark performance with our </a:t>
            </a:r>
            <a:r>
              <a:rPr lang="en" b="1"/>
              <a:t>full model</a:t>
            </a:r>
            <a:r>
              <a:rPr lang="en"/>
              <a:t> and then reduced it to a </a:t>
            </a:r>
            <a:r>
              <a:rPr lang="en" b="1"/>
              <a:t>nine-feature light version</a:t>
            </a:r>
            <a:r>
              <a:rPr lang="en"/>
              <a:t> with less than a three percent performance drop. </a:t>
            </a:r>
            <a:endParaRPr/>
          </a:p>
          <a:p>
            <a:pPr marL="0" lvl="0" indent="0" algn="l" rtl="0">
              <a:spcBef>
                <a:spcPts val="0"/>
              </a:spcBef>
              <a:spcAft>
                <a:spcPts val="0"/>
              </a:spcAft>
              <a:buNone/>
            </a:pPr>
            <a:r>
              <a:rPr lang="en"/>
              <a:t>That lighter model is deployed on </a:t>
            </a:r>
            <a:r>
              <a:rPr lang="en" b="1"/>
              <a:t>Streamlit </a:t>
            </a:r>
            <a:r>
              <a:rPr lang="en"/>
              <a:t>so users can try it directly. </a:t>
            </a:r>
            <a:endParaRPr/>
          </a:p>
          <a:p>
            <a:pPr marL="0" lvl="0" indent="0" algn="l" rtl="0">
              <a:spcBef>
                <a:spcPts val="0"/>
              </a:spcBef>
              <a:spcAft>
                <a:spcPts val="0"/>
              </a:spcAft>
              <a:buNone/>
            </a:pPr>
            <a:r>
              <a:rPr lang="en"/>
              <a:t>To explore it effectively, start with </a:t>
            </a:r>
            <a:r>
              <a:rPr lang="en" b="1"/>
              <a:t>doctor recommendation</a:t>
            </a:r>
            <a:r>
              <a:rPr lang="en"/>
              <a:t>, focus on </a:t>
            </a:r>
            <a:r>
              <a:rPr lang="en" b="1"/>
              <a:t>beliefs </a:t>
            </a:r>
            <a:r>
              <a:rPr lang="en"/>
              <a:t>rather than demographics, and note that </a:t>
            </a:r>
            <a:r>
              <a:rPr lang="en" b="1"/>
              <a:t>age </a:t>
            </a:r>
            <a:r>
              <a:rPr lang="en"/>
              <a:t>matters more for </a:t>
            </a:r>
            <a:r>
              <a:rPr lang="en" b="1"/>
              <a:t>seasonal flu</a:t>
            </a:r>
            <a:r>
              <a:rPr lang="en"/>
              <a:t> while </a:t>
            </a:r>
            <a:r>
              <a:rPr lang="en" b="1"/>
              <a:t>perceived risk</a:t>
            </a:r>
            <a:r>
              <a:rPr lang="en"/>
              <a:t> matters more for </a:t>
            </a:r>
            <a:r>
              <a:rPr lang="en" b="1"/>
              <a:t>H1N1</a:t>
            </a:r>
            <a:r>
              <a:rPr lang="en"/>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9176771680_0_7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9176771680_0_7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Across both vaccines, attitudes and physician recommendations were the strongest predictors of uptake, with demographics playing a smaller role. Seasonal flu vaccination reflected habitual behavior driven by general pro-vaccine attitudes, while H1N1 vaccination depended more on specific beliefs about risk and effectiveness, direct doctor recommendation, and access factors such as insurance. Overall, effective vaccination strategies should focus on trusted messengers, clear risk-benefit communication, and removing access barriers.</a:t>
            </a:r>
            <a:endParaRPr>
              <a:solidFill>
                <a:schemeClr val="dk1"/>
              </a:solidFill>
            </a:endParaRPr>
          </a:p>
          <a:p>
            <a:pPr marL="0" lvl="0" indent="0" algn="l" rtl="0">
              <a:spcBef>
                <a:spcPts val="1200"/>
              </a:spcBef>
              <a:spcAft>
                <a:spcPts val="0"/>
              </a:spcAft>
              <a:buNone/>
            </a:pP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b647448be2_1_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b647448be2_1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a:t>Thank you very much for your attention.</a:t>
            </a:r>
            <a:br>
              <a:rPr lang="en"/>
            </a:br>
            <a:r>
              <a:rPr lang="en"/>
              <a:t>I’ll be happy to answer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1" type="title">
  <p:cSld name="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311700" y="1239060"/>
            <a:ext cx="6089100" cy="17763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1"/>
              </a:buClr>
              <a:buSzPts val="5200"/>
              <a:buNone/>
              <a:defRPr sz="5200">
                <a:solidFill>
                  <a:schemeClr val="accent1"/>
                </a:solidFill>
              </a:defRPr>
            </a:lvl1pPr>
            <a:lvl2pPr lvl="1">
              <a:lnSpc>
                <a:spcPct val="100000"/>
              </a:lnSpc>
              <a:spcBef>
                <a:spcPts val="0"/>
              </a:spcBef>
              <a:spcAft>
                <a:spcPts val="0"/>
              </a:spcAft>
              <a:buClr>
                <a:schemeClr val="accent1"/>
              </a:buClr>
              <a:buSzPts val="5200"/>
              <a:buNone/>
              <a:defRPr sz="5200">
                <a:solidFill>
                  <a:schemeClr val="accent1"/>
                </a:solidFill>
              </a:defRPr>
            </a:lvl2pPr>
            <a:lvl3pPr lvl="2">
              <a:lnSpc>
                <a:spcPct val="100000"/>
              </a:lnSpc>
              <a:spcBef>
                <a:spcPts val="0"/>
              </a:spcBef>
              <a:spcAft>
                <a:spcPts val="0"/>
              </a:spcAft>
              <a:buClr>
                <a:schemeClr val="accent1"/>
              </a:buClr>
              <a:buSzPts val="5200"/>
              <a:buNone/>
              <a:defRPr sz="5200">
                <a:solidFill>
                  <a:schemeClr val="accent1"/>
                </a:solidFill>
              </a:defRPr>
            </a:lvl3pPr>
            <a:lvl4pPr lvl="3">
              <a:lnSpc>
                <a:spcPct val="100000"/>
              </a:lnSpc>
              <a:spcBef>
                <a:spcPts val="0"/>
              </a:spcBef>
              <a:spcAft>
                <a:spcPts val="0"/>
              </a:spcAft>
              <a:buClr>
                <a:schemeClr val="accent1"/>
              </a:buClr>
              <a:buSzPts val="5200"/>
              <a:buNone/>
              <a:defRPr sz="5200">
                <a:solidFill>
                  <a:schemeClr val="accent1"/>
                </a:solidFill>
              </a:defRPr>
            </a:lvl4pPr>
            <a:lvl5pPr lvl="4">
              <a:lnSpc>
                <a:spcPct val="100000"/>
              </a:lnSpc>
              <a:spcBef>
                <a:spcPts val="0"/>
              </a:spcBef>
              <a:spcAft>
                <a:spcPts val="0"/>
              </a:spcAft>
              <a:buClr>
                <a:schemeClr val="accent1"/>
              </a:buClr>
              <a:buSzPts val="5200"/>
              <a:buNone/>
              <a:defRPr sz="5200">
                <a:solidFill>
                  <a:schemeClr val="accent1"/>
                </a:solidFill>
              </a:defRPr>
            </a:lvl5pPr>
            <a:lvl6pPr lvl="5">
              <a:lnSpc>
                <a:spcPct val="100000"/>
              </a:lnSpc>
              <a:spcBef>
                <a:spcPts val="0"/>
              </a:spcBef>
              <a:spcAft>
                <a:spcPts val="0"/>
              </a:spcAft>
              <a:buClr>
                <a:schemeClr val="accent1"/>
              </a:buClr>
              <a:buSzPts val="5200"/>
              <a:buNone/>
              <a:defRPr sz="5200">
                <a:solidFill>
                  <a:schemeClr val="accent1"/>
                </a:solidFill>
              </a:defRPr>
            </a:lvl6pPr>
            <a:lvl7pPr lvl="6">
              <a:lnSpc>
                <a:spcPct val="100000"/>
              </a:lnSpc>
              <a:spcBef>
                <a:spcPts val="0"/>
              </a:spcBef>
              <a:spcAft>
                <a:spcPts val="0"/>
              </a:spcAft>
              <a:buClr>
                <a:schemeClr val="accent1"/>
              </a:buClr>
              <a:buSzPts val="5200"/>
              <a:buNone/>
              <a:defRPr sz="5200">
                <a:solidFill>
                  <a:schemeClr val="accent1"/>
                </a:solidFill>
              </a:defRPr>
            </a:lvl7pPr>
            <a:lvl8pPr lvl="7">
              <a:lnSpc>
                <a:spcPct val="100000"/>
              </a:lnSpc>
              <a:spcBef>
                <a:spcPts val="0"/>
              </a:spcBef>
              <a:spcAft>
                <a:spcPts val="0"/>
              </a:spcAft>
              <a:buClr>
                <a:schemeClr val="accent1"/>
              </a:buClr>
              <a:buSzPts val="5200"/>
              <a:buNone/>
              <a:defRPr sz="5200">
                <a:solidFill>
                  <a:schemeClr val="accent1"/>
                </a:solidFill>
              </a:defRPr>
            </a:lvl8pPr>
            <a:lvl9pPr lvl="8">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14" name="Google Shape;14;p2"/>
          <p:cNvSpPr txBox="1">
            <a:spLocks noGrp="1"/>
          </p:cNvSpPr>
          <p:nvPr>
            <p:ph type="subTitle" idx="1"/>
          </p:nvPr>
        </p:nvSpPr>
        <p:spPr>
          <a:xfrm>
            <a:off x="311700" y="3015350"/>
            <a:ext cx="6089100" cy="792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15" name="Google Shape;15;p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16" name="Google Shape;16;p2"/>
          <p:cNvGrpSpPr/>
          <p:nvPr/>
        </p:nvGrpSpPr>
        <p:grpSpPr>
          <a:xfrm>
            <a:off x="311726" y="342910"/>
            <a:ext cx="2560425" cy="520904"/>
            <a:chOff x="311726" y="342910"/>
            <a:chExt cx="2560425" cy="520904"/>
          </a:xfrm>
        </p:grpSpPr>
        <p:sp>
          <p:nvSpPr>
            <p:cNvPr id="17" name="Google Shape;17;p2"/>
            <p:cNvSpPr/>
            <p:nvPr/>
          </p:nvSpPr>
          <p:spPr>
            <a:xfrm>
              <a:off x="311726" y="342910"/>
              <a:ext cx="2560425" cy="520904"/>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8;p2"/>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
        <p:nvSpPr>
          <p:cNvPr id="19" name="Google Shape;19;p2"/>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000" y="-7000"/>
            <a:ext cx="9144000" cy="255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93140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000" y="4798125"/>
            <a:ext cx="9144000" cy="35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25" name="Google Shape;25;p2"/>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65"/>
              <a:buNone/>
            </a:pPr>
            <a:r>
              <a:rPr lang="en" sz="1000" b="1">
                <a:solidFill>
                  <a:schemeClr val="lt1"/>
                </a:solidFill>
                <a:latin typeface="Assistant"/>
                <a:ea typeface="Assistant"/>
                <a:cs typeface="Assistant"/>
                <a:sym typeface="Assistant"/>
              </a:rPr>
              <a:t>We use tech to connect human potential and opportunity with dignity &amp; humility   </a:t>
            </a:r>
            <a:endParaRPr sz="1000" b="1">
              <a:solidFill>
                <a:schemeClr val="lt1"/>
              </a:solidFill>
              <a:latin typeface="Assistant"/>
              <a:ea typeface="Assistant"/>
              <a:cs typeface="Assistant"/>
              <a:sym typeface="Assistant"/>
            </a:endParaRPr>
          </a:p>
        </p:txBody>
      </p:sp>
      <p:sp>
        <p:nvSpPr>
          <p:cNvPr id="26" name="Google Shape;26;p2"/>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2">
  <p:cSld name="TITLE_1">
    <p:spTree>
      <p:nvGrpSpPr>
        <p:cNvPr id="1" name="Shape 27"/>
        <p:cNvGrpSpPr/>
        <p:nvPr/>
      </p:nvGrpSpPr>
      <p:grpSpPr>
        <a:xfrm>
          <a:off x="0" y="0"/>
          <a:ext cx="0" cy="0"/>
          <a:chOff x="0" y="0"/>
          <a:chExt cx="0" cy="0"/>
        </a:xfrm>
      </p:grpSpPr>
      <p:sp>
        <p:nvSpPr>
          <p:cNvPr id="28" name="Google Shape;28;p3"/>
          <p:cNvSpPr txBox="1">
            <a:spLocks noGrp="1"/>
          </p:cNvSpPr>
          <p:nvPr>
            <p:ph type="ctrTitle"/>
          </p:nvPr>
        </p:nvSpPr>
        <p:spPr>
          <a:xfrm>
            <a:off x="311725" y="1243584"/>
            <a:ext cx="6089100" cy="1776300"/>
          </a:xfrm>
          <a:prstGeom prst="rect">
            <a:avLst/>
          </a:prstGeom>
        </p:spPr>
        <p:txBody>
          <a:bodyPr spcFirstLastPara="1" wrap="square" lIns="91425" tIns="91425" rIns="91425" bIns="91425" anchor="b" anchorCtr="0">
            <a:normAutofit/>
          </a:bodyPr>
          <a:lstStyle>
            <a:lvl1pPr lvl="0" rtl="0">
              <a:lnSpc>
                <a:spcPct val="100000"/>
              </a:lnSpc>
              <a:spcBef>
                <a:spcPts val="0"/>
              </a:spcBef>
              <a:spcAft>
                <a:spcPts val="0"/>
              </a:spcAft>
              <a:buClr>
                <a:schemeClr val="accent1"/>
              </a:buClr>
              <a:buSzPts val="5200"/>
              <a:buNone/>
              <a:defRPr sz="5200">
                <a:solidFill>
                  <a:schemeClr val="accent1"/>
                </a:solidFill>
              </a:defRPr>
            </a:lvl1pPr>
            <a:lvl2pPr lvl="1" rtl="0">
              <a:lnSpc>
                <a:spcPct val="100000"/>
              </a:lnSpc>
              <a:spcBef>
                <a:spcPts val="0"/>
              </a:spcBef>
              <a:spcAft>
                <a:spcPts val="0"/>
              </a:spcAft>
              <a:buClr>
                <a:schemeClr val="accent1"/>
              </a:buClr>
              <a:buSzPts val="5200"/>
              <a:buNone/>
              <a:defRPr sz="5200">
                <a:solidFill>
                  <a:schemeClr val="accent1"/>
                </a:solidFill>
              </a:defRPr>
            </a:lvl2pPr>
            <a:lvl3pPr lvl="2" rtl="0">
              <a:lnSpc>
                <a:spcPct val="100000"/>
              </a:lnSpc>
              <a:spcBef>
                <a:spcPts val="0"/>
              </a:spcBef>
              <a:spcAft>
                <a:spcPts val="0"/>
              </a:spcAft>
              <a:buClr>
                <a:schemeClr val="accent1"/>
              </a:buClr>
              <a:buSzPts val="5200"/>
              <a:buNone/>
              <a:defRPr sz="5200">
                <a:solidFill>
                  <a:schemeClr val="accent1"/>
                </a:solidFill>
              </a:defRPr>
            </a:lvl3pPr>
            <a:lvl4pPr lvl="3" rtl="0">
              <a:lnSpc>
                <a:spcPct val="100000"/>
              </a:lnSpc>
              <a:spcBef>
                <a:spcPts val="0"/>
              </a:spcBef>
              <a:spcAft>
                <a:spcPts val="0"/>
              </a:spcAft>
              <a:buClr>
                <a:schemeClr val="accent1"/>
              </a:buClr>
              <a:buSzPts val="5200"/>
              <a:buNone/>
              <a:defRPr sz="5200">
                <a:solidFill>
                  <a:schemeClr val="accent1"/>
                </a:solidFill>
              </a:defRPr>
            </a:lvl4pPr>
            <a:lvl5pPr lvl="4" rtl="0">
              <a:lnSpc>
                <a:spcPct val="100000"/>
              </a:lnSpc>
              <a:spcBef>
                <a:spcPts val="0"/>
              </a:spcBef>
              <a:spcAft>
                <a:spcPts val="0"/>
              </a:spcAft>
              <a:buClr>
                <a:schemeClr val="accent1"/>
              </a:buClr>
              <a:buSzPts val="5200"/>
              <a:buNone/>
              <a:defRPr sz="5200">
                <a:solidFill>
                  <a:schemeClr val="accent1"/>
                </a:solidFill>
              </a:defRPr>
            </a:lvl5pPr>
            <a:lvl6pPr lvl="5" rtl="0">
              <a:lnSpc>
                <a:spcPct val="100000"/>
              </a:lnSpc>
              <a:spcBef>
                <a:spcPts val="0"/>
              </a:spcBef>
              <a:spcAft>
                <a:spcPts val="0"/>
              </a:spcAft>
              <a:buClr>
                <a:schemeClr val="accent1"/>
              </a:buClr>
              <a:buSzPts val="5200"/>
              <a:buNone/>
              <a:defRPr sz="5200">
                <a:solidFill>
                  <a:schemeClr val="accent1"/>
                </a:solidFill>
              </a:defRPr>
            </a:lvl6pPr>
            <a:lvl7pPr lvl="6" rtl="0">
              <a:lnSpc>
                <a:spcPct val="100000"/>
              </a:lnSpc>
              <a:spcBef>
                <a:spcPts val="0"/>
              </a:spcBef>
              <a:spcAft>
                <a:spcPts val="0"/>
              </a:spcAft>
              <a:buClr>
                <a:schemeClr val="accent1"/>
              </a:buClr>
              <a:buSzPts val="5200"/>
              <a:buNone/>
              <a:defRPr sz="5200">
                <a:solidFill>
                  <a:schemeClr val="accent1"/>
                </a:solidFill>
              </a:defRPr>
            </a:lvl7pPr>
            <a:lvl8pPr lvl="7" rtl="0">
              <a:lnSpc>
                <a:spcPct val="100000"/>
              </a:lnSpc>
              <a:spcBef>
                <a:spcPts val="0"/>
              </a:spcBef>
              <a:spcAft>
                <a:spcPts val="0"/>
              </a:spcAft>
              <a:buClr>
                <a:schemeClr val="accent1"/>
              </a:buClr>
              <a:buSzPts val="5200"/>
              <a:buNone/>
              <a:defRPr sz="5200">
                <a:solidFill>
                  <a:schemeClr val="accent1"/>
                </a:solidFill>
              </a:defRPr>
            </a:lvl8pPr>
            <a:lvl9pPr lvl="8" rtl="0">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29" name="Google Shape;29;p3"/>
          <p:cNvSpPr txBox="1">
            <a:spLocks noGrp="1"/>
          </p:cNvSpPr>
          <p:nvPr>
            <p:ph type="subTitle" idx="1"/>
          </p:nvPr>
        </p:nvSpPr>
        <p:spPr>
          <a:xfrm>
            <a:off x="311725" y="3019874"/>
            <a:ext cx="60891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accent1"/>
              </a:buClr>
              <a:buSzPts val="2800"/>
              <a:buNone/>
              <a:defRPr sz="2800">
                <a:solidFill>
                  <a:schemeClr val="accent1"/>
                </a:solidFill>
              </a:defRPr>
            </a:lvl1pPr>
            <a:lvl2pPr lvl="1" algn="ctr" rtl="0">
              <a:lnSpc>
                <a:spcPct val="100000"/>
              </a:lnSpc>
              <a:spcBef>
                <a:spcPts val="0"/>
              </a:spcBef>
              <a:spcAft>
                <a:spcPts val="0"/>
              </a:spcAft>
              <a:buClr>
                <a:schemeClr val="accent1"/>
              </a:buClr>
              <a:buSzPts val="2800"/>
              <a:buNone/>
              <a:defRPr sz="2800">
                <a:solidFill>
                  <a:schemeClr val="accent1"/>
                </a:solidFill>
              </a:defRPr>
            </a:lvl2pPr>
            <a:lvl3pPr lvl="2" algn="ctr" rtl="0">
              <a:lnSpc>
                <a:spcPct val="100000"/>
              </a:lnSpc>
              <a:spcBef>
                <a:spcPts val="0"/>
              </a:spcBef>
              <a:spcAft>
                <a:spcPts val="0"/>
              </a:spcAft>
              <a:buClr>
                <a:schemeClr val="accent1"/>
              </a:buClr>
              <a:buSzPts val="2800"/>
              <a:buNone/>
              <a:defRPr sz="2800">
                <a:solidFill>
                  <a:schemeClr val="accent1"/>
                </a:solidFill>
              </a:defRPr>
            </a:lvl3pPr>
            <a:lvl4pPr lvl="3" algn="ctr" rtl="0">
              <a:lnSpc>
                <a:spcPct val="100000"/>
              </a:lnSpc>
              <a:spcBef>
                <a:spcPts val="0"/>
              </a:spcBef>
              <a:spcAft>
                <a:spcPts val="0"/>
              </a:spcAft>
              <a:buClr>
                <a:schemeClr val="accent1"/>
              </a:buClr>
              <a:buSzPts val="2800"/>
              <a:buNone/>
              <a:defRPr sz="2800">
                <a:solidFill>
                  <a:schemeClr val="accent1"/>
                </a:solidFill>
              </a:defRPr>
            </a:lvl4pPr>
            <a:lvl5pPr lvl="4" algn="ctr" rtl="0">
              <a:lnSpc>
                <a:spcPct val="100000"/>
              </a:lnSpc>
              <a:spcBef>
                <a:spcPts val="0"/>
              </a:spcBef>
              <a:spcAft>
                <a:spcPts val="0"/>
              </a:spcAft>
              <a:buClr>
                <a:schemeClr val="accent1"/>
              </a:buClr>
              <a:buSzPts val="2800"/>
              <a:buNone/>
              <a:defRPr sz="2800">
                <a:solidFill>
                  <a:schemeClr val="accent1"/>
                </a:solidFill>
              </a:defRPr>
            </a:lvl5pPr>
            <a:lvl6pPr lvl="5" algn="ctr" rtl="0">
              <a:lnSpc>
                <a:spcPct val="100000"/>
              </a:lnSpc>
              <a:spcBef>
                <a:spcPts val="0"/>
              </a:spcBef>
              <a:spcAft>
                <a:spcPts val="0"/>
              </a:spcAft>
              <a:buClr>
                <a:schemeClr val="accent1"/>
              </a:buClr>
              <a:buSzPts val="2800"/>
              <a:buNone/>
              <a:defRPr sz="2800">
                <a:solidFill>
                  <a:schemeClr val="accent1"/>
                </a:solidFill>
              </a:defRPr>
            </a:lvl6pPr>
            <a:lvl7pPr lvl="6" algn="ctr" rtl="0">
              <a:lnSpc>
                <a:spcPct val="100000"/>
              </a:lnSpc>
              <a:spcBef>
                <a:spcPts val="0"/>
              </a:spcBef>
              <a:spcAft>
                <a:spcPts val="0"/>
              </a:spcAft>
              <a:buClr>
                <a:schemeClr val="accent1"/>
              </a:buClr>
              <a:buSzPts val="2800"/>
              <a:buNone/>
              <a:defRPr sz="2800">
                <a:solidFill>
                  <a:schemeClr val="accent1"/>
                </a:solidFill>
              </a:defRPr>
            </a:lvl7pPr>
            <a:lvl8pPr lvl="7" algn="ctr" rtl="0">
              <a:lnSpc>
                <a:spcPct val="100000"/>
              </a:lnSpc>
              <a:spcBef>
                <a:spcPts val="0"/>
              </a:spcBef>
              <a:spcAft>
                <a:spcPts val="0"/>
              </a:spcAft>
              <a:buClr>
                <a:schemeClr val="accent1"/>
              </a:buClr>
              <a:buSzPts val="2800"/>
              <a:buNone/>
              <a:defRPr sz="2800">
                <a:solidFill>
                  <a:schemeClr val="accent1"/>
                </a:solidFill>
              </a:defRPr>
            </a:lvl8pPr>
            <a:lvl9pPr lvl="8" algn="ctr" rtl="0">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30" name="Google Shape;30;p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1" name="Google Shape;31;p3"/>
          <p:cNvSpPr/>
          <p:nvPr/>
        </p:nvSpPr>
        <p:spPr>
          <a:xfrm>
            <a:off x="0" y="1243584"/>
            <a:ext cx="128100" cy="2568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33" name="Google Shape;33;p3"/>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65"/>
              <a:buNone/>
            </a:pPr>
            <a:r>
              <a:rPr lang="en" sz="1000" b="1">
                <a:solidFill>
                  <a:schemeClr val="lt1"/>
                </a:solidFill>
                <a:latin typeface="Assistant"/>
                <a:ea typeface="Assistant"/>
                <a:cs typeface="Assistant"/>
                <a:sym typeface="Assistant"/>
              </a:rPr>
              <a:t>We use tech to connect human potential and opportunity with dignity &amp; humility   </a:t>
            </a:r>
            <a:endParaRPr sz="1000" b="1">
              <a:solidFill>
                <a:schemeClr val="lt1"/>
              </a:solidFill>
              <a:latin typeface="Assistant"/>
              <a:ea typeface="Assistant"/>
              <a:cs typeface="Assistant"/>
              <a:sym typeface="Assistant"/>
            </a:endParaRPr>
          </a:p>
        </p:txBody>
      </p:sp>
      <p:sp>
        <p:nvSpPr>
          <p:cNvPr id="34" name="Google Shape;34;p3"/>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
        <p:nvSpPr>
          <p:cNvPr id="35" name="Google Shape;35;p3"/>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3"/>
          <p:cNvGrpSpPr/>
          <p:nvPr/>
        </p:nvGrpSpPr>
        <p:grpSpPr>
          <a:xfrm>
            <a:off x="311726" y="342910"/>
            <a:ext cx="2560500" cy="520800"/>
            <a:chOff x="311726" y="342910"/>
            <a:chExt cx="2560500" cy="520800"/>
          </a:xfrm>
        </p:grpSpPr>
        <p:sp>
          <p:nvSpPr>
            <p:cNvPr id="37" name="Google Shape;37;p3"/>
            <p:cNvSpPr/>
            <p:nvPr/>
          </p:nvSpPr>
          <p:spPr>
            <a:xfrm>
              <a:off x="311726" y="342910"/>
              <a:ext cx="2560500" cy="520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 name="Google Shape;38;p3"/>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1" type="secHead">
  <p:cSld name="SECTION_HEADER">
    <p:bg>
      <p:bgPr>
        <a:noFill/>
        <a:effectLst/>
      </p:bgPr>
    </p:bg>
    <p:spTree>
      <p:nvGrpSpPr>
        <p:cNvPr id="1" name="Shape 39"/>
        <p:cNvGrpSpPr/>
        <p:nvPr/>
      </p:nvGrpSpPr>
      <p:grpSpPr>
        <a:xfrm>
          <a:off x="0" y="0"/>
          <a:ext cx="0" cy="0"/>
          <a:chOff x="0" y="0"/>
          <a:chExt cx="0" cy="0"/>
        </a:xfrm>
      </p:grpSpPr>
      <p:sp>
        <p:nvSpPr>
          <p:cNvPr id="40" name="Google Shape;40;p4"/>
          <p:cNvSpPr/>
          <p:nvPr/>
        </p:nvSpPr>
        <p:spPr>
          <a:xfrm>
            <a:off x="0" y="0"/>
            <a:ext cx="9144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42" name="Google Shape;42;p4"/>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2">
  <p:cSld name="SECTION_HEADER_1">
    <p:bg>
      <p:bgPr>
        <a:noFill/>
        <a:effectLst/>
      </p:bgPr>
    </p:bg>
    <p:spTree>
      <p:nvGrpSpPr>
        <p:cNvPr id="1" name="Shape 43"/>
        <p:cNvGrpSpPr/>
        <p:nvPr/>
      </p:nvGrpSpPr>
      <p:grpSpPr>
        <a:xfrm>
          <a:off x="0" y="0"/>
          <a:ext cx="0" cy="0"/>
          <a:chOff x="0" y="0"/>
          <a:chExt cx="0" cy="0"/>
        </a:xfrm>
      </p:grpSpPr>
      <p:sp>
        <p:nvSpPr>
          <p:cNvPr id="44" name="Google Shape;44;p5"/>
          <p:cNvSpPr/>
          <p:nvPr/>
        </p:nvSpPr>
        <p:spPr>
          <a:xfrm>
            <a:off x="7000" y="4663200"/>
            <a:ext cx="9144000" cy="49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p:nvPr/>
        </p:nvSpPr>
        <p:spPr>
          <a:xfrm>
            <a:off x="7000" y="-7000"/>
            <a:ext cx="9144000" cy="349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883930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txBox="1">
            <a:spLocks noGrp="1"/>
          </p:cNvSpPr>
          <p:nvPr>
            <p:ph type="title"/>
          </p:nvPr>
        </p:nvSpPr>
        <p:spPr>
          <a:xfrm>
            <a:off x="311700" y="214884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9" name="Google Shape;49;p5"/>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2">
  <p:cSld name="SECTION_HEADER_1_1">
    <p:bg>
      <p:bgPr>
        <a:noFill/>
        <a:effectLst/>
      </p:bgPr>
    </p:bg>
    <p:spTree>
      <p:nvGrpSpPr>
        <p:cNvPr id="1" name="Shape 50"/>
        <p:cNvGrpSpPr/>
        <p:nvPr/>
      </p:nvGrpSpPr>
      <p:grpSpPr>
        <a:xfrm>
          <a:off x="0" y="0"/>
          <a:ext cx="0" cy="0"/>
          <a:chOff x="0" y="0"/>
          <a:chExt cx="0" cy="0"/>
        </a:xfrm>
      </p:grpSpPr>
      <p:sp>
        <p:nvSpPr>
          <p:cNvPr id="51" name="Google Shape;51;p6"/>
          <p:cNvSpPr/>
          <p:nvPr/>
        </p:nvSpPr>
        <p:spPr>
          <a:xfrm>
            <a:off x="7000" y="4663225"/>
            <a:ext cx="9144000" cy="491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6"/>
          <p:cNvSpPr/>
          <p:nvPr/>
        </p:nvSpPr>
        <p:spPr>
          <a:xfrm>
            <a:off x="7000" y="-7000"/>
            <a:ext cx="9144000" cy="3498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p:nvPr/>
        </p:nvSpPr>
        <p:spPr>
          <a:xfrm>
            <a:off x="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6"/>
          <p:cNvSpPr/>
          <p:nvPr/>
        </p:nvSpPr>
        <p:spPr>
          <a:xfrm>
            <a:off x="883930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6" name="Google Shape;56;p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1" type="tx">
  <p:cSld name="TITLE_AND_BODY">
    <p:spTree>
      <p:nvGrpSpPr>
        <p:cNvPr id="1" name="Shape 57"/>
        <p:cNvGrpSpPr/>
        <p:nvPr/>
      </p:nvGrpSpPr>
      <p:grpSpPr>
        <a:xfrm>
          <a:off x="0" y="0"/>
          <a:ext cx="0" cy="0"/>
          <a:chOff x="0" y="0"/>
          <a:chExt cx="0" cy="0"/>
        </a:xfrm>
      </p:grpSpPr>
      <p:sp>
        <p:nvSpPr>
          <p:cNvPr id="58" name="Google Shape;58;p7"/>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9" name="Google Shape;59;p7"/>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1000"/>
              </a:spcBef>
              <a:spcAft>
                <a:spcPts val="0"/>
              </a:spcAft>
              <a:buSzPts val="1400"/>
              <a:buChar char="○"/>
              <a:defRPr/>
            </a:lvl2pPr>
            <a:lvl3pPr marL="1371600" lvl="2" indent="-317500">
              <a:spcBef>
                <a:spcPts val="1000"/>
              </a:spcBef>
              <a:spcAft>
                <a:spcPts val="0"/>
              </a:spcAft>
              <a:buSzPts val="1400"/>
              <a:buChar char="■"/>
              <a:defRPr/>
            </a:lvl3pPr>
            <a:lvl4pPr marL="1828800" lvl="3" indent="-317500">
              <a:spcBef>
                <a:spcPts val="1000"/>
              </a:spcBef>
              <a:spcAft>
                <a:spcPts val="0"/>
              </a:spcAft>
              <a:buSzPts val="1400"/>
              <a:buChar char="●"/>
              <a:defRPr/>
            </a:lvl4pPr>
            <a:lvl5pPr marL="2286000" lvl="4" indent="-317500">
              <a:spcBef>
                <a:spcPts val="1000"/>
              </a:spcBef>
              <a:spcAft>
                <a:spcPts val="0"/>
              </a:spcAft>
              <a:buSzPts val="1400"/>
              <a:buChar char="○"/>
              <a:defRPr/>
            </a:lvl5pPr>
            <a:lvl6pPr marL="2743200" lvl="5" indent="-317500">
              <a:spcBef>
                <a:spcPts val="1000"/>
              </a:spcBef>
              <a:spcAft>
                <a:spcPts val="0"/>
              </a:spcAft>
              <a:buSzPts val="1400"/>
              <a:buChar char="■"/>
              <a:defRPr/>
            </a:lvl6pPr>
            <a:lvl7pPr marL="3200400" lvl="6" indent="-317500">
              <a:spcBef>
                <a:spcPts val="1000"/>
              </a:spcBef>
              <a:spcAft>
                <a:spcPts val="0"/>
              </a:spcAft>
              <a:buSzPts val="1400"/>
              <a:buChar char="●"/>
              <a:defRPr/>
            </a:lvl7pPr>
            <a:lvl8pPr marL="3657600" lvl="7" indent="-317500">
              <a:spcBef>
                <a:spcPts val="1000"/>
              </a:spcBef>
              <a:spcAft>
                <a:spcPts val="0"/>
              </a:spcAft>
              <a:buSzPts val="1400"/>
              <a:buChar char="○"/>
              <a:defRPr/>
            </a:lvl8pPr>
            <a:lvl9pPr marL="4114800" lvl="8" indent="-317500">
              <a:spcBef>
                <a:spcPts val="1000"/>
              </a:spcBef>
              <a:spcAft>
                <a:spcPts val="1000"/>
              </a:spcAft>
              <a:buSzPts val="1400"/>
              <a:buChar char="■"/>
              <a:defRPr/>
            </a:lvl9pPr>
          </a:lstStyle>
          <a:p>
            <a:endParaRPr/>
          </a:p>
        </p:txBody>
      </p:sp>
      <p:sp>
        <p:nvSpPr>
          <p:cNvPr id="60" name="Google Shape;60;p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2">
  <p:cSld name="TITLE_AND_BODY_1">
    <p:spTree>
      <p:nvGrpSpPr>
        <p:cNvPr id="1" name="Shape 61"/>
        <p:cNvGrpSpPr/>
        <p:nvPr/>
      </p:nvGrpSpPr>
      <p:grpSpPr>
        <a:xfrm>
          <a:off x="0" y="0"/>
          <a:ext cx="0" cy="0"/>
          <a:chOff x="0" y="0"/>
          <a:chExt cx="0" cy="0"/>
        </a:xfrm>
      </p:grpSpPr>
      <p:sp>
        <p:nvSpPr>
          <p:cNvPr id="62" name="Google Shape;62;p8"/>
          <p:cNvSpPr/>
          <p:nvPr/>
        </p:nvSpPr>
        <p:spPr>
          <a:xfrm>
            <a:off x="7000" y="4663225"/>
            <a:ext cx="9144000" cy="491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8"/>
          <p:cNvSpPr/>
          <p:nvPr/>
        </p:nvSpPr>
        <p:spPr>
          <a:xfrm>
            <a:off x="7000" y="-7000"/>
            <a:ext cx="9144000" cy="349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8"/>
          <p:cNvSpPr/>
          <p:nvPr/>
        </p:nvSpPr>
        <p:spPr>
          <a:xfrm>
            <a:off x="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8"/>
          <p:cNvSpPr/>
          <p:nvPr/>
        </p:nvSpPr>
        <p:spPr>
          <a:xfrm>
            <a:off x="883930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8"/>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8"/>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1000"/>
              </a:spcBef>
              <a:spcAft>
                <a:spcPts val="0"/>
              </a:spcAft>
              <a:buSzPts val="1400"/>
              <a:buChar char="○"/>
              <a:defRPr/>
            </a:lvl2pPr>
            <a:lvl3pPr marL="1371600" lvl="2" indent="-317500" rtl="0">
              <a:spcBef>
                <a:spcPts val="1000"/>
              </a:spcBef>
              <a:spcAft>
                <a:spcPts val="0"/>
              </a:spcAft>
              <a:buSzPts val="1400"/>
              <a:buChar char="■"/>
              <a:defRPr/>
            </a:lvl3pPr>
            <a:lvl4pPr marL="1828800" lvl="3" indent="-317500" rtl="0">
              <a:spcBef>
                <a:spcPts val="1000"/>
              </a:spcBef>
              <a:spcAft>
                <a:spcPts val="0"/>
              </a:spcAft>
              <a:buSzPts val="1400"/>
              <a:buChar char="●"/>
              <a:defRPr/>
            </a:lvl4pPr>
            <a:lvl5pPr marL="2286000" lvl="4" indent="-317500" rtl="0">
              <a:spcBef>
                <a:spcPts val="1000"/>
              </a:spcBef>
              <a:spcAft>
                <a:spcPts val="0"/>
              </a:spcAft>
              <a:buSzPts val="1400"/>
              <a:buChar char="○"/>
              <a:defRPr/>
            </a:lvl5pPr>
            <a:lvl6pPr marL="2743200" lvl="5" indent="-317500" rtl="0">
              <a:spcBef>
                <a:spcPts val="1000"/>
              </a:spcBef>
              <a:spcAft>
                <a:spcPts val="0"/>
              </a:spcAft>
              <a:buSzPts val="1400"/>
              <a:buChar char="■"/>
              <a:defRPr/>
            </a:lvl6pPr>
            <a:lvl7pPr marL="3200400" lvl="6" indent="-317500" rtl="0">
              <a:spcBef>
                <a:spcPts val="1000"/>
              </a:spcBef>
              <a:spcAft>
                <a:spcPts val="0"/>
              </a:spcAft>
              <a:buSzPts val="1400"/>
              <a:buChar char="●"/>
              <a:defRPr/>
            </a:lvl7pPr>
            <a:lvl8pPr marL="3657600" lvl="7" indent="-317500" rtl="0">
              <a:spcBef>
                <a:spcPts val="1000"/>
              </a:spcBef>
              <a:spcAft>
                <a:spcPts val="0"/>
              </a:spcAft>
              <a:buSzPts val="1400"/>
              <a:buChar char="○"/>
              <a:defRPr/>
            </a:lvl8pPr>
            <a:lvl9pPr marL="4114800" lvl="8" indent="-317500" rtl="0">
              <a:spcBef>
                <a:spcPts val="1000"/>
              </a:spcBef>
              <a:spcAft>
                <a:spcPts val="1000"/>
              </a:spcAft>
              <a:buSzPts val="1400"/>
              <a:buChar char="■"/>
              <a:defRPr/>
            </a:lvl9pPr>
          </a:lstStyle>
          <a:p>
            <a:endParaRPr/>
          </a:p>
        </p:txBody>
      </p:sp>
      <p:sp>
        <p:nvSpPr>
          <p:cNvPr id="68" name="Google Shape;68;p8"/>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3">
  <p:cSld name="TITLE_AND_BODY_1_1">
    <p:spTree>
      <p:nvGrpSpPr>
        <p:cNvPr id="1" name="Shape 69"/>
        <p:cNvGrpSpPr/>
        <p:nvPr/>
      </p:nvGrpSpPr>
      <p:grpSpPr>
        <a:xfrm>
          <a:off x="0" y="0"/>
          <a:ext cx="0" cy="0"/>
          <a:chOff x="0" y="0"/>
          <a:chExt cx="0" cy="0"/>
        </a:xfrm>
      </p:grpSpPr>
      <p:sp>
        <p:nvSpPr>
          <p:cNvPr id="70" name="Google Shape;70;p9"/>
          <p:cNvSpPr/>
          <p:nvPr/>
        </p:nvSpPr>
        <p:spPr>
          <a:xfrm>
            <a:off x="7000" y="4663225"/>
            <a:ext cx="9144000" cy="4917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9"/>
          <p:cNvSpPr/>
          <p:nvPr/>
        </p:nvSpPr>
        <p:spPr>
          <a:xfrm>
            <a:off x="7000" y="-7000"/>
            <a:ext cx="9144000" cy="3498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9"/>
          <p:cNvSpPr/>
          <p:nvPr/>
        </p:nvSpPr>
        <p:spPr>
          <a:xfrm>
            <a:off x="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9"/>
          <p:cNvSpPr/>
          <p:nvPr/>
        </p:nvSpPr>
        <p:spPr>
          <a:xfrm>
            <a:off x="883930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9"/>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9"/>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1000"/>
              </a:spcBef>
              <a:spcAft>
                <a:spcPts val="0"/>
              </a:spcAft>
              <a:buSzPts val="1400"/>
              <a:buChar char="○"/>
              <a:defRPr/>
            </a:lvl2pPr>
            <a:lvl3pPr marL="1371600" lvl="2" indent="-317500" rtl="0">
              <a:spcBef>
                <a:spcPts val="1000"/>
              </a:spcBef>
              <a:spcAft>
                <a:spcPts val="0"/>
              </a:spcAft>
              <a:buSzPts val="1400"/>
              <a:buChar char="■"/>
              <a:defRPr/>
            </a:lvl3pPr>
            <a:lvl4pPr marL="1828800" lvl="3" indent="-317500" rtl="0">
              <a:spcBef>
                <a:spcPts val="1000"/>
              </a:spcBef>
              <a:spcAft>
                <a:spcPts val="0"/>
              </a:spcAft>
              <a:buSzPts val="1400"/>
              <a:buChar char="●"/>
              <a:defRPr/>
            </a:lvl4pPr>
            <a:lvl5pPr marL="2286000" lvl="4" indent="-317500" rtl="0">
              <a:spcBef>
                <a:spcPts val="1000"/>
              </a:spcBef>
              <a:spcAft>
                <a:spcPts val="0"/>
              </a:spcAft>
              <a:buSzPts val="1400"/>
              <a:buChar char="○"/>
              <a:defRPr/>
            </a:lvl5pPr>
            <a:lvl6pPr marL="2743200" lvl="5" indent="-317500" rtl="0">
              <a:spcBef>
                <a:spcPts val="1000"/>
              </a:spcBef>
              <a:spcAft>
                <a:spcPts val="0"/>
              </a:spcAft>
              <a:buSzPts val="1400"/>
              <a:buChar char="■"/>
              <a:defRPr/>
            </a:lvl6pPr>
            <a:lvl7pPr marL="3200400" lvl="6" indent="-317500" rtl="0">
              <a:spcBef>
                <a:spcPts val="1000"/>
              </a:spcBef>
              <a:spcAft>
                <a:spcPts val="0"/>
              </a:spcAft>
              <a:buSzPts val="1400"/>
              <a:buChar char="●"/>
              <a:defRPr/>
            </a:lvl7pPr>
            <a:lvl8pPr marL="3657600" lvl="7" indent="-317500" rtl="0">
              <a:spcBef>
                <a:spcPts val="1000"/>
              </a:spcBef>
              <a:spcAft>
                <a:spcPts val="0"/>
              </a:spcAft>
              <a:buSzPts val="1400"/>
              <a:buChar char="○"/>
              <a:defRPr/>
            </a:lvl8pPr>
            <a:lvl9pPr marL="4114800" lvl="8" indent="-317500" rtl="0">
              <a:spcBef>
                <a:spcPts val="1000"/>
              </a:spcBef>
              <a:spcAft>
                <a:spcPts val="1000"/>
              </a:spcAft>
              <a:buSzPts val="1400"/>
              <a:buChar char="■"/>
              <a:defRPr/>
            </a:lvl9pPr>
          </a:lstStyle>
          <a:p>
            <a:endParaRPr/>
          </a:p>
        </p:txBody>
      </p:sp>
      <p:sp>
        <p:nvSpPr>
          <p:cNvPr id="76" name="Google Shape;76;p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7"/>
        <p:cNvGrpSpPr/>
        <p:nvPr/>
      </p:nvGrpSpPr>
      <p:grpSpPr>
        <a:xfrm>
          <a:off x="0" y="0"/>
          <a:ext cx="0" cy="0"/>
          <a:chOff x="0" y="0"/>
          <a:chExt cx="0" cy="0"/>
        </a:xfrm>
      </p:grpSpPr>
      <p:sp>
        <p:nvSpPr>
          <p:cNvPr id="78" name="Google Shape;78;p10"/>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9" name="Google Shape;79;p10"/>
          <p:cNvSpPr txBox="1">
            <a:spLocks noGrp="1"/>
          </p:cNvSpPr>
          <p:nvPr>
            <p:ph type="body" idx="1"/>
          </p:nvPr>
        </p:nvSpPr>
        <p:spPr>
          <a:xfrm>
            <a:off x="311700" y="1005850"/>
            <a:ext cx="39999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80" name="Google Shape;80;p10"/>
          <p:cNvSpPr txBox="1">
            <a:spLocks noGrp="1"/>
          </p:cNvSpPr>
          <p:nvPr>
            <p:ph type="body" idx="2"/>
          </p:nvPr>
        </p:nvSpPr>
        <p:spPr>
          <a:xfrm>
            <a:off x="4832400" y="1005850"/>
            <a:ext cx="39999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81" name="Google Shape;81;p10"/>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82"/>
        <p:cNvGrpSpPr/>
        <p:nvPr/>
      </p:nvGrpSpPr>
      <p:grpSpPr>
        <a:xfrm>
          <a:off x="0" y="0"/>
          <a:ext cx="0" cy="0"/>
          <a:chOff x="0" y="0"/>
          <a:chExt cx="0" cy="0"/>
        </a:xfrm>
      </p:grpSpPr>
      <p:sp>
        <p:nvSpPr>
          <p:cNvPr id="83" name="Google Shape;83;p11"/>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4" name="Google Shape;84;p11"/>
          <p:cNvSpPr txBox="1">
            <a:spLocks noGrp="1"/>
          </p:cNvSpPr>
          <p:nvPr>
            <p:ph type="body" idx="1"/>
          </p:nvPr>
        </p:nvSpPr>
        <p:spPr>
          <a:xfrm>
            <a:off x="3117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
        <p:nvSpPr>
          <p:cNvPr id="85" name="Google Shape;85;p1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86" name="Google Shape;86;p11"/>
          <p:cNvSpPr txBox="1">
            <a:spLocks noGrp="1"/>
          </p:cNvSpPr>
          <p:nvPr>
            <p:ph type="body" idx="2"/>
          </p:nvPr>
        </p:nvSpPr>
        <p:spPr>
          <a:xfrm>
            <a:off x="61527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
        <p:nvSpPr>
          <p:cNvPr id="87" name="Google Shape;87;p11"/>
          <p:cNvSpPr txBox="1">
            <a:spLocks noGrp="1"/>
          </p:cNvSpPr>
          <p:nvPr>
            <p:ph type="body" idx="3"/>
          </p:nvPr>
        </p:nvSpPr>
        <p:spPr>
          <a:xfrm>
            <a:off x="32322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8"/>
        <p:cNvGrpSpPr/>
        <p:nvPr/>
      </p:nvGrpSpPr>
      <p:grpSpPr>
        <a:xfrm>
          <a:off x="0" y="0"/>
          <a:ext cx="0" cy="0"/>
          <a:chOff x="0" y="0"/>
          <a:chExt cx="0" cy="0"/>
        </a:xfrm>
      </p:grpSpPr>
      <p:sp>
        <p:nvSpPr>
          <p:cNvPr id="89" name="Google Shape;89;p12"/>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1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311700" y="342900"/>
            <a:ext cx="2808000" cy="8664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3" name="Google Shape;93;p13"/>
          <p:cNvSpPr txBox="1">
            <a:spLocks noGrp="1"/>
          </p:cNvSpPr>
          <p:nvPr>
            <p:ph type="body" idx="1"/>
          </p:nvPr>
        </p:nvSpPr>
        <p:spPr>
          <a:xfrm>
            <a:off x="311700" y="1209300"/>
            <a:ext cx="2808000" cy="3453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94" name="Google Shape;94;p1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311700" y="342900"/>
            <a:ext cx="6541800" cy="43206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97" name="Google Shape;97;p14"/>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anks and contact">
  <p:cSld name="MAIN_POINT_1">
    <p:spTree>
      <p:nvGrpSpPr>
        <p:cNvPr id="1" name="Shape 98"/>
        <p:cNvGrpSpPr/>
        <p:nvPr/>
      </p:nvGrpSpPr>
      <p:grpSpPr>
        <a:xfrm>
          <a:off x="0" y="0"/>
          <a:ext cx="0" cy="0"/>
          <a:chOff x="0" y="0"/>
          <a:chExt cx="0" cy="0"/>
        </a:xfrm>
      </p:grpSpPr>
      <p:sp>
        <p:nvSpPr>
          <p:cNvPr id="99" name="Google Shape;99;p15"/>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grpSp>
        <p:nvGrpSpPr>
          <p:cNvPr id="100" name="Google Shape;100;p15"/>
          <p:cNvGrpSpPr/>
          <p:nvPr/>
        </p:nvGrpSpPr>
        <p:grpSpPr>
          <a:xfrm rot="2700000">
            <a:off x="585683" y="481417"/>
            <a:ext cx="694882" cy="564848"/>
            <a:chOff x="919500" y="1916075"/>
            <a:chExt cx="1067700" cy="867900"/>
          </a:xfrm>
        </p:grpSpPr>
        <p:sp>
          <p:nvSpPr>
            <p:cNvPr id="101" name="Google Shape;101;p15"/>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15"/>
          <p:cNvGrpSpPr/>
          <p:nvPr/>
        </p:nvGrpSpPr>
        <p:grpSpPr>
          <a:xfrm rot="8100000">
            <a:off x="7746888" y="3437645"/>
            <a:ext cx="912919" cy="742084"/>
            <a:chOff x="521400" y="3135325"/>
            <a:chExt cx="1067700" cy="867900"/>
          </a:xfrm>
        </p:grpSpPr>
        <p:sp>
          <p:nvSpPr>
            <p:cNvPr id="104" name="Google Shape;104;p15"/>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15"/>
          <p:cNvSpPr txBox="1">
            <a:spLocks noGrp="1"/>
          </p:cNvSpPr>
          <p:nvPr>
            <p:ph type="title"/>
          </p:nvPr>
        </p:nvSpPr>
        <p:spPr>
          <a:xfrm>
            <a:off x="311700" y="342900"/>
            <a:ext cx="8100000" cy="2094000"/>
          </a:xfrm>
          <a:prstGeom prst="rect">
            <a:avLst/>
          </a:prstGeom>
        </p:spPr>
        <p:txBody>
          <a:bodyPr spcFirstLastPara="1" wrap="square" lIns="91425" tIns="91425" rIns="91425" bIns="91425" anchor="b" anchorCtr="0">
            <a:norm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2pPr>
            <a:lvl3pPr lvl="2"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3pPr>
            <a:lvl4pPr lvl="3"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4pPr>
            <a:lvl5pPr lvl="4"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5pPr>
            <a:lvl6pPr lvl="5"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6pPr>
            <a:lvl7pPr lvl="6"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7pPr>
            <a:lvl8pPr lvl="7"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8pPr>
            <a:lvl9pPr lvl="8"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7"/>
        <p:cNvGrpSpPr/>
        <p:nvPr/>
      </p:nvGrpSpPr>
      <p:grpSpPr>
        <a:xfrm>
          <a:off x="0" y="0"/>
          <a:ext cx="0" cy="0"/>
          <a:chOff x="0" y="0"/>
          <a:chExt cx="0" cy="0"/>
        </a:xfrm>
      </p:grpSpPr>
      <p:sp>
        <p:nvSpPr>
          <p:cNvPr id="108" name="Google Shape;108;p16"/>
          <p:cNvSpPr/>
          <p:nvPr/>
        </p:nvSpPr>
        <p:spPr>
          <a:xfrm>
            <a:off x="457200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6"/>
          <p:cNvSpPr txBox="1">
            <a:spLocks noGrp="1"/>
          </p:cNvSpPr>
          <p:nvPr>
            <p:ph type="title"/>
          </p:nvPr>
        </p:nvSpPr>
        <p:spPr>
          <a:xfrm>
            <a:off x="311700" y="679950"/>
            <a:ext cx="3999000" cy="22704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vl1pPr>
            <a:lvl2pPr lvl="1" algn="ctr">
              <a:spcBef>
                <a:spcPts val="0"/>
              </a:spcBef>
              <a:spcAft>
                <a:spcPts val="0"/>
              </a:spcAft>
              <a:buSzPts val="4200"/>
              <a:buFont typeface="Assistant"/>
              <a:buNone/>
              <a:defRPr sz="4200" b="1">
                <a:latin typeface="Assistant"/>
                <a:ea typeface="Assistant"/>
                <a:cs typeface="Assistant"/>
                <a:sym typeface="Assistant"/>
              </a:defRPr>
            </a:lvl2pPr>
            <a:lvl3pPr lvl="2" algn="ctr">
              <a:spcBef>
                <a:spcPts val="0"/>
              </a:spcBef>
              <a:spcAft>
                <a:spcPts val="0"/>
              </a:spcAft>
              <a:buSzPts val="4200"/>
              <a:buFont typeface="Assistant"/>
              <a:buNone/>
              <a:defRPr sz="4200" b="1">
                <a:latin typeface="Assistant"/>
                <a:ea typeface="Assistant"/>
                <a:cs typeface="Assistant"/>
                <a:sym typeface="Assistant"/>
              </a:defRPr>
            </a:lvl3pPr>
            <a:lvl4pPr lvl="3" algn="ctr">
              <a:spcBef>
                <a:spcPts val="0"/>
              </a:spcBef>
              <a:spcAft>
                <a:spcPts val="0"/>
              </a:spcAft>
              <a:buSzPts val="4200"/>
              <a:buFont typeface="Assistant"/>
              <a:buNone/>
              <a:defRPr sz="4200" b="1">
                <a:latin typeface="Assistant"/>
                <a:ea typeface="Assistant"/>
                <a:cs typeface="Assistant"/>
                <a:sym typeface="Assistant"/>
              </a:defRPr>
            </a:lvl4pPr>
            <a:lvl5pPr lvl="4" algn="ctr">
              <a:spcBef>
                <a:spcPts val="0"/>
              </a:spcBef>
              <a:spcAft>
                <a:spcPts val="0"/>
              </a:spcAft>
              <a:buSzPts val="4200"/>
              <a:buFont typeface="Assistant"/>
              <a:buNone/>
              <a:defRPr sz="4200" b="1">
                <a:latin typeface="Assistant"/>
                <a:ea typeface="Assistant"/>
                <a:cs typeface="Assistant"/>
                <a:sym typeface="Assistant"/>
              </a:defRPr>
            </a:lvl5pPr>
            <a:lvl6pPr lvl="5" algn="ctr">
              <a:spcBef>
                <a:spcPts val="0"/>
              </a:spcBef>
              <a:spcAft>
                <a:spcPts val="0"/>
              </a:spcAft>
              <a:buSzPts val="4200"/>
              <a:buFont typeface="Assistant"/>
              <a:buNone/>
              <a:defRPr sz="4200" b="1">
                <a:latin typeface="Assistant"/>
                <a:ea typeface="Assistant"/>
                <a:cs typeface="Assistant"/>
                <a:sym typeface="Assistant"/>
              </a:defRPr>
            </a:lvl6pPr>
            <a:lvl7pPr lvl="6" algn="ctr">
              <a:spcBef>
                <a:spcPts val="0"/>
              </a:spcBef>
              <a:spcAft>
                <a:spcPts val="0"/>
              </a:spcAft>
              <a:buSzPts val="4200"/>
              <a:buFont typeface="Assistant"/>
              <a:buNone/>
              <a:defRPr sz="4200" b="1">
                <a:latin typeface="Assistant"/>
                <a:ea typeface="Assistant"/>
                <a:cs typeface="Assistant"/>
                <a:sym typeface="Assistant"/>
              </a:defRPr>
            </a:lvl7pPr>
            <a:lvl8pPr lvl="7" algn="ctr">
              <a:spcBef>
                <a:spcPts val="0"/>
              </a:spcBef>
              <a:spcAft>
                <a:spcPts val="0"/>
              </a:spcAft>
              <a:buSzPts val="4200"/>
              <a:buFont typeface="Assistant"/>
              <a:buNone/>
              <a:defRPr sz="4200" b="1">
                <a:latin typeface="Assistant"/>
                <a:ea typeface="Assistant"/>
                <a:cs typeface="Assistant"/>
                <a:sym typeface="Assistant"/>
              </a:defRPr>
            </a:lvl8pPr>
            <a:lvl9pPr lvl="8" algn="ctr">
              <a:spcBef>
                <a:spcPts val="0"/>
              </a:spcBef>
              <a:spcAft>
                <a:spcPts val="0"/>
              </a:spcAft>
              <a:buSzPts val="4200"/>
              <a:buFont typeface="Assistant"/>
              <a:buNone/>
              <a:defRPr sz="4200" b="1">
                <a:latin typeface="Assistant"/>
                <a:ea typeface="Assistant"/>
                <a:cs typeface="Assistant"/>
                <a:sym typeface="Assistant"/>
              </a:defRPr>
            </a:lvl9pPr>
          </a:lstStyle>
          <a:p>
            <a:endParaRPr/>
          </a:p>
        </p:txBody>
      </p:sp>
      <p:sp>
        <p:nvSpPr>
          <p:cNvPr id="110" name="Google Shape;110;p16"/>
          <p:cNvSpPr txBox="1">
            <a:spLocks noGrp="1"/>
          </p:cNvSpPr>
          <p:nvPr>
            <p:ph type="subTitle" idx="1"/>
          </p:nvPr>
        </p:nvSpPr>
        <p:spPr>
          <a:xfrm>
            <a:off x="311700" y="2950350"/>
            <a:ext cx="3999000" cy="1235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11" name="Google Shape;111;p16"/>
          <p:cNvSpPr txBox="1">
            <a:spLocks noGrp="1"/>
          </p:cNvSpPr>
          <p:nvPr>
            <p:ph type="body" idx="2"/>
          </p:nvPr>
        </p:nvSpPr>
        <p:spPr>
          <a:xfrm>
            <a:off x="4939500" y="342900"/>
            <a:ext cx="3419400" cy="41796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000"/>
              </a:spcBef>
              <a:spcAft>
                <a:spcPts val="0"/>
              </a:spcAft>
              <a:buClr>
                <a:schemeClr val="lt1"/>
              </a:buClr>
              <a:buSzPts val="1400"/>
              <a:buChar char="○"/>
              <a:defRPr>
                <a:solidFill>
                  <a:schemeClr val="lt1"/>
                </a:solidFill>
              </a:defRPr>
            </a:lvl2pPr>
            <a:lvl3pPr marL="1371600" lvl="2" indent="-317500">
              <a:spcBef>
                <a:spcPts val="1000"/>
              </a:spcBef>
              <a:spcAft>
                <a:spcPts val="0"/>
              </a:spcAft>
              <a:buClr>
                <a:schemeClr val="lt1"/>
              </a:buClr>
              <a:buSzPts val="1400"/>
              <a:buChar char="■"/>
              <a:defRPr>
                <a:solidFill>
                  <a:schemeClr val="lt1"/>
                </a:solidFill>
              </a:defRPr>
            </a:lvl3pPr>
            <a:lvl4pPr marL="1828800" lvl="3" indent="-317500">
              <a:spcBef>
                <a:spcPts val="1000"/>
              </a:spcBef>
              <a:spcAft>
                <a:spcPts val="0"/>
              </a:spcAft>
              <a:buClr>
                <a:schemeClr val="lt1"/>
              </a:buClr>
              <a:buSzPts val="1400"/>
              <a:buChar char="●"/>
              <a:defRPr>
                <a:solidFill>
                  <a:schemeClr val="lt1"/>
                </a:solidFill>
              </a:defRPr>
            </a:lvl4pPr>
            <a:lvl5pPr marL="2286000" lvl="4" indent="-317500">
              <a:spcBef>
                <a:spcPts val="1000"/>
              </a:spcBef>
              <a:spcAft>
                <a:spcPts val="0"/>
              </a:spcAft>
              <a:buClr>
                <a:schemeClr val="lt1"/>
              </a:buClr>
              <a:buSzPts val="1400"/>
              <a:buChar char="○"/>
              <a:defRPr>
                <a:solidFill>
                  <a:schemeClr val="lt1"/>
                </a:solidFill>
              </a:defRPr>
            </a:lvl5pPr>
            <a:lvl6pPr marL="2743200" lvl="5" indent="-317500">
              <a:spcBef>
                <a:spcPts val="1000"/>
              </a:spcBef>
              <a:spcAft>
                <a:spcPts val="0"/>
              </a:spcAft>
              <a:buClr>
                <a:schemeClr val="lt1"/>
              </a:buClr>
              <a:buSzPts val="1400"/>
              <a:buChar char="■"/>
              <a:defRPr>
                <a:solidFill>
                  <a:schemeClr val="lt1"/>
                </a:solidFill>
              </a:defRPr>
            </a:lvl6pPr>
            <a:lvl7pPr marL="3200400" lvl="6" indent="-317500">
              <a:spcBef>
                <a:spcPts val="1000"/>
              </a:spcBef>
              <a:spcAft>
                <a:spcPts val="0"/>
              </a:spcAft>
              <a:buClr>
                <a:schemeClr val="lt1"/>
              </a:buClr>
              <a:buSzPts val="1400"/>
              <a:buChar char="●"/>
              <a:defRPr>
                <a:solidFill>
                  <a:schemeClr val="lt1"/>
                </a:solidFill>
              </a:defRPr>
            </a:lvl7pPr>
            <a:lvl8pPr marL="3657600" lvl="7" indent="-317500">
              <a:spcBef>
                <a:spcPts val="1000"/>
              </a:spcBef>
              <a:spcAft>
                <a:spcPts val="0"/>
              </a:spcAft>
              <a:buClr>
                <a:schemeClr val="lt1"/>
              </a:buClr>
              <a:buSzPts val="1400"/>
              <a:buChar char="○"/>
              <a:defRPr>
                <a:solidFill>
                  <a:schemeClr val="lt1"/>
                </a:solidFill>
              </a:defRPr>
            </a:lvl8pPr>
            <a:lvl9pPr marL="4114800" lvl="8" indent="-317500">
              <a:spcBef>
                <a:spcPts val="1000"/>
              </a:spcBef>
              <a:spcAft>
                <a:spcPts val="1000"/>
              </a:spcAft>
              <a:buClr>
                <a:schemeClr val="lt1"/>
              </a:buClr>
              <a:buSzPts val="1400"/>
              <a:buChar char="■"/>
              <a:defRPr>
                <a:solidFill>
                  <a:schemeClr val="lt1"/>
                </a:solidFill>
              </a:defRPr>
            </a:lvl9pPr>
          </a:lstStyle>
          <a:p>
            <a:endParaRPr/>
          </a:p>
        </p:txBody>
      </p:sp>
      <p:sp>
        <p:nvSpPr>
          <p:cNvPr id="112" name="Google Shape;112;p1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17"/>
          <p:cNvSpPr txBox="1">
            <a:spLocks noGrp="1"/>
          </p:cNvSpPr>
          <p:nvPr>
            <p:ph type="body" idx="1"/>
          </p:nvPr>
        </p:nvSpPr>
        <p:spPr>
          <a:xfrm>
            <a:off x="311700" y="4663200"/>
            <a:ext cx="7082100" cy="4803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000"/>
              <a:buNone/>
              <a:defRPr sz="1000"/>
            </a:lvl1pPr>
          </a:lstStyle>
          <a:p>
            <a:endParaRPr/>
          </a:p>
        </p:txBody>
      </p:sp>
      <p:sp>
        <p:nvSpPr>
          <p:cNvPr id="115" name="Google Shape;115;p1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1">
  <p:cSld name="BIG_NUMBER">
    <p:spTree>
      <p:nvGrpSpPr>
        <p:cNvPr id="1" name="Shape 116"/>
        <p:cNvGrpSpPr/>
        <p:nvPr/>
      </p:nvGrpSpPr>
      <p:grpSpPr>
        <a:xfrm>
          <a:off x="0" y="0"/>
          <a:ext cx="0" cy="0"/>
          <a:chOff x="0" y="0"/>
          <a:chExt cx="0" cy="0"/>
        </a:xfrm>
      </p:grpSpPr>
      <p:sp>
        <p:nvSpPr>
          <p:cNvPr id="117" name="Google Shape;117;p18"/>
          <p:cNvSpPr txBox="1">
            <a:spLocks noGrp="1"/>
          </p:cNvSpPr>
          <p:nvPr>
            <p:ph type="title" hasCustomPrompt="1"/>
          </p:nvPr>
        </p:nvSpPr>
        <p:spPr>
          <a:xfrm>
            <a:off x="311700" y="898300"/>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accent4"/>
              </a:buClr>
              <a:buSzPts val="12000"/>
              <a:buNone/>
              <a:defRPr sz="12000">
                <a:solidFill>
                  <a:schemeClr val="accent4"/>
                </a:solidFill>
              </a:defRPr>
            </a:lvl1pPr>
            <a:lvl2pPr lvl="1" algn="ctr">
              <a:spcBef>
                <a:spcPts val="0"/>
              </a:spcBef>
              <a:spcAft>
                <a:spcPts val="0"/>
              </a:spcAft>
              <a:buClr>
                <a:schemeClr val="accent4"/>
              </a:buClr>
              <a:buSzPts val="12000"/>
              <a:buNone/>
              <a:defRPr sz="12000">
                <a:solidFill>
                  <a:schemeClr val="accent4"/>
                </a:solidFill>
              </a:defRPr>
            </a:lvl2pPr>
            <a:lvl3pPr lvl="2" algn="ctr">
              <a:spcBef>
                <a:spcPts val="0"/>
              </a:spcBef>
              <a:spcAft>
                <a:spcPts val="0"/>
              </a:spcAft>
              <a:buClr>
                <a:schemeClr val="accent4"/>
              </a:buClr>
              <a:buSzPts val="12000"/>
              <a:buNone/>
              <a:defRPr sz="12000">
                <a:solidFill>
                  <a:schemeClr val="accent4"/>
                </a:solidFill>
              </a:defRPr>
            </a:lvl3pPr>
            <a:lvl4pPr lvl="3" algn="ctr">
              <a:spcBef>
                <a:spcPts val="0"/>
              </a:spcBef>
              <a:spcAft>
                <a:spcPts val="0"/>
              </a:spcAft>
              <a:buClr>
                <a:schemeClr val="accent4"/>
              </a:buClr>
              <a:buSzPts val="12000"/>
              <a:buNone/>
              <a:defRPr sz="12000">
                <a:solidFill>
                  <a:schemeClr val="accent4"/>
                </a:solidFill>
              </a:defRPr>
            </a:lvl4pPr>
            <a:lvl5pPr lvl="4" algn="ctr">
              <a:spcBef>
                <a:spcPts val="0"/>
              </a:spcBef>
              <a:spcAft>
                <a:spcPts val="0"/>
              </a:spcAft>
              <a:buClr>
                <a:schemeClr val="accent4"/>
              </a:buClr>
              <a:buSzPts val="12000"/>
              <a:buNone/>
              <a:defRPr sz="12000">
                <a:solidFill>
                  <a:schemeClr val="accent4"/>
                </a:solidFill>
              </a:defRPr>
            </a:lvl5pPr>
            <a:lvl6pPr lvl="5" algn="ctr">
              <a:spcBef>
                <a:spcPts val="0"/>
              </a:spcBef>
              <a:spcAft>
                <a:spcPts val="0"/>
              </a:spcAft>
              <a:buClr>
                <a:schemeClr val="accent4"/>
              </a:buClr>
              <a:buSzPts val="12000"/>
              <a:buNone/>
              <a:defRPr sz="12000">
                <a:solidFill>
                  <a:schemeClr val="accent4"/>
                </a:solidFill>
              </a:defRPr>
            </a:lvl6pPr>
            <a:lvl7pPr lvl="6" algn="ctr">
              <a:spcBef>
                <a:spcPts val="0"/>
              </a:spcBef>
              <a:spcAft>
                <a:spcPts val="0"/>
              </a:spcAft>
              <a:buClr>
                <a:schemeClr val="accent4"/>
              </a:buClr>
              <a:buSzPts val="12000"/>
              <a:buNone/>
              <a:defRPr sz="12000">
                <a:solidFill>
                  <a:schemeClr val="accent4"/>
                </a:solidFill>
              </a:defRPr>
            </a:lvl7pPr>
            <a:lvl8pPr lvl="7" algn="ctr">
              <a:spcBef>
                <a:spcPts val="0"/>
              </a:spcBef>
              <a:spcAft>
                <a:spcPts val="0"/>
              </a:spcAft>
              <a:buClr>
                <a:schemeClr val="accent4"/>
              </a:buClr>
              <a:buSzPts val="12000"/>
              <a:buNone/>
              <a:defRPr sz="12000">
                <a:solidFill>
                  <a:schemeClr val="accent4"/>
                </a:solidFill>
              </a:defRPr>
            </a:lvl8pPr>
            <a:lvl9pPr lvl="8" algn="ctr">
              <a:spcBef>
                <a:spcPts val="0"/>
              </a:spcBef>
              <a:spcAft>
                <a:spcPts val="0"/>
              </a:spcAft>
              <a:buClr>
                <a:schemeClr val="accent4"/>
              </a:buClr>
              <a:buSzPts val="12000"/>
              <a:buNone/>
              <a:defRPr sz="12000">
                <a:solidFill>
                  <a:schemeClr val="accent4"/>
                </a:solidFill>
              </a:defRPr>
            </a:lvl9pPr>
          </a:lstStyle>
          <a:p>
            <a:r>
              <a:t>xx%</a:t>
            </a:r>
          </a:p>
        </p:txBody>
      </p:sp>
      <p:sp>
        <p:nvSpPr>
          <p:cNvPr id="118" name="Google Shape;118;p18"/>
          <p:cNvSpPr txBox="1">
            <a:spLocks noGrp="1"/>
          </p:cNvSpPr>
          <p:nvPr>
            <p:ph type="body" idx="1"/>
          </p:nvPr>
        </p:nvSpPr>
        <p:spPr>
          <a:xfrm>
            <a:off x="311700" y="2944400"/>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1000"/>
              </a:spcBef>
              <a:spcAft>
                <a:spcPts val="0"/>
              </a:spcAft>
              <a:buSzPts val="1400"/>
              <a:buChar char="○"/>
              <a:defRPr/>
            </a:lvl2pPr>
            <a:lvl3pPr marL="1371600" lvl="2" indent="-317500" algn="ctr">
              <a:spcBef>
                <a:spcPts val="1000"/>
              </a:spcBef>
              <a:spcAft>
                <a:spcPts val="0"/>
              </a:spcAft>
              <a:buSzPts val="1400"/>
              <a:buChar char="■"/>
              <a:defRPr/>
            </a:lvl3pPr>
            <a:lvl4pPr marL="1828800" lvl="3" indent="-317500" algn="ctr">
              <a:spcBef>
                <a:spcPts val="1000"/>
              </a:spcBef>
              <a:spcAft>
                <a:spcPts val="0"/>
              </a:spcAft>
              <a:buSzPts val="1400"/>
              <a:buChar char="●"/>
              <a:defRPr/>
            </a:lvl4pPr>
            <a:lvl5pPr marL="2286000" lvl="4" indent="-317500" algn="ctr">
              <a:spcBef>
                <a:spcPts val="1000"/>
              </a:spcBef>
              <a:spcAft>
                <a:spcPts val="0"/>
              </a:spcAft>
              <a:buSzPts val="1400"/>
              <a:buChar char="○"/>
              <a:defRPr/>
            </a:lvl5pPr>
            <a:lvl6pPr marL="2743200" lvl="5" indent="-317500" algn="ctr">
              <a:spcBef>
                <a:spcPts val="1000"/>
              </a:spcBef>
              <a:spcAft>
                <a:spcPts val="0"/>
              </a:spcAft>
              <a:buSzPts val="1400"/>
              <a:buChar char="■"/>
              <a:defRPr/>
            </a:lvl6pPr>
            <a:lvl7pPr marL="3200400" lvl="6" indent="-317500" algn="ctr">
              <a:spcBef>
                <a:spcPts val="1000"/>
              </a:spcBef>
              <a:spcAft>
                <a:spcPts val="0"/>
              </a:spcAft>
              <a:buSzPts val="1400"/>
              <a:buChar char="●"/>
              <a:defRPr/>
            </a:lvl7pPr>
            <a:lvl8pPr marL="3657600" lvl="7" indent="-317500" algn="ctr">
              <a:spcBef>
                <a:spcPts val="1000"/>
              </a:spcBef>
              <a:spcAft>
                <a:spcPts val="0"/>
              </a:spcAft>
              <a:buSzPts val="1400"/>
              <a:buChar char="○"/>
              <a:defRPr/>
            </a:lvl8pPr>
            <a:lvl9pPr marL="4114800" lvl="8" indent="-317500" algn="ctr">
              <a:spcBef>
                <a:spcPts val="1000"/>
              </a:spcBef>
              <a:spcAft>
                <a:spcPts val="1000"/>
              </a:spcAft>
              <a:buSzPts val="1400"/>
              <a:buChar char="■"/>
              <a:defRPr/>
            </a:lvl9pPr>
          </a:lstStyle>
          <a:p>
            <a:endParaRPr/>
          </a:p>
        </p:txBody>
      </p:sp>
      <p:sp>
        <p:nvSpPr>
          <p:cNvPr id="119" name="Google Shape;119;p18"/>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2">
  <p:cSld name="BIG_NUMBER_1">
    <p:spTree>
      <p:nvGrpSpPr>
        <p:cNvPr id="1" name="Shape 120"/>
        <p:cNvGrpSpPr/>
        <p:nvPr/>
      </p:nvGrpSpPr>
      <p:grpSpPr>
        <a:xfrm>
          <a:off x="0" y="0"/>
          <a:ext cx="0" cy="0"/>
          <a:chOff x="0" y="0"/>
          <a:chExt cx="0" cy="0"/>
        </a:xfrm>
      </p:grpSpPr>
      <p:sp>
        <p:nvSpPr>
          <p:cNvPr id="121" name="Google Shape;121;p19"/>
          <p:cNvSpPr txBox="1">
            <a:spLocks noGrp="1"/>
          </p:cNvSpPr>
          <p:nvPr>
            <p:ph type="title" hasCustomPrompt="1"/>
          </p:nvPr>
        </p:nvSpPr>
        <p:spPr>
          <a:xfrm>
            <a:off x="311700" y="898300"/>
            <a:ext cx="24165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accent4"/>
              </a:buClr>
              <a:buSzPts val="7200"/>
              <a:buNone/>
              <a:defRPr sz="7200">
                <a:solidFill>
                  <a:schemeClr val="accent4"/>
                </a:solidFill>
              </a:defRPr>
            </a:lvl1pPr>
            <a:lvl2pPr lvl="1" algn="ctr" rtl="0">
              <a:spcBef>
                <a:spcPts val="0"/>
              </a:spcBef>
              <a:spcAft>
                <a:spcPts val="0"/>
              </a:spcAft>
              <a:buClr>
                <a:schemeClr val="accent4"/>
              </a:buClr>
              <a:buSzPts val="7200"/>
              <a:buNone/>
              <a:defRPr sz="7200">
                <a:solidFill>
                  <a:schemeClr val="accent4"/>
                </a:solidFill>
              </a:defRPr>
            </a:lvl2pPr>
            <a:lvl3pPr lvl="2" algn="ctr" rtl="0">
              <a:spcBef>
                <a:spcPts val="0"/>
              </a:spcBef>
              <a:spcAft>
                <a:spcPts val="0"/>
              </a:spcAft>
              <a:buClr>
                <a:schemeClr val="accent4"/>
              </a:buClr>
              <a:buSzPts val="7200"/>
              <a:buNone/>
              <a:defRPr sz="7200">
                <a:solidFill>
                  <a:schemeClr val="accent4"/>
                </a:solidFill>
              </a:defRPr>
            </a:lvl3pPr>
            <a:lvl4pPr lvl="3" algn="ctr" rtl="0">
              <a:spcBef>
                <a:spcPts val="0"/>
              </a:spcBef>
              <a:spcAft>
                <a:spcPts val="0"/>
              </a:spcAft>
              <a:buClr>
                <a:schemeClr val="accent4"/>
              </a:buClr>
              <a:buSzPts val="7200"/>
              <a:buNone/>
              <a:defRPr sz="7200">
                <a:solidFill>
                  <a:schemeClr val="accent4"/>
                </a:solidFill>
              </a:defRPr>
            </a:lvl4pPr>
            <a:lvl5pPr lvl="4" algn="ctr" rtl="0">
              <a:spcBef>
                <a:spcPts val="0"/>
              </a:spcBef>
              <a:spcAft>
                <a:spcPts val="0"/>
              </a:spcAft>
              <a:buClr>
                <a:schemeClr val="accent4"/>
              </a:buClr>
              <a:buSzPts val="7200"/>
              <a:buNone/>
              <a:defRPr sz="7200">
                <a:solidFill>
                  <a:schemeClr val="accent4"/>
                </a:solidFill>
              </a:defRPr>
            </a:lvl5pPr>
            <a:lvl6pPr lvl="5" algn="ctr" rtl="0">
              <a:spcBef>
                <a:spcPts val="0"/>
              </a:spcBef>
              <a:spcAft>
                <a:spcPts val="0"/>
              </a:spcAft>
              <a:buClr>
                <a:schemeClr val="accent4"/>
              </a:buClr>
              <a:buSzPts val="7200"/>
              <a:buNone/>
              <a:defRPr sz="7200">
                <a:solidFill>
                  <a:schemeClr val="accent4"/>
                </a:solidFill>
              </a:defRPr>
            </a:lvl6pPr>
            <a:lvl7pPr lvl="6" algn="ctr" rtl="0">
              <a:spcBef>
                <a:spcPts val="0"/>
              </a:spcBef>
              <a:spcAft>
                <a:spcPts val="0"/>
              </a:spcAft>
              <a:buClr>
                <a:schemeClr val="accent4"/>
              </a:buClr>
              <a:buSzPts val="7200"/>
              <a:buNone/>
              <a:defRPr sz="7200">
                <a:solidFill>
                  <a:schemeClr val="accent4"/>
                </a:solidFill>
              </a:defRPr>
            </a:lvl7pPr>
            <a:lvl8pPr lvl="7" algn="ctr" rtl="0">
              <a:spcBef>
                <a:spcPts val="0"/>
              </a:spcBef>
              <a:spcAft>
                <a:spcPts val="0"/>
              </a:spcAft>
              <a:buClr>
                <a:schemeClr val="accent4"/>
              </a:buClr>
              <a:buSzPts val="7200"/>
              <a:buNone/>
              <a:defRPr sz="7200">
                <a:solidFill>
                  <a:schemeClr val="accent4"/>
                </a:solidFill>
              </a:defRPr>
            </a:lvl8pPr>
            <a:lvl9pPr lvl="8" algn="ctr" rtl="0">
              <a:spcBef>
                <a:spcPts val="0"/>
              </a:spcBef>
              <a:spcAft>
                <a:spcPts val="0"/>
              </a:spcAft>
              <a:buClr>
                <a:schemeClr val="accent4"/>
              </a:buClr>
              <a:buSzPts val="7200"/>
              <a:buNone/>
              <a:defRPr sz="7200">
                <a:solidFill>
                  <a:schemeClr val="accent4"/>
                </a:solidFill>
              </a:defRPr>
            </a:lvl9pPr>
          </a:lstStyle>
          <a:p>
            <a:r>
              <a:t>xx%</a:t>
            </a:r>
          </a:p>
        </p:txBody>
      </p:sp>
      <p:sp>
        <p:nvSpPr>
          <p:cNvPr id="122" name="Google Shape;122;p19"/>
          <p:cNvSpPr txBox="1">
            <a:spLocks noGrp="1"/>
          </p:cNvSpPr>
          <p:nvPr>
            <p:ph type="body" idx="1"/>
          </p:nvPr>
        </p:nvSpPr>
        <p:spPr>
          <a:xfrm>
            <a:off x="311700" y="2944400"/>
            <a:ext cx="24165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1000"/>
              </a:spcBef>
              <a:spcAft>
                <a:spcPts val="0"/>
              </a:spcAft>
              <a:buSzPts val="1400"/>
              <a:buChar char="○"/>
              <a:defRPr/>
            </a:lvl2pPr>
            <a:lvl3pPr marL="1371600" lvl="2" indent="-317500" algn="ctr" rtl="0">
              <a:spcBef>
                <a:spcPts val="1000"/>
              </a:spcBef>
              <a:spcAft>
                <a:spcPts val="0"/>
              </a:spcAft>
              <a:buSzPts val="1400"/>
              <a:buChar char="■"/>
              <a:defRPr/>
            </a:lvl3pPr>
            <a:lvl4pPr marL="1828800" lvl="3" indent="-317500" algn="ctr" rtl="0">
              <a:spcBef>
                <a:spcPts val="1000"/>
              </a:spcBef>
              <a:spcAft>
                <a:spcPts val="0"/>
              </a:spcAft>
              <a:buSzPts val="1400"/>
              <a:buChar char="●"/>
              <a:defRPr/>
            </a:lvl4pPr>
            <a:lvl5pPr marL="2286000" lvl="4" indent="-317500" algn="ctr" rtl="0">
              <a:spcBef>
                <a:spcPts val="1000"/>
              </a:spcBef>
              <a:spcAft>
                <a:spcPts val="0"/>
              </a:spcAft>
              <a:buSzPts val="1400"/>
              <a:buChar char="○"/>
              <a:defRPr/>
            </a:lvl5pPr>
            <a:lvl6pPr marL="2743200" lvl="5" indent="-317500" algn="ctr" rtl="0">
              <a:spcBef>
                <a:spcPts val="1000"/>
              </a:spcBef>
              <a:spcAft>
                <a:spcPts val="0"/>
              </a:spcAft>
              <a:buSzPts val="1400"/>
              <a:buChar char="■"/>
              <a:defRPr/>
            </a:lvl6pPr>
            <a:lvl7pPr marL="3200400" lvl="6" indent="-317500" algn="ctr" rtl="0">
              <a:spcBef>
                <a:spcPts val="1000"/>
              </a:spcBef>
              <a:spcAft>
                <a:spcPts val="0"/>
              </a:spcAft>
              <a:buSzPts val="1400"/>
              <a:buChar char="●"/>
              <a:defRPr/>
            </a:lvl7pPr>
            <a:lvl8pPr marL="3657600" lvl="7" indent="-317500" algn="ctr" rtl="0">
              <a:spcBef>
                <a:spcPts val="1000"/>
              </a:spcBef>
              <a:spcAft>
                <a:spcPts val="0"/>
              </a:spcAft>
              <a:buSzPts val="1400"/>
              <a:buChar char="○"/>
              <a:defRPr/>
            </a:lvl8pPr>
            <a:lvl9pPr marL="4114800" lvl="8" indent="-317500" algn="ctr" rtl="0">
              <a:spcBef>
                <a:spcPts val="1000"/>
              </a:spcBef>
              <a:spcAft>
                <a:spcPts val="1000"/>
              </a:spcAft>
              <a:buSzPts val="1400"/>
              <a:buChar char="■"/>
              <a:defRPr/>
            </a:lvl9pPr>
          </a:lstStyle>
          <a:p>
            <a:endParaRPr/>
          </a:p>
        </p:txBody>
      </p:sp>
      <p:sp>
        <p:nvSpPr>
          <p:cNvPr id="123" name="Google Shape;123;p1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19"/>
          <p:cNvSpPr txBox="1">
            <a:spLocks noGrp="1"/>
          </p:cNvSpPr>
          <p:nvPr>
            <p:ph type="title" idx="2" hasCustomPrompt="1"/>
          </p:nvPr>
        </p:nvSpPr>
        <p:spPr>
          <a:xfrm>
            <a:off x="6415800" y="898300"/>
            <a:ext cx="24165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accent4"/>
              </a:buClr>
              <a:buSzPts val="7200"/>
              <a:buNone/>
              <a:defRPr sz="7200">
                <a:solidFill>
                  <a:schemeClr val="accent4"/>
                </a:solidFill>
              </a:defRPr>
            </a:lvl1pPr>
            <a:lvl2pPr lvl="1" algn="ctr" rtl="0">
              <a:spcBef>
                <a:spcPts val="0"/>
              </a:spcBef>
              <a:spcAft>
                <a:spcPts val="0"/>
              </a:spcAft>
              <a:buClr>
                <a:schemeClr val="accent4"/>
              </a:buClr>
              <a:buSzPts val="7200"/>
              <a:buNone/>
              <a:defRPr sz="7200">
                <a:solidFill>
                  <a:schemeClr val="accent4"/>
                </a:solidFill>
              </a:defRPr>
            </a:lvl2pPr>
            <a:lvl3pPr lvl="2" algn="ctr" rtl="0">
              <a:spcBef>
                <a:spcPts val="0"/>
              </a:spcBef>
              <a:spcAft>
                <a:spcPts val="0"/>
              </a:spcAft>
              <a:buClr>
                <a:schemeClr val="accent4"/>
              </a:buClr>
              <a:buSzPts val="7200"/>
              <a:buNone/>
              <a:defRPr sz="7200">
                <a:solidFill>
                  <a:schemeClr val="accent4"/>
                </a:solidFill>
              </a:defRPr>
            </a:lvl3pPr>
            <a:lvl4pPr lvl="3" algn="ctr" rtl="0">
              <a:spcBef>
                <a:spcPts val="0"/>
              </a:spcBef>
              <a:spcAft>
                <a:spcPts val="0"/>
              </a:spcAft>
              <a:buClr>
                <a:schemeClr val="accent4"/>
              </a:buClr>
              <a:buSzPts val="7200"/>
              <a:buNone/>
              <a:defRPr sz="7200">
                <a:solidFill>
                  <a:schemeClr val="accent4"/>
                </a:solidFill>
              </a:defRPr>
            </a:lvl4pPr>
            <a:lvl5pPr lvl="4" algn="ctr" rtl="0">
              <a:spcBef>
                <a:spcPts val="0"/>
              </a:spcBef>
              <a:spcAft>
                <a:spcPts val="0"/>
              </a:spcAft>
              <a:buClr>
                <a:schemeClr val="accent4"/>
              </a:buClr>
              <a:buSzPts val="7200"/>
              <a:buNone/>
              <a:defRPr sz="7200">
                <a:solidFill>
                  <a:schemeClr val="accent4"/>
                </a:solidFill>
              </a:defRPr>
            </a:lvl5pPr>
            <a:lvl6pPr lvl="5" algn="ctr" rtl="0">
              <a:spcBef>
                <a:spcPts val="0"/>
              </a:spcBef>
              <a:spcAft>
                <a:spcPts val="0"/>
              </a:spcAft>
              <a:buClr>
                <a:schemeClr val="accent4"/>
              </a:buClr>
              <a:buSzPts val="7200"/>
              <a:buNone/>
              <a:defRPr sz="7200">
                <a:solidFill>
                  <a:schemeClr val="accent4"/>
                </a:solidFill>
              </a:defRPr>
            </a:lvl6pPr>
            <a:lvl7pPr lvl="6" algn="ctr" rtl="0">
              <a:spcBef>
                <a:spcPts val="0"/>
              </a:spcBef>
              <a:spcAft>
                <a:spcPts val="0"/>
              </a:spcAft>
              <a:buClr>
                <a:schemeClr val="accent4"/>
              </a:buClr>
              <a:buSzPts val="7200"/>
              <a:buNone/>
              <a:defRPr sz="7200">
                <a:solidFill>
                  <a:schemeClr val="accent4"/>
                </a:solidFill>
              </a:defRPr>
            </a:lvl7pPr>
            <a:lvl8pPr lvl="7" algn="ctr" rtl="0">
              <a:spcBef>
                <a:spcPts val="0"/>
              </a:spcBef>
              <a:spcAft>
                <a:spcPts val="0"/>
              </a:spcAft>
              <a:buClr>
                <a:schemeClr val="accent4"/>
              </a:buClr>
              <a:buSzPts val="7200"/>
              <a:buNone/>
              <a:defRPr sz="7200">
                <a:solidFill>
                  <a:schemeClr val="accent4"/>
                </a:solidFill>
              </a:defRPr>
            </a:lvl8pPr>
            <a:lvl9pPr lvl="8" algn="ctr" rtl="0">
              <a:spcBef>
                <a:spcPts val="0"/>
              </a:spcBef>
              <a:spcAft>
                <a:spcPts val="0"/>
              </a:spcAft>
              <a:buClr>
                <a:schemeClr val="accent4"/>
              </a:buClr>
              <a:buSzPts val="7200"/>
              <a:buNone/>
              <a:defRPr sz="7200">
                <a:solidFill>
                  <a:schemeClr val="accent4"/>
                </a:solidFill>
              </a:defRPr>
            </a:lvl9pPr>
          </a:lstStyle>
          <a:p>
            <a:r>
              <a:t>xx%</a:t>
            </a:r>
          </a:p>
        </p:txBody>
      </p:sp>
      <p:sp>
        <p:nvSpPr>
          <p:cNvPr id="125" name="Google Shape;125;p19"/>
          <p:cNvSpPr txBox="1">
            <a:spLocks noGrp="1"/>
          </p:cNvSpPr>
          <p:nvPr>
            <p:ph type="body" idx="3"/>
          </p:nvPr>
        </p:nvSpPr>
        <p:spPr>
          <a:xfrm>
            <a:off x="6415800" y="2944400"/>
            <a:ext cx="24165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1000"/>
              </a:spcBef>
              <a:spcAft>
                <a:spcPts val="0"/>
              </a:spcAft>
              <a:buSzPts val="1400"/>
              <a:buChar char="○"/>
              <a:defRPr/>
            </a:lvl2pPr>
            <a:lvl3pPr marL="1371600" lvl="2" indent="-317500" algn="ctr" rtl="0">
              <a:spcBef>
                <a:spcPts val="1000"/>
              </a:spcBef>
              <a:spcAft>
                <a:spcPts val="0"/>
              </a:spcAft>
              <a:buSzPts val="1400"/>
              <a:buChar char="■"/>
              <a:defRPr/>
            </a:lvl3pPr>
            <a:lvl4pPr marL="1828800" lvl="3" indent="-317500" algn="ctr" rtl="0">
              <a:spcBef>
                <a:spcPts val="1000"/>
              </a:spcBef>
              <a:spcAft>
                <a:spcPts val="0"/>
              </a:spcAft>
              <a:buSzPts val="1400"/>
              <a:buChar char="●"/>
              <a:defRPr/>
            </a:lvl4pPr>
            <a:lvl5pPr marL="2286000" lvl="4" indent="-317500" algn="ctr" rtl="0">
              <a:spcBef>
                <a:spcPts val="1000"/>
              </a:spcBef>
              <a:spcAft>
                <a:spcPts val="0"/>
              </a:spcAft>
              <a:buSzPts val="1400"/>
              <a:buChar char="○"/>
              <a:defRPr/>
            </a:lvl5pPr>
            <a:lvl6pPr marL="2743200" lvl="5" indent="-317500" algn="ctr" rtl="0">
              <a:spcBef>
                <a:spcPts val="1000"/>
              </a:spcBef>
              <a:spcAft>
                <a:spcPts val="0"/>
              </a:spcAft>
              <a:buSzPts val="1400"/>
              <a:buChar char="■"/>
              <a:defRPr/>
            </a:lvl6pPr>
            <a:lvl7pPr marL="3200400" lvl="6" indent="-317500" algn="ctr" rtl="0">
              <a:spcBef>
                <a:spcPts val="1000"/>
              </a:spcBef>
              <a:spcAft>
                <a:spcPts val="0"/>
              </a:spcAft>
              <a:buSzPts val="1400"/>
              <a:buChar char="●"/>
              <a:defRPr/>
            </a:lvl7pPr>
            <a:lvl8pPr marL="3657600" lvl="7" indent="-317500" algn="ctr" rtl="0">
              <a:spcBef>
                <a:spcPts val="1000"/>
              </a:spcBef>
              <a:spcAft>
                <a:spcPts val="0"/>
              </a:spcAft>
              <a:buSzPts val="1400"/>
              <a:buChar char="○"/>
              <a:defRPr/>
            </a:lvl8pPr>
            <a:lvl9pPr marL="4114800" lvl="8" indent="-317500" algn="ctr" rtl="0">
              <a:spcBef>
                <a:spcPts val="1000"/>
              </a:spcBef>
              <a:spcAft>
                <a:spcPts val="1000"/>
              </a:spcAft>
              <a:buSzPts val="1400"/>
              <a:buChar char="■"/>
              <a:defRPr/>
            </a:lvl9pPr>
          </a:lstStyle>
          <a:p>
            <a:endParaRPr/>
          </a:p>
        </p:txBody>
      </p:sp>
      <p:sp>
        <p:nvSpPr>
          <p:cNvPr id="126" name="Google Shape;126;p19"/>
          <p:cNvSpPr txBox="1">
            <a:spLocks noGrp="1"/>
          </p:cNvSpPr>
          <p:nvPr>
            <p:ph type="title" idx="4" hasCustomPrompt="1"/>
          </p:nvPr>
        </p:nvSpPr>
        <p:spPr>
          <a:xfrm>
            <a:off x="3363750" y="898300"/>
            <a:ext cx="24165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accent4"/>
              </a:buClr>
              <a:buSzPts val="7200"/>
              <a:buNone/>
              <a:defRPr sz="7200">
                <a:solidFill>
                  <a:schemeClr val="accent4"/>
                </a:solidFill>
              </a:defRPr>
            </a:lvl1pPr>
            <a:lvl2pPr lvl="1" algn="ctr" rtl="0">
              <a:spcBef>
                <a:spcPts val="0"/>
              </a:spcBef>
              <a:spcAft>
                <a:spcPts val="0"/>
              </a:spcAft>
              <a:buClr>
                <a:schemeClr val="accent4"/>
              </a:buClr>
              <a:buSzPts val="7200"/>
              <a:buNone/>
              <a:defRPr sz="7200">
                <a:solidFill>
                  <a:schemeClr val="accent4"/>
                </a:solidFill>
              </a:defRPr>
            </a:lvl2pPr>
            <a:lvl3pPr lvl="2" algn="ctr" rtl="0">
              <a:spcBef>
                <a:spcPts val="0"/>
              </a:spcBef>
              <a:spcAft>
                <a:spcPts val="0"/>
              </a:spcAft>
              <a:buClr>
                <a:schemeClr val="accent4"/>
              </a:buClr>
              <a:buSzPts val="7200"/>
              <a:buNone/>
              <a:defRPr sz="7200">
                <a:solidFill>
                  <a:schemeClr val="accent4"/>
                </a:solidFill>
              </a:defRPr>
            </a:lvl3pPr>
            <a:lvl4pPr lvl="3" algn="ctr" rtl="0">
              <a:spcBef>
                <a:spcPts val="0"/>
              </a:spcBef>
              <a:spcAft>
                <a:spcPts val="0"/>
              </a:spcAft>
              <a:buClr>
                <a:schemeClr val="accent4"/>
              </a:buClr>
              <a:buSzPts val="7200"/>
              <a:buNone/>
              <a:defRPr sz="7200">
                <a:solidFill>
                  <a:schemeClr val="accent4"/>
                </a:solidFill>
              </a:defRPr>
            </a:lvl4pPr>
            <a:lvl5pPr lvl="4" algn="ctr" rtl="0">
              <a:spcBef>
                <a:spcPts val="0"/>
              </a:spcBef>
              <a:spcAft>
                <a:spcPts val="0"/>
              </a:spcAft>
              <a:buClr>
                <a:schemeClr val="accent4"/>
              </a:buClr>
              <a:buSzPts val="7200"/>
              <a:buNone/>
              <a:defRPr sz="7200">
                <a:solidFill>
                  <a:schemeClr val="accent4"/>
                </a:solidFill>
              </a:defRPr>
            </a:lvl5pPr>
            <a:lvl6pPr lvl="5" algn="ctr" rtl="0">
              <a:spcBef>
                <a:spcPts val="0"/>
              </a:spcBef>
              <a:spcAft>
                <a:spcPts val="0"/>
              </a:spcAft>
              <a:buClr>
                <a:schemeClr val="accent4"/>
              </a:buClr>
              <a:buSzPts val="7200"/>
              <a:buNone/>
              <a:defRPr sz="7200">
                <a:solidFill>
                  <a:schemeClr val="accent4"/>
                </a:solidFill>
              </a:defRPr>
            </a:lvl6pPr>
            <a:lvl7pPr lvl="6" algn="ctr" rtl="0">
              <a:spcBef>
                <a:spcPts val="0"/>
              </a:spcBef>
              <a:spcAft>
                <a:spcPts val="0"/>
              </a:spcAft>
              <a:buClr>
                <a:schemeClr val="accent4"/>
              </a:buClr>
              <a:buSzPts val="7200"/>
              <a:buNone/>
              <a:defRPr sz="7200">
                <a:solidFill>
                  <a:schemeClr val="accent4"/>
                </a:solidFill>
              </a:defRPr>
            </a:lvl7pPr>
            <a:lvl8pPr lvl="7" algn="ctr" rtl="0">
              <a:spcBef>
                <a:spcPts val="0"/>
              </a:spcBef>
              <a:spcAft>
                <a:spcPts val="0"/>
              </a:spcAft>
              <a:buClr>
                <a:schemeClr val="accent4"/>
              </a:buClr>
              <a:buSzPts val="7200"/>
              <a:buNone/>
              <a:defRPr sz="7200">
                <a:solidFill>
                  <a:schemeClr val="accent4"/>
                </a:solidFill>
              </a:defRPr>
            </a:lvl8pPr>
            <a:lvl9pPr lvl="8" algn="ctr" rtl="0">
              <a:spcBef>
                <a:spcPts val="0"/>
              </a:spcBef>
              <a:spcAft>
                <a:spcPts val="0"/>
              </a:spcAft>
              <a:buClr>
                <a:schemeClr val="accent4"/>
              </a:buClr>
              <a:buSzPts val="7200"/>
              <a:buNone/>
              <a:defRPr sz="7200">
                <a:solidFill>
                  <a:schemeClr val="accent4"/>
                </a:solidFill>
              </a:defRPr>
            </a:lvl9pPr>
          </a:lstStyle>
          <a:p>
            <a:r>
              <a:t>xx%</a:t>
            </a:r>
          </a:p>
        </p:txBody>
      </p:sp>
      <p:sp>
        <p:nvSpPr>
          <p:cNvPr id="127" name="Google Shape;127;p19"/>
          <p:cNvSpPr txBox="1">
            <a:spLocks noGrp="1"/>
          </p:cNvSpPr>
          <p:nvPr>
            <p:ph type="body" idx="5"/>
          </p:nvPr>
        </p:nvSpPr>
        <p:spPr>
          <a:xfrm>
            <a:off x="3363750" y="2944400"/>
            <a:ext cx="24165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1000"/>
              </a:spcBef>
              <a:spcAft>
                <a:spcPts val="0"/>
              </a:spcAft>
              <a:buSzPts val="1400"/>
              <a:buChar char="○"/>
              <a:defRPr/>
            </a:lvl2pPr>
            <a:lvl3pPr marL="1371600" lvl="2" indent="-317500" algn="ctr" rtl="0">
              <a:spcBef>
                <a:spcPts val="1000"/>
              </a:spcBef>
              <a:spcAft>
                <a:spcPts val="0"/>
              </a:spcAft>
              <a:buSzPts val="1400"/>
              <a:buChar char="■"/>
              <a:defRPr/>
            </a:lvl3pPr>
            <a:lvl4pPr marL="1828800" lvl="3" indent="-317500" algn="ctr" rtl="0">
              <a:spcBef>
                <a:spcPts val="1000"/>
              </a:spcBef>
              <a:spcAft>
                <a:spcPts val="0"/>
              </a:spcAft>
              <a:buSzPts val="1400"/>
              <a:buChar char="●"/>
              <a:defRPr/>
            </a:lvl4pPr>
            <a:lvl5pPr marL="2286000" lvl="4" indent="-317500" algn="ctr" rtl="0">
              <a:spcBef>
                <a:spcPts val="1000"/>
              </a:spcBef>
              <a:spcAft>
                <a:spcPts val="0"/>
              </a:spcAft>
              <a:buSzPts val="1400"/>
              <a:buChar char="○"/>
              <a:defRPr/>
            </a:lvl5pPr>
            <a:lvl6pPr marL="2743200" lvl="5" indent="-317500" algn="ctr" rtl="0">
              <a:spcBef>
                <a:spcPts val="1000"/>
              </a:spcBef>
              <a:spcAft>
                <a:spcPts val="0"/>
              </a:spcAft>
              <a:buSzPts val="1400"/>
              <a:buChar char="■"/>
              <a:defRPr/>
            </a:lvl6pPr>
            <a:lvl7pPr marL="3200400" lvl="6" indent="-317500" algn="ctr" rtl="0">
              <a:spcBef>
                <a:spcPts val="1000"/>
              </a:spcBef>
              <a:spcAft>
                <a:spcPts val="0"/>
              </a:spcAft>
              <a:buSzPts val="1400"/>
              <a:buChar char="●"/>
              <a:defRPr/>
            </a:lvl7pPr>
            <a:lvl8pPr marL="3657600" lvl="7" indent="-317500" algn="ctr" rtl="0">
              <a:spcBef>
                <a:spcPts val="1000"/>
              </a:spcBef>
              <a:spcAft>
                <a:spcPts val="0"/>
              </a:spcAft>
              <a:buSzPts val="1400"/>
              <a:buChar char="○"/>
              <a:defRPr/>
            </a:lvl8pPr>
            <a:lvl9pPr marL="4114800" lvl="8" indent="-317500" algn="ctr" rtl="0">
              <a:spcBef>
                <a:spcPts val="1000"/>
              </a:spcBef>
              <a:spcAft>
                <a:spcPts val="1000"/>
              </a:spcAft>
              <a:buSzPts val="14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20"/>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spcBef>
                <a:spcPts val="0"/>
              </a:spcBef>
              <a:spcAft>
                <a:spcPts val="0"/>
              </a:spcAft>
              <a:buClr>
                <a:schemeClr val="dk1"/>
              </a:buClr>
              <a:buSzPts val="2800"/>
              <a:buFont typeface="Assistant"/>
              <a:buNone/>
              <a:defRPr sz="2800" b="1">
                <a:solidFill>
                  <a:schemeClr val="dk1"/>
                </a:solidFill>
                <a:latin typeface="Assistant"/>
                <a:ea typeface="Assistant"/>
                <a:cs typeface="Assistant"/>
                <a:sym typeface="Assistan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Assistant"/>
              <a:buChar char="●"/>
              <a:defRPr sz="1800">
                <a:solidFill>
                  <a:schemeClr val="dk1"/>
                </a:solidFill>
                <a:latin typeface="Assistant"/>
                <a:ea typeface="Assistant"/>
                <a:cs typeface="Assistant"/>
                <a:sym typeface="Assistant"/>
              </a:defRPr>
            </a:lvl1pPr>
            <a:lvl2pPr marL="914400" lvl="1"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15000"/>
              </a:lnSpc>
              <a:spcBef>
                <a:spcPts val="1000"/>
              </a:spcBef>
              <a:spcAft>
                <a:spcPts val="100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sp>
        <p:nvSpPr>
          <p:cNvPr id="8" name="Google Shape;8;p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lvl="0" algn="r">
              <a:buNone/>
              <a:defRPr sz="800">
                <a:solidFill>
                  <a:schemeClr val="dk2"/>
                </a:solidFill>
                <a:latin typeface="Assistant"/>
                <a:ea typeface="Assistant"/>
                <a:cs typeface="Assistant"/>
                <a:sym typeface="Assistant"/>
              </a:defRPr>
            </a:lvl1pPr>
            <a:lvl2pPr lvl="1" algn="r">
              <a:buNone/>
              <a:defRPr sz="800">
                <a:solidFill>
                  <a:schemeClr val="dk2"/>
                </a:solidFill>
                <a:latin typeface="Assistant"/>
                <a:ea typeface="Assistant"/>
                <a:cs typeface="Assistant"/>
                <a:sym typeface="Assistant"/>
              </a:defRPr>
            </a:lvl2pPr>
            <a:lvl3pPr lvl="2" algn="r">
              <a:buNone/>
              <a:defRPr sz="800">
                <a:solidFill>
                  <a:schemeClr val="dk2"/>
                </a:solidFill>
                <a:latin typeface="Assistant"/>
                <a:ea typeface="Assistant"/>
                <a:cs typeface="Assistant"/>
                <a:sym typeface="Assistant"/>
              </a:defRPr>
            </a:lvl3pPr>
            <a:lvl4pPr lvl="3" algn="r">
              <a:buNone/>
              <a:defRPr sz="800">
                <a:solidFill>
                  <a:schemeClr val="dk2"/>
                </a:solidFill>
                <a:latin typeface="Assistant"/>
                <a:ea typeface="Assistant"/>
                <a:cs typeface="Assistant"/>
                <a:sym typeface="Assistant"/>
              </a:defRPr>
            </a:lvl4pPr>
            <a:lvl5pPr lvl="4" algn="r">
              <a:buNone/>
              <a:defRPr sz="800">
                <a:solidFill>
                  <a:schemeClr val="dk2"/>
                </a:solidFill>
                <a:latin typeface="Assistant"/>
                <a:ea typeface="Assistant"/>
                <a:cs typeface="Assistant"/>
                <a:sym typeface="Assistant"/>
              </a:defRPr>
            </a:lvl5pPr>
            <a:lvl6pPr lvl="5" algn="r">
              <a:buNone/>
              <a:defRPr sz="800">
                <a:solidFill>
                  <a:schemeClr val="dk2"/>
                </a:solidFill>
                <a:latin typeface="Assistant"/>
                <a:ea typeface="Assistant"/>
                <a:cs typeface="Assistant"/>
                <a:sym typeface="Assistant"/>
              </a:defRPr>
            </a:lvl6pPr>
            <a:lvl7pPr lvl="6" algn="r">
              <a:buNone/>
              <a:defRPr sz="800">
                <a:solidFill>
                  <a:schemeClr val="dk2"/>
                </a:solidFill>
                <a:latin typeface="Assistant"/>
                <a:ea typeface="Assistant"/>
                <a:cs typeface="Assistant"/>
                <a:sym typeface="Assistant"/>
              </a:defRPr>
            </a:lvl7pPr>
            <a:lvl8pPr lvl="7" algn="r">
              <a:buNone/>
              <a:defRPr sz="800">
                <a:solidFill>
                  <a:schemeClr val="dk2"/>
                </a:solidFill>
                <a:latin typeface="Assistant"/>
                <a:ea typeface="Assistant"/>
                <a:cs typeface="Assistant"/>
                <a:sym typeface="Assistant"/>
              </a:defRPr>
            </a:lvl8pPr>
            <a:lvl9pPr lvl="8" algn="r">
              <a:buNone/>
              <a:defRPr sz="800">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grpSp>
        <p:nvGrpSpPr>
          <p:cNvPr id="9" name="Google Shape;9;p1"/>
          <p:cNvGrpSpPr/>
          <p:nvPr/>
        </p:nvGrpSpPr>
        <p:grpSpPr>
          <a:xfrm>
            <a:off x="8458848" y="343116"/>
            <a:ext cx="381224" cy="576102"/>
            <a:chOff x="8458848" y="343116"/>
            <a:chExt cx="381224" cy="576102"/>
          </a:xfrm>
        </p:grpSpPr>
        <p:sp>
          <p:nvSpPr>
            <p:cNvPr id="10" name="Google Shape;10;p1"/>
            <p:cNvSpPr/>
            <p:nvPr/>
          </p:nvSpPr>
          <p:spPr>
            <a:xfrm>
              <a:off x="8458848" y="343116"/>
              <a:ext cx="381224" cy="576102"/>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Google Shape;11;p1"/>
            <p:cNvPicPr preferRelativeResize="0"/>
            <p:nvPr/>
          </p:nvPicPr>
          <p:blipFill rotWithShape="1">
            <a:blip r:embed="rId21">
              <a:alphaModFix/>
            </a:blip>
            <a:srcRect l="79" r="79"/>
            <a:stretch/>
          </p:blipFill>
          <p:spPr>
            <a:xfrm>
              <a:off x="8480104" y="384425"/>
              <a:ext cx="338711" cy="497406"/>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6">
          <p15:clr>
            <a:srgbClr val="EA4335"/>
          </p15:clr>
        </p15:guide>
        <p15:guide id="2" pos="5564">
          <p15:clr>
            <a:srgbClr val="EA4335"/>
          </p15:clr>
        </p15:guide>
        <p15:guide id="3" orient="horz" pos="216">
          <p15:clr>
            <a:srgbClr val="EA4335"/>
          </p15:clr>
        </p15:guide>
        <p15:guide id="4" orient="horz" pos="2937">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2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ctrTitle"/>
          </p:nvPr>
        </p:nvSpPr>
        <p:spPr>
          <a:xfrm>
            <a:off x="311725" y="1243575"/>
            <a:ext cx="8832300" cy="1021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a:t>A Flu Shot Learning Project</a:t>
            </a:r>
            <a:endParaRPr/>
          </a:p>
        </p:txBody>
      </p:sp>
      <p:sp>
        <p:nvSpPr>
          <p:cNvPr id="135" name="Google Shape;135;p21"/>
          <p:cNvSpPr txBox="1">
            <a:spLocks noGrp="1"/>
          </p:cNvSpPr>
          <p:nvPr>
            <p:ph type="subTitle" idx="1"/>
          </p:nvPr>
        </p:nvSpPr>
        <p:spPr>
          <a:xfrm>
            <a:off x="311725" y="2830438"/>
            <a:ext cx="3173100" cy="7926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b="1"/>
              <a:t>Class</a:t>
            </a:r>
            <a:r>
              <a:rPr lang="en"/>
              <a:t>: 	</a:t>
            </a:r>
            <a:r>
              <a:rPr lang="en">
                <a:solidFill>
                  <a:schemeClr val="accent5"/>
                </a:solidFill>
              </a:rPr>
              <a:t>Data Circle</a:t>
            </a:r>
            <a:endParaRPr>
              <a:solidFill>
                <a:schemeClr val="accent5"/>
              </a:solidFill>
            </a:endParaRPr>
          </a:p>
          <a:p>
            <a:pPr marL="0" lvl="0" indent="0" algn="l" rtl="0">
              <a:spcBef>
                <a:spcPts val="0"/>
              </a:spcBef>
              <a:spcAft>
                <a:spcPts val="0"/>
              </a:spcAft>
              <a:buNone/>
            </a:pPr>
            <a:r>
              <a:rPr lang="en" b="1"/>
              <a:t>Team</a:t>
            </a:r>
            <a:r>
              <a:rPr lang="en"/>
              <a:t>: 	</a:t>
            </a:r>
            <a:r>
              <a:rPr lang="en">
                <a:solidFill>
                  <a:schemeClr val="accent5"/>
                </a:solidFill>
              </a:rPr>
              <a:t>NeuroShot</a:t>
            </a:r>
            <a:endParaRPr>
              <a:solidFill>
                <a:schemeClr val="accent5"/>
              </a:solidFill>
            </a:endParaRPr>
          </a:p>
        </p:txBody>
      </p:sp>
      <p:sp>
        <p:nvSpPr>
          <p:cNvPr id="136" name="Google Shape;136;p21"/>
          <p:cNvSpPr txBox="1"/>
          <p:nvPr/>
        </p:nvSpPr>
        <p:spPr>
          <a:xfrm>
            <a:off x="572163" y="3969000"/>
            <a:ext cx="2836800" cy="694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SzPts val="865"/>
              <a:buNone/>
            </a:pPr>
            <a:r>
              <a:rPr lang="en" sz="1500" dirty="0">
                <a:solidFill>
                  <a:schemeClr val="dk2"/>
                </a:solidFill>
                <a:latin typeface="Assistant" pitchFamily="2" charset="-79"/>
                <a:ea typeface="Assistant SemiBold"/>
                <a:cs typeface="Assistant" pitchFamily="2" charset="-79"/>
                <a:sym typeface="Assistant SemiBold"/>
              </a:rPr>
              <a:t>Americano Guerrero Diana Paola</a:t>
            </a:r>
            <a:endParaRPr sz="1500" dirty="0">
              <a:solidFill>
                <a:schemeClr val="dk2"/>
              </a:solidFill>
              <a:latin typeface="Assistant" pitchFamily="2" charset="-79"/>
              <a:ea typeface="Assistant SemiBold"/>
              <a:cs typeface="Assistant" pitchFamily="2" charset="-79"/>
              <a:sym typeface="Assistant SemiBold"/>
            </a:endParaRPr>
          </a:p>
          <a:p>
            <a:pPr marL="0" lvl="0" indent="0" algn="l" rtl="0">
              <a:spcBef>
                <a:spcPts val="0"/>
              </a:spcBef>
              <a:spcAft>
                <a:spcPts val="0"/>
              </a:spcAft>
              <a:buSzPts val="865"/>
              <a:buNone/>
            </a:pPr>
            <a:r>
              <a:rPr lang="en" sz="1500" dirty="0">
                <a:solidFill>
                  <a:schemeClr val="dk2"/>
                </a:solidFill>
                <a:latin typeface="Assistant" pitchFamily="2" charset="-79"/>
                <a:ea typeface="Assistant SemiBold"/>
                <a:cs typeface="Assistant" pitchFamily="2" charset="-79"/>
                <a:sym typeface="Assistant SemiBold"/>
              </a:rPr>
              <a:t>Makhin Sergii</a:t>
            </a:r>
            <a:r>
              <a:rPr lang="en" dirty="0">
                <a:solidFill>
                  <a:schemeClr val="dk2"/>
                </a:solidFill>
                <a:latin typeface="Assistant" pitchFamily="2" charset="-79"/>
                <a:ea typeface="Assistant SemiBold"/>
                <a:cs typeface="Assistant" pitchFamily="2" charset="-79"/>
                <a:sym typeface="Assistant SemiBold"/>
              </a:rPr>
              <a:t> </a:t>
            </a:r>
            <a:endParaRPr dirty="0">
              <a:solidFill>
                <a:schemeClr val="dk2"/>
              </a:solidFill>
              <a:latin typeface="Assistant" pitchFamily="2" charset="-79"/>
              <a:ea typeface="Assistant SemiBold"/>
              <a:cs typeface="Assistant" pitchFamily="2" charset="-79"/>
              <a:sym typeface="Assistant SemiBold"/>
            </a:endParaRPr>
          </a:p>
        </p:txBody>
      </p:sp>
      <p:sp>
        <p:nvSpPr>
          <p:cNvPr id="137" name="Google Shape;137;p2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a:t>
            </a:fld>
            <a:endParaRPr/>
          </a:p>
        </p:txBody>
      </p:sp>
      <p:pic>
        <p:nvPicPr>
          <p:cNvPr id="138" name="Google Shape;138;p21"/>
          <p:cNvPicPr preferRelativeResize="0"/>
          <p:nvPr/>
        </p:nvPicPr>
        <p:blipFill>
          <a:blip r:embed="rId3">
            <a:alphaModFix/>
          </a:blip>
          <a:stretch>
            <a:fillRect/>
          </a:stretch>
        </p:blipFill>
        <p:spPr>
          <a:xfrm>
            <a:off x="3666464" y="2265375"/>
            <a:ext cx="1811075" cy="1922726"/>
          </a:xfrm>
          <a:prstGeom prst="rect">
            <a:avLst/>
          </a:prstGeom>
          <a:noFill/>
          <a:ln>
            <a:noFill/>
          </a:ln>
        </p:spPr>
      </p:pic>
      <p:pic>
        <p:nvPicPr>
          <p:cNvPr id="139" name="Google Shape;139;p21"/>
          <p:cNvPicPr preferRelativeResize="0"/>
          <p:nvPr/>
        </p:nvPicPr>
        <p:blipFill>
          <a:blip r:embed="rId4">
            <a:alphaModFix/>
          </a:blip>
          <a:stretch>
            <a:fillRect/>
          </a:stretch>
        </p:blipFill>
        <p:spPr>
          <a:xfrm>
            <a:off x="442997" y="4381732"/>
            <a:ext cx="184569" cy="187645"/>
          </a:xfrm>
          <a:prstGeom prst="rect">
            <a:avLst/>
          </a:prstGeom>
          <a:noFill/>
          <a:ln>
            <a:noFill/>
          </a:ln>
        </p:spPr>
      </p:pic>
      <p:pic>
        <p:nvPicPr>
          <p:cNvPr id="140" name="Google Shape;140;p21"/>
          <p:cNvPicPr preferRelativeResize="0"/>
          <p:nvPr/>
        </p:nvPicPr>
        <p:blipFill>
          <a:blip r:embed="rId5">
            <a:alphaModFix/>
          </a:blip>
          <a:stretch>
            <a:fillRect/>
          </a:stretch>
        </p:blipFill>
        <p:spPr>
          <a:xfrm>
            <a:off x="442997" y="4128455"/>
            <a:ext cx="184569" cy="18764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2"/>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SzPts val="990"/>
              <a:buNone/>
            </a:pPr>
            <a:r>
              <a:rPr lang="en" sz="2420" dirty="0">
                <a:solidFill>
                  <a:schemeClr val="bg2"/>
                </a:solidFill>
              </a:rPr>
              <a:t>Understanding Flu Vaccination Decisions</a:t>
            </a:r>
            <a:endParaRPr sz="2420" dirty="0">
              <a:solidFill>
                <a:schemeClr val="bg2"/>
              </a:solidFill>
            </a:endParaRPr>
          </a:p>
        </p:txBody>
      </p:sp>
      <p:sp>
        <p:nvSpPr>
          <p:cNvPr id="146" name="Google Shape;146;p22"/>
          <p:cNvSpPr txBox="1">
            <a:spLocks noGrp="1"/>
          </p:cNvSpPr>
          <p:nvPr>
            <p:ph type="body" idx="1"/>
          </p:nvPr>
        </p:nvSpPr>
        <p:spPr>
          <a:xfrm>
            <a:off x="311700" y="1005850"/>
            <a:ext cx="3999900" cy="3657300"/>
          </a:xfrm>
          <a:prstGeom prst="rect">
            <a:avLst/>
          </a:prstGeom>
        </p:spPr>
        <p:txBody>
          <a:bodyPr spcFirstLastPara="1" wrap="square" lIns="91425" tIns="91425" rIns="91425" bIns="91425" anchor="t" anchorCtr="0">
            <a:normAutofit fontScale="92500" lnSpcReduction="20000"/>
          </a:bodyPr>
          <a:lstStyle/>
          <a:p>
            <a:pPr marL="0" lvl="0" indent="0" algn="l" rtl="0">
              <a:lnSpc>
                <a:spcPct val="100000"/>
              </a:lnSpc>
              <a:spcBef>
                <a:spcPts val="0"/>
              </a:spcBef>
              <a:spcAft>
                <a:spcPts val="0"/>
              </a:spcAft>
              <a:buNone/>
            </a:pPr>
            <a:r>
              <a:rPr lang="en" sz="2100" b="1" dirty="0">
                <a:solidFill>
                  <a:schemeClr val="accent1"/>
                </a:solidFill>
              </a:rPr>
              <a:t>Question:</a:t>
            </a:r>
            <a:r>
              <a:rPr lang="en" sz="2300" dirty="0">
                <a:solidFill>
                  <a:schemeClr val="accent4"/>
                </a:solidFill>
              </a:rPr>
              <a:t> </a:t>
            </a:r>
            <a:endParaRPr sz="2300" dirty="0">
              <a:solidFill>
                <a:schemeClr val="accent4"/>
              </a:solidFill>
            </a:endParaRPr>
          </a:p>
          <a:p>
            <a:pPr marL="0" lvl="0" indent="0" algn="l" rtl="0">
              <a:lnSpc>
                <a:spcPct val="115000"/>
              </a:lnSpc>
              <a:spcBef>
                <a:spcPts val="1000"/>
              </a:spcBef>
              <a:spcAft>
                <a:spcPts val="0"/>
              </a:spcAft>
              <a:buClr>
                <a:schemeClr val="dk1"/>
              </a:buClr>
              <a:buSzPct val="32835"/>
              <a:buFont typeface="Arial"/>
              <a:buNone/>
            </a:pPr>
            <a:r>
              <a:rPr lang="en" sz="2100" dirty="0">
                <a:solidFill>
                  <a:schemeClr val="dk2"/>
                </a:solidFill>
                <a:latin typeface="Assistant SemiBold" pitchFamily="2" charset="-79"/>
                <a:ea typeface="Assistant SemiBold"/>
                <a:cs typeface="Assistant SemiBold" pitchFamily="2" charset="-79"/>
                <a:sym typeface="Assistant SemiBold"/>
              </a:rPr>
              <a:t>Why </a:t>
            </a:r>
            <a:r>
              <a:rPr lang="en" sz="2100" dirty="0">
                <a:solidFill>
                  <a:schemeClr val="dk2"/>
                </a:solidFill>
                <a:latin typeface="Assistant SemiBold" pitchFamily="2" charset="-79"/>
                <a:ea typeface="Assistant Medium"/>
                <a:cs typeface="Assistant SemiBold" pitchFamily="2" charset="-79"/>
                <a:sym typeface="Assistant Medium"/>
              </a:rPr>
              <a:t>do people opt </a:t>
            </a:r>
            <a:r>
              <a:rPr lang="en" sz="2100" b="1" dirty="0">
                <a:solidFill>
                  <a:schemeClr val="accent4"/>
                </a:solidFill>
                <a:latin typeface="Assistant SemiBold" pitchFamily="2" charset="-79"/>
                <a:cs typeface="Assistant SemiBold" pitchFamily="2" charset="-79"/>
              </a:rPr>
              <a:t>for</a:t>
            </a:r>
            <a:r>
              <a:rPr lang="en" sz="2100" b="1" dirty="0">
                <a:solidFill>
                  <a:schemeClr val="accent5"/>
                </a:solidFill>
                <a:latin typeface="Assistant SemiBold" pitchFamily="2" charset="-79"/>
                <a:cs typeface="Assistant SemiBold" pitchFamily="2" charset="-79"/>
              </a:rPr>
              <a:t> </a:t>
            </a:r>
            <a:r>
              <a:rPr lang="en" sz="2100" dirty="0">
                <a:solidFill>
                  <a:schemeClr val="dk2"/>
                </a:solidFill>
                <a:latin typeface="Assistant SemiBold" pitchFamily="2" charset="-79"/>
                <a:ea typeface="Assistant Medium"/>
                <a:cs typeface="Assistant SemiBold" pitchFamily="2" charset="-79"/>
                <a:sym typeface="Assistant Medium"/>
              </a:rPr>
              <a:t>or </a:t>
            </a:r>
            <a:r>
              <a:rPr lang="en" sz="2100" b="1" dirty="0">
                <a:solidFill>
                  <a:schemeClr val="accent4"/>
                </a:solidFill>
                <a:latin typeface="Assistant SemiBold" pitchFamily="2" charset="-79"/>
                <a:cs typeface="Assistant SemiBold" pitchFamily="2" charset="-79"/>
              </a:rPr>
              <a:t>against</a:t>
            </a:r>
            <a:r>
              <a:rPr lang="en" sz="2100" b="1" dirty="0">
                <a:solidFill>
                  <a:schemeClr val="accent1"/>
                </a:solidFill>
                <a:latin typeface="Assistant SemiBold" pitchFamily="2" charset="-79"/>
                <a:cs typeface="Assistant SemiBold" pitchFamily="2" charset="-79"/>
              </a:rPr>
              <a:t> </a:t>
            </a:r>
            <a:r>
              <a:rPr lang="en" sz="2100" dirty="0">
                <a:solidFill>
                  <a:schemeClr val="dk2"/>
                </a:solidFill>
                <a:latin typeface="Assistant SemiBold" pitchFamily="2" charset="-79"/>
                <a:ea typeface="Assistant Medium"/>
                <a:cs typeface="Assistant SemiBold" pitchFamily="2" charset="-79"/>
                <a:sym typeface="Assistant Medium"/>
              </a:rPr>
              <a:t>being vaccinated?</a:t>
            </a:r>
          </a:p>
          <a:p>
            <a:pPr marL="0" lvl="0" indent="0" algn="l" rtl="0">
              <a:lnSpc>
                <a:spcPct val="115000"/>
              </a:lnSpc>
              <a:spcBef>
                <a:spcPts val="1000"/>
              </a:spcBef>
              <a:spcAft>
                <a:spcPts val="0"/>
              </a:spcAft>
              <a:buClr>
                <a:schemeClr val="dk1"/>
              </a:buClr>
              <a:buSzPct val="32835"/>
              <a:buFont typeface="Arial"/>
              <a:buNone/>
            </a:pPr>
            <a:r>
              <a:rPr lang="en" sz="2100" b="1" dirty="0">
                <a:solidFill>
                  <a:schemeClr val="accent1"/>
                </a:solidFill>
              </a:rPr>
              <a:t>Focus:</a:t>
            </a:r>
            <a:r>
              <a:rPr lang="en" sz="2300" dirty="0">
                <a:solidFill>
                  <a:schemeClr val="accent4"/>
                </a:solidFill>
              </a:rPr>
              <a:t> </a:t>
            </a:r>
            <a:endParaRPr sz="2300" dirty="0">
              <a:solidFill>
                <a:schemeClr val="accent4"/>
              </a:solidFill>
            </a:endParaRPr>
          </a:p>
          <a:p>
            <a:pPr marL="0" lvl="0" indent="0" algn="l" rtl="0">
              <a:lnSpc>
                <a:spcPct val="100000"/>
              </a:lnSpc>
              <a:spcBef>
                <a:spcPts val="1000"/>
              </a:spcBef>
              <a:spcAft>
                <a:spcPts val="0"/>
              </a:spcAft>
              <a:buClr>
                <a:schemeClr val="dk1"/>
              </a:buClr>
              <a:buSzPct val="32835"/>
              <a:buFont typeface="Arial"/>
              <a:buNone/>
            </a:pPr>
            <a:r>
              <a:rPr lang="en" sz="2100" b="1" dirty="0">
                <a:solidFill>
                  <a:schemeClr val="accent4"/>
                </a:solidFill>
                <a:latin typeface="Assistant SemiBold" pitchFamily="2" charset="-79"/>
                <a:cs typeface="Assistant SemiBold" pitchFamily="2" charset="-79"/>
              </a:rPr>
              <a:t>Seasonal flu</a:t>
            </a:r>
            <a:r>
              <a:rPr lang="en" sz="2100" dirty="0">
                <a:solidFill>
                  <a:schemeClr val="accent4"/>
                </a:solidFill>
                <a:latin typeface="Assistant SemiBold" pitchFamily="2" charset="-79"/>
                <a:ea typeface="Assistant SemiBold"/>
                <a:cs typeface="Assistant SemiBold" pitchFamily="2" charset="-79"/>
                <a:sym typeface="Assistant SemiBold"/>
              </a:rPr>
              <a:t> </a:t>
            </a:r>
            <a:r>
              <a:rPr lang="en" sz="2100" dirty="0">
                <a:solidFill>
                  <a:schemeClr val="dk2"/>
                </a:solidFill>
                <a:latin typeface="Assistant SemiBold" pitchFamily="2" charset="-79"/>
                <a:ea typeface="Assistant SemiBold"/>
                <a:cs typeface="Assistant SemiBold" pitchFamily="2" charset="-79"/>
                <a:sym typeface="Assistant SemiBold"/>
              </a:rPr>
              <a:t>vs. </a:t>
            </a:r>
            <a:r>
              <a:rPr lang="en" sz="2100" b="1" dirty="0">
                <a:solidFill>
                  <a:schemeClr val="accent4"/>
                </a:solidFill>
                <a:latin typeface="Assistant SemiBold" pitchFamily="2" charset="-79"/>
                <a:cs typeface="Assistant SemiBold" pitchFamily="2" charset="-79"/>
              </a:rPr>
              <a:t>H1N1</a:t>
            </a:r>
            <a:r>
              <a:rPr lang="en" sz="2100" b="1" dirty="0">
                <a:solidFill>
                  <a:schemeClr val="accent5"/>
                </a:solidFill>
                <a:latin typeface="Assistant SemiBold" pitchFamily="2" charset="-79"/>
                <a:cs typeface="Assistant SemiBold" pitchFamily="2" charset="-79"/>
              </a:rPr>
              <a:t> </a:t>
            </a:r>
            <a:r>
              <a:rPr lang="en" sz="2100" dirty="0">
                <a:solidFill>
                  <a:schemeClr val="dk2"/>
                </a:solidFill>
                <a:latin typeface="Assistant SemiBold" pitchFamily="2" charset="-79"/>
                <a:ea typeface="Assistant SemiBold"/>
                <a:cs typeface="Assistant SemiBold" pitchFamily="2" charset="-79"/>
                <a:sym typeface="Assistant SemiBold"/>
              </a:rPr>
              <a:t>vaccine decisions</a:t>
            </a:r>
          </a:p>
          <a:p>
            <a:pPr marL="0" lvl="0" indent="0" algn="l" rtl="0">
              <a:lnSpc>
                <a:spcPct val="100000"/>
              </a:lnSpc>
              <a:spcBef>
                <a:spcPts val="1000"/>
              </a:spcBef>
              <a:spcAft>
                <a:spcPts val="0"/>
              </a:spcAft>
              <a:buClr>
                <a:schemeClr val="dk1"/>
              </a:buClr>
              <a:buSzPct val="32835"/>
              <a:buFont typeface="Arial"/>
              <a:buNone/>
            </a:pPr>
            <a:r>
              <a:rPr lang="en" sz="2100" b="1" dirty="0">
                <a:solidFill>
                  <a:schemeClr val="accent1"/>
                </a:solidFill>
              </a:rPr>
              <a:t>Data:</a:t>
            </a:r>
            <a:r>
              <a:rPr lang="en" sz="2300" dirty="0">
                <a:solidFill>
                  <a:schemeClr val="accent4"/>
                </a:solidFill>
              </a:rPr>
              <a:t> </a:t>
            </a:r>
            <a:endParaRPr sz="2300" dirty="0">
              <a:solidFill>
                <a:schemeClr val="accent4"/>
              </a:solidFill>
            </a:endParaRPr>
          </a:p>
          <a:p>
            <a:pPr marL="1200150" lvl="0" indent="0" algn="l" rtl="0">
              <a:spcBef>
                <a:spcPts val="1000"/>
              </a:spcBef>
              <a:spcAft>
                <a:spcPts val="0"/>
              </a:spcAft>
              <a:buClr>
                <a:schemeClr val="dk1"/>
              </a:buClr>
              <a:buSzPct val="32835"/>
              <a:buFont typeface="Arial"/>
              <a:buNone/>
            </a:pPr>
            <a:r>
              <a:rPr lang="en" sz="1900" dirty="0">
                <a:solidFill>
                  <a:schemeClr val="dk2"/>
                </a:solidFill>
                <a:latin typeface="Assistant SemiBold"/>
                <a:ea typeface="Assistant SemiBold"/>
                <a:cs typeface="Assistant SemiBold"/>
                <a:sym typeface="Assistant SemiBold"/>
              </a:rPr>
              <a:t>National </a:t>
            </a:r>
            <a:r>
              <a:rPr lang="en" sz="1900" dirty="0">
                <a:solidFill>
                  <a:schemeClr val="accent4"/>
                </a:solidFill>
                <a:latin typeface="Assistant SemiBold" pitchFamily="2" charset="-79"/>
                <a:cs typeface="Assistant SemiBold" pitchFamily="2" charset="-79"/>
              </a:rPr>
              <a:t>2009</a:t>
            </a:r>
            <a:r>
              <a:rPr lang="en" sz="1900" dirty="0">
                <a:solidFill>
                  <a:schemeClr val="dk2"/>
                </a:solidFill>
                <a:latin typeface="Assistant SemiBold" pitchFamily="2" charset="-79"/>
                <a:cs typeface="Assistant SemiBold" pitchFamily="2" charset="-79"/>
              </a:rPr>
              <a:t> H1N1 Flu</a:t>
            </a:r>
            <a:r>
              <a:rPr lang="en" sz="2100" dirty="0">
                <a:solidFill>
                  <a:schemeClr val="dk2"/>
                </a:solidFill>
                <a:latin typeface="Assistant SemiBold" pitchFamily="2" charset="-79"/>
                <a:cs typeface="Assistant SemiBold" pitchFamily="2" charset="-79"/>
              </a:rPr>
              <a:t> </a:t>
            </a:r>
            <a:r>
              <a:rPr lang="en" sz="1900" dirty="0">
                <a:solidFill>
                  <a:schemeClr val="dk2"/>
                </a:solidFill>
                <a:latin typeface="Assistant SemiBold" pitchFamily="2" charset="-79"/>
                <a:cs typeface="Assistant SemiBold" pitchFamily="2" charset="-79"/>
              </a:rPr>
              <a:t>Survey</a:t>
            </a:r>
            <a:r>
              <a:rPr lang="en" sz="1900" dirty="0">
                <a:solidFill>
                  <a:schemeClr val="dk2"/>
                </a:solidFill>
                <a:latin typeface="Assistant SemiBold"/>
                <a:ea typeface="Assistant SemiBold"/>
                <a:cs typeface="Assistant SemiBold"/>
                <a:sym typeface="Assistant SemiBold"/>
              </a:rPr>
              <a:t> ~27K </a:t>
            </a:r>
            <a:r>
              <a:rPr lang="en" sz="1900" dirty="0">
                <a:solidFill>
                  <a:schemeClr val="accent4"/>
                </a:solidFill>
                <a:latin typeface="Assistant SemiBold"/>
                <a:ea typeface="Assistant SemiBold"/>
                <a:cs typeface="Assistant SemiBold"/>
                <a:sym typeface="Assistant SemiBold"/>
              </a:rPr>
              <a:t>U.S.</a:t>
            </a:r>
            <a:r>
              <a:rPr lang="en" sz="1900" dirty="0">
                <a:solidFill>
                  <a:schemeClr val="dk2"/>
                </a:solidFill>
                <a:latin typeface="Assistant SemiBold"/>
                <a:ea typeface="Assistant SemiBold"/>
                <a:cs typeface="Assistant SemiBold"/>
                <a:sym typeface="Assistant SemiBold"/>
              </a:rPr>
              <a:t> cases</a:t>
            </a:r>
            <a:br>
              <a:rPr lang="en" sz="2300" dirty="0">
                <a:latin typeface="Assistant SemiBold"/>
                <a:ea typeface="Assistant SemiBold"/>
                <a:cs typeface="Assistant SemiBold"/>
                <a:sym typeface="Assistant SemiBold"/>
              </a:rPr>
            </a:br>
            <a:endParaRPr sz="2300" dirty="0">
              <a:latin typeface="Assistant SemiBold"/>
              <a:ea typeface="Assistant SemiBold"/>
              <a:cs typeface="Assistant SemiBold"/>
              <a:sym typeface="Assistant SemiBold"/>
            </a:endParaRPr>
          </a:p>
          <a:p>
            <a:pPr marL="0" lvl="0" indent="0" algn="l" rtl="0">
              <a:spcBef>
                <a:spcPts val="1000"/>
              </a:spcBef>
              <a:spcAft>
                <a:spcPts val="1000"/>
              </a:spcAft>
              <a:buNone/>
            </a:pPr>
            <a:endParaRPr dirty="0"/>
          </a:p>
        </p:txBody>
      </p:sp>
      <p:sp>
        <p:nvSpPr>
          <p:cNvPr id="147" name="Google Shape;147;p2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2</a:t>
            </a:fld>
            <a:endParaRPr/>
          </a:p>
        </p:txBody>
      </p:sp>
      <p:sp>
        <p:nvSpPr>
          <p:cNvPr id="148" name="Google Shape;148;p22"/>
          <p:cNvSpPr txBox="1">
            <a:spLocks noGrp="1"/>
          </p:cNvSpPr>
          <p:nvPr>
            <p:ph type="body" idx="2"/>
          </p:nvPr>
        </p:nvSpPr>
        <p:spPr>
          <a:xfrm>
            <a:off x="4832425" y="1010475"/>
            <a:ext cx="3999900" cy="3657300"/>
          </a:xfrm>
          <a:prstGeom prst="rect">
            <a:avLst/>
          </a:prstGeom>
          <a:solidFill>
            <a:schemeClr val="accent6"/>
          </a:solidFill>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1900" b="1" dirty="0">
                <a:solidFill>
                  <a:schemeClr val="accent4"/>
                </a:solidFill>
              </a:rPr>
              <a:t>Goal:</a:t>
            </a:r>
            <a:endParaRPr sz="1900" dirty="0">
              <a:solidFill>
                <a:schemeClr val="accent1"/>
              </a:solidFill>
            </a:endParaRPr>
          </a:p>
          <a:p>
            <a:pPr marL="0" lvl="0" indent="0" algn="l" rtl="0">
              <a:lnSpc>
                <a:spcPct val="100000"/>
              </a:lnSpc>
              <a:spcBef>
                <a:spcPts val="1000"/>
              </a:spcBef>
              <a:spcAft>
                <a:spcPts val="0"/>
              </a:spcAft>
              <a:buClr>
                <a:schemeClr val="dk1"/>
              </a:buClr>
              <a:buSzPts val="1100"/>
              <a:buFont typeface="Arial"/>
              <a:buNone/>
            </a:pPr>
            <a:r>
              <a:rPr lang="en" sz="1900" dirty="0">
                <a:solidFill>
                  <a:schemeClr val="dk2"/>
                </a:solidFill>
                <a:latin typeface="Assistant SemiBold" pitchFamily="2" charset="-79"/>
                <a:ea typeface="Assistant SemiBold"/>
                <a:cs typeface="Assistant SemiBold" pitchFamily="2" charset="-79"/>
                <a:sym typeface="Assistant SemiBold"/>
              </a:rPr>
              <a:t>Uncover </a:t>
            </a:r>
            <a:r>
              <a:rPr lang="en" sz="1900" b="1" dirty="0">
                <a:solidFill>
                  <a:schemeClr val="accent4"/>
                </a:solidFill>
                <a:latin typeface="Assistant SemiBold" pitchFamily="2" charset="-79"/>
                <a:cs typeface="Assistant SemiBold" pitchFamily="2" charset="-79"/>
              </a:rPr>
              <a:t>behavioral drivers</a:t>
            </a:r>
            <a:r>
              <a:rPr lang="en" sz="1900" dirty="0">
                <a:solidFill>
                  <a:schemeClr val="accent4"/>
                </a:solidFill>
                <a:latin typeface="Assistant SemiBold" pitchFamily="2" charset="-79"/>
                <a:ea typeface="Assistant SemiBold"/>
                <a:cs typeface="Assistant SemiBold" pitchFamily="2" charset="-79"/>
                <a:sym typeface="Assistant SemiBold"/>
              </a:rPr>
              <a:t> </a:t>
            </a:r>
            <a:r>
              <a:rPr lang="en" sz="1900" dirty="0">
                <a:solidFill>
                  <a:schemeClr val="dk2"/>
                </a:solidFill>
                <a:latin typeface="Assistant SemiBold" pitchFamily="2" charset="-79"/>
                <a:ea typeface="Assistant SemiBold"/>
                <a:cs typeface="Assistant SemiBold" pitchFamily="2" charset="-79"/>
                <a:sym typeface="Assistant SemiBold"/>
              </a:rPr>
              <a:t>of vaccination uptake</a:t>
            </a:r>
            <a:endParaRPr sz="1900" dirty="0">
              <a:latin typeface="Assistant SemiBold" pitchFamily="2" charset="-79"/>
              <a:ea typeface="Assistant SemiBold"/>
              <a:cs typeface="Assistant SemiBold" pitchFamily="2" charset="-79"/>
              <a:sym typeface="Assistant SemiBold"/>
            </a:endParaRPr>
          </a:p>
          <a:p>
            <a:pPr marL="0" lvl="0" indent="0" algn="l" rtl="0">
              <a:lnSpc>
                <a:spcPct val="100000"/>
              </a:lnSpc>
              <a:spcBef>
                <a:spcPts val="1000"/>
              </a:spcBef>
              <a:spcAft>
                <a:spcPts val="0"/>
              </a:spcAft>
              <a:buClr>
                <a:schemeClr val="dk1"/>
              </a:buClr>
              <a:buSzPts val="1100"/>
              <a:buFont typeface="Arial"/>
              <a:buNone/>
            </a:pPr>
            <a:r>
              <a:rPr lang="en" sz="1900" b="1" dirty="0">
                <a:solidFill>
                  <a:schemeClr val="accent4"/>
                </a:solidFill>
              </a:rPr>
              <a:t>Value:</a:t>
            </a:r>
            <a:r>
              <a:rPr lang="en" sz="1900" dirty="0">
                <a:solidFill>
                  <a:schemeClr val="accent1"/>
                </a:solidFill>
              </a:rPr>
              <a:t> </a:t>
            </a:r>
            <a:endParaRPr sz="1900" dirty="0">
              <a:solidFill>
                <a:schemeClr val="accent1"/>
              </a:solidFill>
            </a:endParaRPr>
          </a:p>
          <a:p>
            <a:pPr marL="0" lvl="0" indent="0" algn="l" rtl="0">
              <a:lnSpc>
                <a:spcPct val="100000"/>
              </a:lnSpc>
              <a:spcBef>
                <a:spcPts val="1000"/>
              </a:spcBef>
              <a:spcAft>
                <a:spcPts val="1000"/>
              </a:spcAft>
              <a:buClr>
                <a:schemeClr val="dk1"/>
              </a:buClr>
              <a:buSzPts val="1100"/>
              <a:buFont typeface="Arial"/>
              <a:buNone/>
            </a:pPr>
            <a:r>
              <a:rPr lang="en" sz="1900" dirty="0">
                <a:solidFill>
                  <a:schemeClr val="dk2"/>
                </a:solidFill>
                <a:latin typeface="Assistant SemiBold" pitchFamily="2" charset="-79"/>
                <a:ea typeface="Assistant SemiBold"/>
                <a:cs typeface="Assistant SemiBold" pitchFamily="2" charset="-79"/>
                <a:sym typeface="Assistant SemiBold"/>
              </a:rPr>
              <a:t>Better understanding of vaccine hesitancy to enable </a:t>
            </a:r>
            <a:r>
              <a:rPr lang="en" sz="1900" b="1" dirty="0">
                <a:solidFill>
                  <a:schemeClr val="accent4"/>
                </a:solidFill>
                <a:latin typeface="Assistant SemiBold" pitchFamily="2" charset="-79"/>
                <a:cs typeface="Assistant SemiBold" pitchFamily="2" charset="-79"/>
              </a:rPr>
              <a:t>targeted outreach</a:t>
            </a:r>
            <a:r>
              <a:rPr lang="en" sz="1900" dirty="0">
                <a:solidFill>
                  <a:schemeClr val="dk2"/>
                </a:solidFill>
                <a:latin typeface="Assistant SemiBold" pitchFamily="2" charset="-79"/>
                <a:ea typeface="Assistant SemiBold"/>
                <a:cs typeface="Assistant SemiBold" pitchFamily="2" charset="-79"/>
                <a:sym typeface="Assistant SemiBold"/>
              </a:rPr>
              <a:t> and healthier communities</a:t>
            </a:r>
            <a:endParaRPr sz="1900" b="1" dirty="0">
              <a:solidFill>
                <a:schemeClr val="dk2"/>
              </a:solidFill>
              <a:latin typeface="Assistant SemiBold" pitchFamily="2" charset="-79"/>
              <a:cs typeface="Assistant SemiBold" pitchFamily="2" charset="-79"/>
            </a:endParaRPr>
          </a:p>
        </p:txBody>
      </p:sp>
      <p:pic>
        <p:nvPicPr>
          <p:cNvPr id="149" name="Google Shape;149;p22"/>
          <p:cNvPicPr preferRelativeResize="0"/>
          <p:nvPr/>
        </p:nvPicPr>
        <p:blipFill>
          <a:blip r:embed="rId3">
            <a:alphaModFix/>
          </a:blip>
          <a:stretch>
            <a:fillRect/>
          </a:stretch>
        </p:blipFill>
        <p:spPr>
          <a:xfrm>
            <a:off x="389625" y="3469350"/>
            <a:ext cx="1101650" cy="1101649"/>
          </a:xfrm>
          <a:prstGeom prst="rect">
            <a:avLst/>
          </a:prstGeom>
          <a:noFill/>
          <a:ln>
            <a:noFill/>
          </a:ln>
        </p:spPr>
      </p:pic>
      <p:grpSp>
        <p:nvGrpSpPr>
          <p:cNvPr id="150" name="Google Shape;150;p22"/>
          <p:cNvGrpSpPr/>
          <p:nvPr/>
        </p:nvGrpSpPr>
        <p:grpSpPr>
          <a:xfrm rot="2700000">
            <a:off x="6280259" y="3506601"/>
            <a:ext cx="1104231" cy="897595"/>
            <a:chOff x="919500" y="1916075"/>
            <a:chExt cx="1067700" cy="867900"/>
          </a:xfrm>
        </p:grpSpPr>
        <p:sp>
          <p:nvSpPr>
            <p:cNvPr id="151" name="Google Shape;151;p22"/>
            <p:cNvSpPr/>
            <p:nvPr/>
          </p:nvSpPr>
          <p:spPr>
            <a:xfrm>
              <a:off x="919500" y="1992275"/>
              <a:ext cx="915300" cy="791700"/>
            </a:xfrm>
            <a:prstGeom prst="triangle">
              <a:avLst>
                <a:gd name="adj" fmla="val 50000"/>
              </a:avLst>
            </a:prstGeom>
            <a:solidFill>
              <a:schemeClr val="accent5"/>
            </a:solidFill>
            <a:ln>
              <a:noFill/>
            </a:ln>
          </p:spPr>
          <p:txBody>
            <a:bodyPr spcFirstLastPara="1" wrap="square" lIns="103575" tIns="103575" rIns="103575" bIns="103575" anchor="ctr" anchorCtr="0">
              <a:noAutofit/>
            </a:bodyPr>
            <a:lstStyle/>
            <a:p>
              <a:pPr marL="0" lvl="0" indent="0" algn="l" rtl="0">
                <a:spcBef>
                  <a:spcPts val="0"/>
                </a:spcBef>
                <a:spcAft>
                  <a:spcPts val="0"/>
                </a:spcAft>
                <a:buNone/>
              </a:pPr>
              <a:endParaRPr/>
            </a:p>
          </p:txBody>
        </p:sp>
        <p:sp>
          <p:nvSpPr>
            <p:cNvPr id="152" name="Google Shape;152;p22"/>
            <p:cNvSpPr/>
            <p:nvPr/>
          </p:nvSpPr>
          <p:spPr>
            <a:xfrm>
              <a:off x="1071900" y="1916075"/>
              <a:ext cx="915300" cy="791700"/>
            </a:xfrm>
            <a:prstGeom prst="triangle">
              <a:avLst>
                <a:gd name="adj" fmla="val 50000"/>
              </a:avLst>
            </a:prstGeom>
            <a:solidFill>
              <a:schemeClr val="accent5"/>
            </a:solidFill>
            <a:ln w="21575" cap="flat" cmpd="sng">
              <a:solidFill>
                <a:schemeClr val="dk1"/>
              </a:solidFill>
              <a:prstDash val="solid"/>
              <a:round/>
              <a:headEnd type="none" w="sm" len="sm"/>
              <a:tailEnd type="none" w="sm" len="sm"/>
            </a:ln>
          </p:spPr>
          <p:txBody>
            <a:bodyPr spcFirstLastPara="1" wrap="square" lIns="103575" tIns="103575" rIns="103575" bIns="103575" anchor="ctr" anchorCtr="0">
              <a:noAutofit/>
            </a:bodyPr>
            <a:lstStyle/>
            <a:p>
              <a:pPr marL="0" lvl="0" indent="0" algn="l" rtl="0">
                <a:spcBef>
                  <a:spcPts val="0"/>
                </a:spcBef>
                <a:spcAft>
                  <a:spcPts val="0"/>
                </a:spcAft>
                <a:buNone/>
              </a:pPr>
              <a:endParaRPr/>
            </a:p>
          </p:txBody>
        </p:sp>
      </p:grpSp>
      <p:pic>
        <p:nvPicPr>
          <p:cNvPr id="153" name="Google Shape;153;p22"/>
          <p:cNvPicPr preferRelativeResize="0"/>
          <p:nvPr/>
        </p:nvPicPr>
        <p:blipFill>
          <a:blip r:embed="rId4">
            <a:alphaModFix/>
          </a:blip>
          <a:stretch>
            <a:fillRect/>
          </a:stretch>
        </p:blipFill>
        <p:spPr>
          <a:xfrm>
            <a:off x="3716975" y="4147532"/>
            <a:ext cx="538965" cy="423474"/>
          </a:xfrm>
          <a:prstGeom prst="rect">
            <a:avLst/>
          </a:prstGeom>
          <a:noFill/>
          <a:ln>
            <a:noFill/>
          </a:ln>
        </p:spPr>
      </p:pic>
      <p:pic>
        <p:nvPicPr>
          <p:cNvPr id="154" name="Google Shape;154;p22"/>
          <p:cNvPicPr preferRelativeResize="0"/>
          <p:nvPr/>
        </p:nvPicPr>
        <p:blipFill>
          <a:blip r:embed="rId5">
            <a:alphaModFix/>
          </a:blip>
          <a:stretch>
            <a:fillRect/>
          </a:stretch>
        </p:blipFill>
        <p:spPr>
          <a:xfrm>
            <a:off x="8238205" y="4145913"/>
            <a:ext cx="541825" cy="42669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3"/>
          <p:cNvSpPr txBox="1">
            <a:spLocks noGrp="1"/>
          </p:cNvSpPr>
          <p:nvPr>
            <p:ph type="title"/>
          </p:nvPr>
        </p:nvSpPr>
        <p:spPr>
          <a:xfrm>
            <a:off x="311700" y="342900"/>
            <a:ext cx="8520600" cy="587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SzPts val="990"/>
              <a:buNone/>
            </a:pPr>
            <a:r>
              <a:rPr lang="en" sz="2420">
                <a:solidFill>
                  <a:schemeClr val="dk2"/>
                </a:solidFill>
              </a:rPr>
              <a:t>Project Workflow</a:t>
            </a:r>
            <a:endParaRPr sz="2420">
              <a:solidFill>
                <a:schemeClr val="dk2"/>
              </a:solidFill>
            </a:endParaRPr>
          </a:p>
        </p:txBody>
      </p:sp>
      <p:sp>
        <p:nvSpPr>
          <p:cNvPr id="160" name="Google Shape;160;p2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solidFill>
                  <a:schemeClr val="lt1"/>
                </a:solidFill>
              </a:rPr>
              <a:t>3</a:t>
            </a:fld>
            <a:endParaRPr>
              <a:solidFill>
                <a:schemeClr val="lt1"/>
              </a:solidFill>
            </a:endParaRPr>
          </a:p>
        </p:txBody>
      </p:sp>
      <p:pic>
        <p:nvPicPr>
          <p:cNvPr id="161" name="Google Shape;161;p23" title="5310ba8d-a815-4049-a27c-df364d21aa1a.png"/>
          <p:cNvPicPr preferRelativeResize="0"/>
          <p:nvPr/>
        </p:nvPicPr>
        <p:blipFill>
          <a:blip r:embed="rId3">
            <a:alphaModFix/>
          </a:blip>
          <a:stretch>
            <a:fillRect/>
          </a:stretch>
        </p:blipFill>
        <p:spPr>
          <a:xfrm>
            <a:off x="418100" y="1184700"/>
            <a:ext cx="8307776" cy="3323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4"/>
          <p:cNvSpPr txBox="1">
            <a:spLocks noGrp="1"/>
          </p:cNvSpPr>
          <p:nvPr>
            <p:ph type="title"/>
          </p:nvPr>
        </p:nvSpPr>
        <p:spPr>
          <a:xfrm>
            <a:off x="311700" y="342900"/>
            <a:ext cx="8520600" cy="55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n" sz="2400">
                <a:solidFill>
                  <a:schemeClr val="dk2"/>
                </a:solidFill>
              </a:rPr>
              <a:t>Socio-Economic Composition</a:t>
            </a:r>
            <a:endParaRPr sz="2400">
              <a:solidFill>
                <a:schemeClr val="dk2"/>
              </a:solidFill>
            </a:endParaRPr>
          </a:p>
        </p:txBody>
      </p:sp>
      <p:sp>
        <p:nvSpPr>
          <p:cNvPr id="167" name="Google Shape;167;p24"/>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4</a:t>
            </a:fld>
            <a:endParaRPr/>
          </a:p>
        </p:txBody>
      </p:sp>
      <p:pic>
        <p:nvPicPr>
          <p:cNvPr id="168" name="Google Shape;168;p24"/>
          <p:cNvPicPr preferRelativeResize="0"/>
          <p:nvPr/>
        </p:nvPicPr>
        <p:blipFill>
          <a:blip r:embed="rId3">
            <a:alphaModFix/>
          </a:blip>
          <a:stretch>
            <a:fillRect/>
          </a:stretch>
        </p:blipFill>
        <p:spPr>
          <a:xfrm>
            <a:off x="444950" y="2762925"/>
            <a:ext cx="2724775" cy="1796650"/>
          </a:xfrm>
          <a:prstGeom prst="rect">
            <a:avLst/>
          </a:prstGeom>
          <a:noFill/>
          <a:ln>
            <a:noFill/>
          </a:ln>
        </p:spPr>
      </p:pic>
      <p:pic>
        <p:nvPicPr>
          <p:cNvPr id="169" name="Google Shape;169;p24"/>
          <p:cNvPicPr preferRelativeResize="0"/>
          <p:nvPr/>
        </p:nvPicPr>
        <p:blipFill>
          <a:blip r:embed="rId4">
            <a:alphaModFix/>
          </a:blip>
          <a:stretch>
            <a:fillRect/>
          </a:stretch>
        </p:blipFill>
        <p:spPr>
          <a:xfrm>
            <a:off x="3463099" y="1017900"/>
            <a:ext cx="5267297" cy="3592373"/>
          </a:xfrm>
          <a:prstGeom prst="rect">
            <a:avLst/>
          </a:prstGeom>
          <a:noFill/>
          <a:ln>
            <a:noFill/>
          </a:ln>
        </p:spPr>
      </p:pic>
      <p:pic>
        <p:nvPicPr>
          <p:cNvPr id="170" name="Google Shape;170;p24"/>
          <p:cNvPicPr preferRelativeResize="0"/>
          <p:nvPr/>
        </p:nvPicPr>
        <p:blipFill>
          <a:blip r:embed="rId5">
            <a:alphaModFix/>
          </a:blip>
          <a:stretch>
            <a:fillRect/>
          </a:stretch>
        </p:blipFill>
        <p:spPr>
          <a:xfrm>
            <a:off x="980900" y="953525"/>
            <a:ext cx="1652898" cy="16960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5"/>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SzPts val="990"/>
              <a:buNone/>
            </a:pPr>
            <a:r>
              <a:rPr lang="en" sz="2420" dirty="0">
                <a:solidFill>
                  <a:schemeClr val="dk2"/>
                </a:solidFill>
              </a:rPr>
              <a:t>Feature Strategy: From Raw Data to Meaningful Signals</a:t>
            </a:r>
            <a:endParaRPr sz="2420" dirty="0">
              <a:solidFill>
                <a:schemeClr val="dk2"/>
              </a:solidFill>
            </a:endParaRPr>
          </a:p>
        </p:txBody>
      </p:sp>
      <p:sp>
        <p:nvSpPr>
          <p:cNvPr id="176" name="Google Shape;176;p25"/>
          <p:cNvSpPr txBox="1">
            <a:spLocks noGrp="1"/>
          </p:cNvSpPr>
          <p:nvPr>
            <p:ph type="body" idx="1"/>
          </p:nvPr>
        </p:nvSpPr>
        <p:spPr>
          <a:xfrm>
            <a:off x="311700" y="1005850"/>
            <a:ext cx="2679600" cy="3657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b="1" dirty="0">
                <a:solidFill>
                  <a:schemeClr val="accent4"/>
                </a:solidFill>
              </a:rPr>
              <a:t>FEATURES</a:t>
            </a:r>
            <a:endParaRPr sz="1600" b="1" dirty="0">
              <a:solidFill>
                <a:schemeClr val="accent4"/>
              </a:solidFill>
            </a:endParaRPr>
          </a:p>
          <a:p>
            <a:pPr marL="0" lvl="0" indent="0" algn="l" rtl="0">
              <a:spcBef>
                <a:spcPts val="1000"/>
              </a:spcBef>
              <a:spcAft>
                <a:spcPts val="0"/>
              </a:spcAft>
              <a:buNone/>
            </a:pPr>
            <a:r>
              <a:rPr lang="en" b="1" dirty="0">
                <a:solidFill>
                  <a:schemeClr val="bg2"/>
                </a:solidFill>
              </a:rPr>
              <a:t>Overall</a:t>
            </a:r>
            <a:r>
              <a:rPr lang="en" dirty="0">
                <a:solidFill>
                  <a:schemeClr val="dk2"/>
                </a:solidFill>
              </a:rPr>
              <a:t>: </a:t>
            </a:r>
            <a:r>
              <a:rPr lang="en" sz="1500" dirty="0">
                <a:solidFill>
                  <a:schemeClr val="dk2"/>
                </a:solidFill>
              </a:rPr>
              <a:t>35</a:t>
            </a:r>
            <a:endParaRPr sz="1500" dirty="0">
              <a:solidFill>
                <a:schemeClr val="dk2"/>
              </a:solidFill>
            </a:endParaRPr>
          </a:p>
          <a:p>
            <a:pPr marL="0" lvl="0" indent="0" algn="l" rtl="0">
              <a:spcBef>
                <a:spcPts val="1000"/>
              </a:spcBef>
              <a:spcAft>
                <a:spcPts val="0"/>
              </a:spcAft>
              <a:buNone/>
            </a:pPr>
            <a:r>
              <a:rPr lang="en" b="1" dirty="0">
                <a:solidFill>
                  <a:schemeClr val="accent4"/>
                </a:solidFill>
              </a:rPr>
              <a:t>Categories</a:t>
            </a:r>
            <a:r>
              <a:rPr lang="en" dirty="0">
                <a:solidFill>
                  <a:schemeClr val="dk2"/>
                </a:solidFill>
              </a:rPr>
              <a:t>:</a:t>
            </a:r>
            <a:endParaRPr dirty="0">
              <a:solidFill>
                <a:schemeClr val="dk2"/>
              </a:solidFill>
            </a:endParaRPr>
          </a:p>
          <a:p>
            <a:pPr lvl="0" algn="l" rtl="0">
              <a:spcBef>
                <a:spcPts val="1000"/>
              </a:spcBef>
              <a:spcAft>
                <a:spcPts val="0"/>
              </a:spcAft>
              <a:buClr>
                <a:schemeClr val="dk2"/>
              </a:buClr>
              <a:buSzPts val="1400"/>
              <a:buFont typeface="Courier New" panose="02070309020205020404" pitchFamily="49" charset="0"/>
              <a:buChar char="o"/>
            </a:pPr>
            <a:r>
              <a:rPr lang="en" b="1" dirty="0">
                <a:solidFill>
                  <a:schemeClr val="accent4"/>
                </a:solidFill>
                <a:latin typeface="Assistant SemiBold" pitchFamily="2" charset="-79"/>
                <a:cs typeface="Assistant SemiBold" pitchFamily="2" charset="-79"/>
              </a:rPr>
              <a:t>behavioral</a:t>
            </a:r>
            <a:r>
              <a:rPr lang="en" b="1" dirty="0">
                <a:solidFill>
                  <a:schemeClr val="dk2"/>
                </a:solidFill>
              </a:rPr>
              <a:t> </a:t>
            </a:r>
            <a:r>
              <a:rPr lang="en" dirty="0">
                <a:solidFill>
                  <a:schemeClr val="dk2"/>
                </a:solidFill>
              </a:rPr>
              <a:t>and </a:t>
            </a:r>
            <a:r>
              <a:rPr lang="en" b="1" dirty="0">
                <a:solidFill>
                  <a:schemeClr val="accent4"/>
                </a:solidFill>
                <a:latin typeface="Assistant SemiBold" pitchFamily="2" charset="-79"/>
                <a:cs typeface="Assistant SemiBold" pitchFamily="2" charset="-79"/>
              </a:rPr>
              <a:t>opinion</a:t>
            </a:r>
            <a:r>
              <a:rPr lang="en" b="1" dirty="0">
                <a:solidFill>
                  <a:schemeClr val="dk2"/>
                </a:solidFill>
              </a:rPr>
              <a:t> </a:t>
            </a:r>
            <a:r>
              <a:rPr lang="en" dirty="0">
                <a:solidFill>
                  <a:schemeClr val="dk2"/>
                </a:solidFill>
              </a:rPr>
              <a:t>scales</a:t>
            </a:r>
            <a:endParaRPr dirty="0">
              <a:solidFill>
                <a:schemeClr val="dk2"/>
              </a:solidFill>
            </a:endParaRPr>
          </a:p>
          <a:p>
            <a:pPr lvl="0" algn="l" rtl="0">
              <a:spcBef>
                <a:spcPts val="0"/>
              </a:spcBef>
              <a:spcAft>
                <a:spcPts val="0"/>
              </a:spcAft>
              <a:buClr>
                <a:schemeClr val="dk2"/>
              </a:buClr>
              <a:buSzPts val="1400"/>
              <a:buFont typeface="Courier New" panose="02070309020205020404" pitchFamily="49" charset="0"/>
              <a:buChar char="o"/>
            </a:pPr>
            <a:r>
              <a:rPr lang="en" dirty="0">
                <a:solidFill>
                  <a:schemeClr val="dk2"/>
                </a:solidFill>
              </a:rPr>
              <a:t>binary </a:t>
            </a:r>
            <a:r>
              <a:rPr lang="en" b="1" dirty="0">
                <a:solidFill>
                  <a:schemeClr val="accent4"/>
                </a:solidFill>
                <a:latin typeface="Assistant SemiBold" pitchFamily="2" charset="-79"/>
                <a:cs typeface="Assistant SemiBold" pitchFamily="2" charset="-79"/>
              </a:rPr>
              <a:t>health</a:t>
            </a:r>
            <a:r>
              <a:rPr lang="en" b="1" dirty="0">
                <a:solidFill>
                  <a:schemeClr val="dk2"/>
                </a:solidFill>
              </a:rPr>
              <a:t> </a:t>
            </a:r>
            <a:r>
              <a:rPr lang="en" dirty="0">
                <a:solidFill>
                  <a:schemeClr val="dk2"/>
                </a:solidFill>
              </a:rPr>
              <a:t>and </a:t>
            </a:r>
            <a:r>
              <a:rPr lang="en" b="1" dirty="0">
                <a:solidFill>
                  <a:schemeClr val="accent4"/>
                </a:solidFill>
                <a:latin typeface="Assistant SemiBold" pitchFamily="2" charset="-79"/>
                <a:cs typeface="Assistant SemiBold" pitchFamily="2" charset="-79"/>
              </a:rPr>
              <a:t>access</a:t>
            </a:r>
            <a:r>
              <a:rPr lang="en" b="1" dirty="0">
                <a:solidFill>
                  <a:schemeClr val="dk2"/>
                </a:solidFill>
              </a:rPr>
              <a:t> </a:t>
            </a:r>
            <a:r>
              <a:rPr lang="en" dirty="0">
                <a:solidFill>
                  <a:schemeClr val="dk2"/>
                </a:solidFill>
              </a:rPr>
              <a:t>indicators</a:t>
            </a:r>
            <a:endParaRPr dirty="0">
              <a:solidFill>
                <a:schemeClr val="dk2"/>
              </a:solidFill>
            </a:endParaRPr>
          </a:p>
          <a:p>
            <a:pPr lvl="0" algn="l" rtl="0">
              <a:spcBef>
                <a:spcPts val="0"/>
              </a:spcBef>
              <a:spcAft>
                <a:spcPts val="0"/>
              </a:spcAft>
              <a:buClr>
                <a:schemeClr val="dk2"/>
              </a:buClr>
              <a:buSzPts val="1400"/>
              <a:buFont typeface="Courier New" panose="02070309020205020404" pitchFamily="49" charset="0"/>
              <a:buChar char="o"/>
            </a:pPr>
            <a:r>
              <a:rPr lang="en" dirty="0">
                <a:solidFill>
                  <a:schemeClr val="dk2"/>
                </a:solidFill>
              </a:rPr>
              <a:t>ordinal </a:t>
            </a:r>
            <a:r>
              <a:rPr lang="en" b="1" dirty="0">
                <a:solidFill>
                  <a:schemeClr val="accent4"/>
                </a:solidFill>
                <a:latin typeface="Assistant SemiBold" pitchFamily="2" charset="-79"/>
                <a:cs typeface="Assistant SemiBold" pitchFamily="2" charset="-79"/>
              </a:rPr>
              <a:t>socio-economic</a:t>
            </a:r>
            <a:r>
              <a:rPr lang="en" dirty="0">
                <a:solidFill>
                  <a:schemeClr val="dk2"/>
                </a:solidFill>
              </a:rPr>
              <a:t> variables</a:t>
            </a:r>
            <a:endParaRPr dirty="0">
              <a:solidFill>
                <a:schemeClr val="dk2"/>
              </a:solidFill>
            </a:endParaRPr>
          </a:p>
          <a:p>
            <a:pPr lvl="0" algn="l" rtl="0">
              <a:spcBef>
                <a:spcPts val="0"/>
              </a:spcBef>
              <a:spcAft>
                <a:spcPts val="0"/>
              </a:spcAft>
              <a:buClr>
                <a:schemeClr val="dk2"/>
              </a:buClr>
              <a:buSzPts val="1400"/>
              <a:buFont typeface="Courier New" panose="02070309020205020404" pitchFamily="49" charset="0"/>
              <a:buChar char="o"/>
            </a:pPr>
            <a:r>
              <a:rPr lang="en" dirty="0">
                <a:solidFill>
                  <a:schemeClr val="dk2"/>
                </a:solidFill>
              </a:rPr>
              <a:t>high-card. categorical fields (</a:t>
            </a:r>
            <a:r>
              <a:rPr lang="en" b="1" dirty="0">
                <a:solidFill>
                  <a:schemeClr val="accent4"/>
                </a:solidFill>
                <a:latin typeface="Assistant SemiBold" pitchFamily="2" charset="-79"/>
                <a:cs typeface="Assistant SemiBold" pitchFamily="2" charset="-79"/>
              </a:rPr>
              <a:t>industry</a:t>
            </a:r>
            <a:r>
              <a:rPr lang="en" dirty="0">
                <a:solidFill>
                  <a:schemeClr val="dk2"/>
                </a:solidFill>
                <a:latin typeface="Assistant SemiBold" pitchFamily="2" charset="-79"/>
                <a:cs typeface="Assistant SemiBold" pitchFamily="2" charset="-79"/>
              </a:rPr>
              <a:t>/</a:t>
            </a:r>
            <a:r>
              <a:rPr lang="en" b="1" dirty="0">
                <a:solidFill>
                  <a:schemeClr val="accent4"/>
                </a:solidFill>
                <a:latin typeface="Assistant SemiBold" pitchFamily="2" charset="-79"/>
                <a:cs typeface="Assistant SemiBold" pitchFamily="2" charset="-79"/>
              </a:rPr>
              <a:t>occupation</a:t>
            </a:r>
            <a:r>
              <a:rPr lang="en" dirty="0">
                <a:solidFill>
                  <a:schemeClr val="dk2"/>
                </a:solidFill>
              </a:rPr>
              <a:t>)</a:t>
            </a:r>
            <a:endParaRPr dirty="0">
              <a:solidFill>
                <a:schemeClr val="dk2"/>
              </a:solidFill>
            </a:endParaRPr>
          </a:p>
          <a:p>
            <a:pPr marL="0" lvl="0" indent="0" algn="l" rtl="0">
              <a:spcBef>
                <a:spcPts val="1000"/>
              </a:spcBef>
              <a:spcAft>
                <a:spcPts val="1000"/>
              </a:spcAft>
              <a:buNone/>
            </a:pPr>
            <a:endParaRPr dirty="0"/>
          </a:p>
        </p:txBody>
      </p:sp>
      <p:sp>
        <p:nvSpPr>
          <p:cNvPr id="177" name="Google Shape;177;p25"/>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5</a:t>
            </a:fld>
            <a:endParaRPr/>
          </a:p>
        </p:txBody>
      </p:sp>
      <p:sp>
        <p:nvSpPr>
          <p:cNvPr id="178" name="Google Shape;178;p25"/>
          <p:cNvSpPr txBox="1">
            <a:spLocks noGrp="1"/>
          </p:cNvSpPr>
          <p:nvPr>
            <p:ph type="body" idx="2"/>
          </p:nvPr>
        </p:nvSpPr>
        <p:spPr>
          <a:xfrm>
            <a:off x="6152700" y="1005850"/>
            <a:ext cx="2679600" cy="3657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b="1" dirty="0">
                <a:solidFill>
                  <a:schemeClr val="accent4"/>
                </a:solidFill>
              </a:rPr>
              <a:t>ENCODING</a:t>
            </a:r>
            <a:endParaRPr sz="1600" b="1" dirty="0">
              <a:solidFill>
                <a:schemeClr val="accent4"/>
              </a:solidFill>
            </a:endParaRPr>
          </a:p>
          <a:p>
            <a:pPr marL="0" lvl="0" indent="0" algn="l" rtl="0">
              <a:lnSpc>
                <a:spcPct val="100000"/>
              </a:lnSpc>
              <a:spcBef>
                <a:spcPts val="1200"/>
              </a:spcBef>
              <a:spcAft>
                <a:spcPts val="0"/>
              </a:spcAft>
              <a:buNone/>
            </a:pPr>
            <a:endParaRPr sz="100" b="1" dirty="0"/>
          </a:p>
          <a:p>
            <a:pPr lvl="0" algn="l" rtl="0">
              <a:spcBef>
                <a:spcPts val="1200"/>
              </a:spcBef>
              <a:spcAft>
                <a:spcPts val="0"/>
              </a:spcAft>
              <a:buClr>
                <a:schemeClr val="dk2"/>
              </a:buClr>
              <a:buSzPts val="1400"/>
              <a:buFont typeface="Wingdings" panose="05000000000000000000" pitchFamily="2" charset="2"/>
              <a:buChar char="v"/>
            </a:pPr>
            <a:r>
              <a:rPr lang="en" b="1" dirty="0">
                <a:solidFill>
                  <a:schemeClr val="accent4"/>
                </a:solidFill>
              </a:rPr>
              <a:t>Ordinal mappings</a:t>
            </a:r>
            <a:r>
              <a:rPr lang="en" dirty="0">
                <a:solidFill>
                  <a:schemeClr val="accent4"/>
                </a:solidFill>
              </a:rPr>
              <a:t> </a:t>
            </a:r>
            <a:r>
              <a:rPr lang="en" dirty="0">
                <a:solidFill>
                  <a:schemeClr val="dk2"/>
                </a:solidFill>
              </a:rPr>
              <a:t>for naturally ordered features (e.g. age, education, income)</a:t>
            </a:r>
            <a:endParaRPr dirty="0">
              <a:solidFill>
                <a:schemeClr val="dk2"/>
              </a:solidFill>
            </a:endParaRPr>
          </a:p>
          <a:p>
            <a:pPr lvl="0" algn="l" rtl="0">
              <a:spcBef>
                <a:spcPts val="0"/>
              </a:spcBef>
              <a:spcAft>
                <a:spcPts val="0"/>
              </a:spcAft>
              <a:buClr>
                <a:schemeClr val="dk2"/>
              </a:buClr>
              <a:buSzPts val="1400"/>
              <a:buFont typeface="Wingdings" panose="05000000000000000000" pitchFamily="2" charset="2"/>
              <a:buChar char="v"/>
            </a:pPr>
            <a:r>
              <a:rPr lang="en" b="1" dirty="0">
                <a:solidFill>
                  <a:schemeClr val="accent4"/>
                </a:solidFill>
              </a:rPr>
              <a:t>One-hot encoding</a:t>
            </a:r>
            <a:r>
              <a:rPr lang="en" dirty="0">
                <a:solidFill>
                  <a:schemeClr val="accent4"/>
                </a:solidFill>
              </a:rPr>
              <a:t> </a:t>
            </a:r>
            <a:r>
              <a:rPr lang="en" dirty="0">
                <a:solidFill>
                  <a:schemeClr val="dk2"/>
                </a:solidFill>
              </a:rPr>
              <a:t>for small categories (e.g. sex, insurance, housing)</a:t>
            </a:r>
            <a:endParaRPr dirty="0">
              <a:solidFill>
                <a:schemeClr val="dk2"/>
              </a:solidFill>
            </a:endParaRPr>
          </a:p>
          <a:p>
            <a:pPr lvl="0" algn="l" rtl="0">
              <a:spcBef>
                <a:spcPts val="0"/>
              </a:spcBef>
              <a:spcAft>
                <a:spcPts val="0"/>
              </a:spcAft>
              <a:buClr>
                <a:schemeClr val="dk2"/>
              </a:buClr>
              <a:buSzPts val="1400"/>
              <a:buFont typeface="Wingdings" panose="05000000000000000000" pitchFamily="2" charset="2"/>
              <a:buChar char="v"/>
            </a:pPr>
            <a:r>
              <a:rPr lang="en" b="1" dirty="0">
                <a:solidFill>
                  <a:schemeClr val="accent4"/>
                </a:solidFill>
              </a:rPr>
              <a:t>Target-encoding</a:t>
            </a:r>
            <a:r>
              <a:rPr lang="en" dirty="0">
                <a:solidFill>
                  <a:schemeClr val="dk2"/>
                </a:solidFill>
              </a:rPr>
              <a:t> for industry/occupation</a:t>
            </a:r>
            <a:endParaRPr dirty="0">
              <a:solidFill>
                <a:schemeClr val="dk2"/>
              </a:solidFill>
            </a:endParaRPr>
          </a:p>
        </p:txBody>
      </p:sp>
      <p:sp>
        <p:nvSpPr>
          <p:cNvPr id="179" name="Google Shape;179;p25"/>
          <p:cNvSpPr txBox="1">
            <a:spLocks noGrp="1"/>
          </p:cNvSpPr>
          <p:nvPr>
            <p:ph type="body" idx="3"/>
          </p:nvPr>
        </p:nvSpPr>
        <p:spPr>
          <a:xfrm>
            <a:off x="3232200" y="1005850"/>
            <a:ext cx="2679600" cy="3657300"/>
          </a:xfrm>
          <a:prstGeom prst="rect">
            <a:avLst/>
          </a:prstGeom>
          <a:solidFill>
            <a:schemeClr val="accent6"/>
          </a:solidFill>
        </p:spPr>
        <p:txBody>
          <a:bodyPr spcFirstLastPara="1" wrap="square" lIns="91425" tIns="91425" rIns="91425" bIns="91425" anchor="t" anchorCtr="0">
            <a:normAutofit/>
          </a:bodyPr>
          <a:lstStyle/>
          <a:p>
            <a:pPr marL="0" lvl="0" indent="0" algn="l" rtl="0">
              <a:spcBef>
                <a:spcPts val="0"/>
              </a:spcBef>
              <a:spcAft>
                <a:spcPts val="0"/>
              </a:spcAft>
              <a:buNone/>
            </a:pPr>
            <a:r>
              <a:rPr lang="en" sz="1600" b="1" dirty="0">
                <a:solidFill>
                  <a:schemeClr val="accent1"/>
                </a:solidFill>
              </a:rPr>
              <a:t>MISSINGNESS</a:t>
            </a:r>
            <a:endParaRPr sz="1600" b="1" dirty="0">
              <a:solidFill>
                <a:schemeClr val="accent1"/>
              </a:solidFill>
            </a:endParaRPr>
          </a:p>
          <a:p>
            <a:pPr marL="0" lvl="0" indent="0" algn="l" rtl="0">
              <a:spcBef>
                <a:spcPts val="1000"/>
              </a:spcBef>
              <a:spcAft>
                <a:spcPts val="0"/>
              </a:spcAft>
              <a:buNone/>
            </a:pPr>
            <a:r>
              <a:rPr lang="en" dirty="0">
                <a:solidFill>
                  <a:schemeClr val="dk2"/>
                </a:solidFill>
              </a:rPr>
              <a:t>Up to</a:t>
            </a:r>
            <a:r>
              <a:rPr lang="en" b="1" dirty="0">
                <a:solidFill>
                  <a:schemeClr val="dk2"/>
                </a:solidFill>
              </a:rPr>
              <a:t> 45-50 % </a:t>
            </a:r>
            <a:r>
              <a:rPr lang="en" dirty="0">
                <a:solidFill>
                  <a:schemeClr val="dk2"/>
                </a:solidFill>
              </a:rPr>
              <a:t>in industry, occupation, health insurance</a:t>
            </a:r>
            <a:endParaRPr dirty="0">
              <a:solidFill>
                <a:schemeClr val="dk2"/>
              </a:solidFill>
            </a:endParaRPr>
          </a:p>
          <a:p>
            <a:pPr marL="0" lvl="0" indent="0" algn="l" rtl="0">
              <a:spcBef>
                <a:spcPts val="1000"/>
              </a:spcBef>
              <a:spcAft>
                <a:spcPts val="0"/>
              </a:spcAft>
              <a:buNone/>
            </a:pPr>
            <a:r>
              <a:rPr lang="en" b="1" dirty="0">
                <a:solidFill>
                  <a:schemeClr val="accent1"/>
                </a:solidFill>
              </a:rPr>
              <a:t>Imputation strategies:</a:t>
            </a:r>
            <a:endParaRPr b="1" dirty="0">
              <a:solidFill>
                <a:schemeClr val="accent1"/>
              </a:solidFill>
            </a:endParaRPr>
          </a:p>
          <a:p>
            <a:pPr lvl="0" algn="l" rtl="0">
              <a:spcBef>
                <a:spcPts val="1000"/>
              </a:spcBef>
              <a:spcAft>
                <a:spcPts val="0"/>
              </a:spcAft>
              <a:buClr>
                <a:schemeClr val="dk2"/>
              </a:buClr>
              <a:buSzPts val="1400"/>
              <a:buFont typeface="Wingdings" panose="05000000000000000000" pitchFamily="2" charset="2"/>
              <a:buChar char="Ø"/>
            </a:pPr>
            <a:r>
              <a:rPr lang="en" b="1" dirty="0">
                <a:solidFill>
                  <a:schemeClr val="accent1"/>
                </a:solidFill>
              </a:rPr>
              <a:t>Median</a:t>
            </a:r>
            <a:r>
              <a:rPr lang="en" b="1" dirty="0">
                <a:solidFill>
                  <a:schemeClr val="dk2"/>
                </a:solidFill>
              </a:rPr>
              <a:t> </a:t>
            </a:r>
            <a:r>
              <a:rPr lang="en" dirty="0">
                <a:solidFill>
                  <a:schemeClr val="dk2"/>
                </a:solidFill>
              </a:rPr>
              <a:t>imputations for behavioral and opinion variables</a:t>
            </a:r>
            <a:endParaRPr dirty="0">
              <a:solidFill>
                <a:schemeClr val="dk2"/>
              </a:solidFill>
            </a:endParaRPr>
          </a:p>
          <a:p>
            <a:pPr lvl="0" algn="l" rtl="0">
              <a:spcBef>
                <a:spcPts val="0"/>
              </a:spcBef>
              <a:spcAft>
                <a:spcPts val="0"/>
              </a:spcAft>
              <a:buClr>
                <a:schemeClr val="dk2"/>
              </a:buClr>
              <a:buSzPts val="1400"/>
              <a:buFont typeface="Wingdings" panose="05000000000000000000" pitchFamily="2" charset="2"/>
              <a:buChar char="Ø"/>
            </a:pPr>
            <a:r>
              <a:rPr lang="en" dirty="0">
                <a:solidFill>
                  <a:schemeClr val="dk2"/>
                </a:solidFill>
              </a:rPr>
              <a:t>NaN’s defined explicitly as ‘</a:t>
            </a:r>
            <a:r>
              <a:rPr lang="en" b="1" dirty="0">
                <a:solidFill>
                  <a:schemeClr val="accent1"/>
                </a:solidFill>
              </a:rPr>
              <a:t>Missing</a:t>
            </a:r>
            <a:r>
              <a:rPr lang="en" dirty="0">
                <a:solidFill>
                  <a:schemeClr val="dk2"/>
                </a:solidFill>
              </a:rPr>
              <a:t>’ for socio-economic and employment fields</a:t>
            </a:r>
            <a:endParaRPr dirty="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6"/>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SzPts val="990"/>
              <a:buNone/>
            </a:pPr>
            <a:r>
              <a:rPr lang="en" sz="2420" dirty="0">
                <a:solidFill>
                  <a:schemeClr val="dk2"/>
                </a:solidFill>
              </a:rPr>
              <a:t>Feature Engineering</a:t>
            </a:r>
            <a:endParaRPr sz="2420" dirty="0">
              <a:solidFill>
                <a:schemeClr val="dk2"/>
              </a:solidFill>
            </a:endParaRPr>
          </a:p>
        </p:txBody>
      </p:sp>
      <p:sp>
        <p:nvSpPr>
          <p:cNvPr id="185" name="Google Shape;185;p26"/>
          <p:cNvSpPr txBox="1">
            <a:spLocks noGrp="1"/>
          </p:cNvSpPr>
          <p:nvPr>
            <p:ph type="body" idx="1"/>
          </p:nvPr>
        </p:nvSpPr>
        <p:spPr>
          <a:xfrm>
            <a:off x="311700" y="1005850"/>
            <a:ext cx="2679600" cy="3657300"/>
          </a:xfrm>
          <a:prstGeom prst="rect">
            <a:avLst/>
          </a:prstGeom>
          <a:solidFill>
            <a:schemeClr val="accent6"/>
          </a:solidFill>
        </p:spPr>
        <p:txBody>
          <a:bodyPr spcFirstLastPara="1" wrap="square" lIns="91425" tIns="91425" rIns="91425" bIns="91425" anchor="t" anchorCtr="0">
            <a:normAutofit/>
          </a:bodyPr>
          <a:lstStyle/>
          <a:p>
            <a:pPr marL="0" lvl="0" indent="0" algn="ctr" rtl="0">
              <a:spcBef>
                <a:spcPts val="0"/>
              </a:spcBef>
              <a:spcAft>
                <a:spcPts val="0"/>
              </a:spcAft>
              <a:buNone/>
            </a:pPr>
            <a:r>
              <a:rPr lang="en" sz="1700" b="1" dirty="0">
                <a:solidFill>
                  <a:schemeClr val="accent1"/>
                </a:solidFill>
              </a:rPr>
              <a:t>Engineered Feature Categories:</a:t>
            </a:r>
            <a:endParaRPr sz="1700" b="1" dirty="0">
              <a:solidFill>
                <a:schemeClr val="accent1"/>
              </a:solidFill>
            </a:endParaRPr>
          </a:p>
          <a:p>
            <a:pPr marL="0" lvl="0" indent="0" algn="ctr" rtl="0">
              <a:spcBef>
                <a:spcPts val="1000"/>
              </a:spcBef>
              <a:spcAft>
                <a:spcPts val="0"/>
              </a:spcAft>
              <a:buNone/>
            </a:pPr>
            <a:endParaRPr sz="100" b="1" dirty="0">
              <a:solidFill>
                <a:schemeClr val="accent1"/>
              </a:solidFill>
            </a:endParaRPr>
          </a:p>
          <a:p>
            <a:pPr marL="457200" lvl="0" indent="-314325" algn="l" rtl="0">
              <a:lnSpc>
                <a:spcPct val="150000"/>
              </a:lnSpc>
              <a:spcBef>
                <a:spcPts val="1000"/>
              </a:spcBef>
              <a:spcAft>
                <a:spcPts val="0"/>
              </a:spcAft>
              <a:buClr>
                <a:schemeClr val="dk2"/>
              </a:buClr>
              <a:buSzPts val="1350"/>
              <a:buFont typeface="Assistant SemiBold"/>
              <a:buChar char="●"/>
            </a:pPr>
            <a:r>
              <a:rPr lang="en" sz="1350" b="1" dirty="0">
                <a:solidFill>
                  <a:schemeClr val="accent1"/>
                </a:solidFill>
              </a:rPr>
              <a:t>Preventive behavior</a:t>
            </a:r>
            <a:r>
              <a:rPr lang="en" sz="1350" dirty="0">
                <a:solidFill>
                  <a:schemeClr val="accent1"/>
                </a:solidFill>
                <a:latin typeface="Assistant SemiBold"/>
                <a:ea typeface="Assistant SemiBold"/>
                <a:cs typeface="Assistant SemiBold"/>
                <a:sym typeface="Assistant SemiBold"/>
              </a:rPr>
              <a:t> </a:t>
            </a:r>
            <a:r>
              <a:rPr lang="en" sz="1350" dirty="0">
                <a:solidFill>
                  <a:schemeClr val="dk2"/>
                </a:solidFill>
                <a:latin typeface="Assistant SemiBold"/>
                <a:ea typeface="Assistant SemiBold"/>
                <a:cs typeface="Assistant SemiBold"/>
                <a:sym typeface="Assistant SemiBold"/>
              </a:rPr>
              <a:t>patterns</a:t>
            </a:r>
            <a:endParaRPr sz="1350" dirty="0">
              <a:solidFill>
                <a:schemeClr val="dk2"/>
              </a:solidFill>
              <a:latin typeface="Assistant SemiBold"/>
              <a:ea typeface="Assistant SemiBold"/>
              <a:cs typeface="Assistant SemiBold"/>
              <a:sym typeface="Assistant SemiBold"/>
            </a:endParaRPr>
          </a:p>
          <a:p>
            <a:pPr marL="457200" lvl="0" indent="-314325" algn="l" rtl="0">
              <a:lnSpc>
                <a:spcPct val="150000"/>
              </a:lnSpc>
              <a:spcBef>
                <a:spcPts val="0"/>
              </a:spcBef>
              <a:spcAft>
                <a:spcPts val="0"/>
              </a:spcAft>
              <a:buClr>
                <a:schemeClr val="dk2"/>
              </a:buClr>
              <a:buSzPts val="1350"/>
              <a:buFont typeface="Assistant SemiBold"/>
              <a:buChar char="●"/>
            </a:pPr>
            <a:r>
              <a:rPr lang="en" sz="1350" b="1" dirty="0">
                <a:solidFill>
                  <a:schemeClr val="accent1"/>
                </a:solidFill>
              </a:rPr>
              <a:t>Risk</a:t>
            </a:r>
            <a:r>
              <a:rPr lang="en" sz="1350" b="1" dirty="0">
                <a:solidFill>
                  <a:schemeClr val="dk2"/>
                </a:solidFill>
              </a:rPr>
              <a:t> </a:t>
            </a:r>
            <a:r>
              <a:rPr lang="en" sz="1350" dirty="0">
                <a:solidFill>
                  <a:schemeClr val="dk2"/>
                </a:solidFill>
                <a:latin typeface="Assistant SemiBold"/>
                <a:ea typeface="Assistant SemiBold"/>
                <a:cs typeface="Assistant SemiBold"/>
                <a:sym typeface="Assistant SemiBold"/>
              </a:rPr>
              <a:t>&amp; </a:t>
            </a:r>
            <a:r>
              <a:rPr lang="en" sz="1350" b="1" dirty="0">
                <a:solidFill>
                  <a:schemeClr val="accent1"/>
                </a:solidFill>
              </a:rPr>
              <a:t>belief</a:t>
            </a:r>
            <a:r>
              <a:rPr lang="en" sz="1350" b="1" dirty="0">
                <a:solidFill>
                  <a:schemeClr val="dk2"/>
                </a:solidFill>
              </a:rPr>
              <a:t> </a:t>
            </a:r>
            <a:r>
              <a:rPr lang="en" sz="1350" dirty="0">
                <a:solidFill>
                  <a:schemeClr val="dk2"/>
                </a:solidFill>
                <a:latin typeface="Assistant SemiBold"/>
                <a:ea typeface="Assistant SemiBold"/>
                <a:cs typeface="Assistant SemiBold"/>
                <a:sym typeface="Assistant SemiBold"/>
              </a:rPr>
              <a:t>consolidation</a:t>
            </a:r>
            <a:endParaRPr sz="1350" dirty="0">
              <a:solidFill>
                <a:schemeClr val="dk2"/>
              </a:solidFill>
              <a:latin typeface="Assistant SemiBold"/>
              <a:ea typeface="Assistant SemiBold"/>
              <a:cs typeface="Assistant SemiBold"/>
              <a:sym typeface="Assistant SemiBold"/>
            </a:endParaRPr>
          </a:p>
          <a:p>
            <a:pPr marL="457200" lvl="0" indent="-314325" algn="l" rtl="0">
              <a:lnSpc>
                <a:spcPct val="150000"/>
              </a:lnSpc>
              <a:spcBef>
                <a:spcPts val="0"/>
              </a:spcBef>
              <a:spcAft>
                <a:spcPts val="0"/>
              </a:spcAft>
              <a:buClr>
                <a:schemeClr val="dk2"/>
              </a:buClr>
              <a:buSzPts val="1350"/>
              <a:buFont typeface="Assistant SemiBold"/>
              <a:buChar char="●"/>
            </a:pPr>
            <a:r>
              <a:rPr lang="en" sz="1350" b="1" dirty="0">
                <a:solidFill>
                  <a:schemeClr val="accent1"/>
                </a:solidFill>
              </a:rPr>
              <a:t>Health vulnerability</a:t>
            </a:r>
            <a:r>
              <a:rPr lang="en" sz="1350" dirty="0">
                <a:solidFill>
                  <a:schemeClr val="accent1"/>
                </a:solidFill>
                <a:latin typeface="Assistant SemiBold"/>
                <a:ea typeface="Assistant SemiBold"/>
                <a:cs typeface="Assistant SemiBold"/>
                <a:sym typeface="Assistant SemiBold"/>
              </a:rPr>
              <a:t> </a:t>
            </a:r>
            <a:r>
              <a:rPr lang="en" sz="1350" dirty="0">
                <a:solidFill>
                  <a:schemeClr val="dk2"/>
                </a:solidFill>
                <a:latin typeface="Assistant SemiBold"/>
                <a:ea typeface="Assistant SemiBold"/>
                <a:cs typeface="Assistant SemiBold"/>
                <a:sym typeface="Assistant SemiBold"/>
              </a:rPr>
              <a:t>indicators</a:t>
            </a:r>
            <a:endParaRPr sz="1350" dirty="0">
              <a:solidFill>
                <a:schemeClr val="dk2"/>
              </a:solidFill>
              <a:latin typeface="Assistant SemiBold"/>
              <a:ea typeface="Assistant SemiBold"/>
              <a:cs typeface="Assistant SemiBold"/>
              <a:sym typeface="Assistant SemiBold"/>
            </a:endParaRPr>
          </a:p>
          <a:p>
            <a:pPr marL="457200" lvl="0" indent="-314325" algn="l" rtl="0">
              <a:lnSpc>
                <a:spcPct val="150000"/>
              </a:lnSpc>
              <a:spcBef>
                <a:spcPts val="0"/>
              </a:spcBef>
              <a:spcAft>
                <a:spcPts val="0"/>
              </a:spcAft>
              <a:buClr>
                <a:schemeClr val="dk2"/>
              </a:buClr>
              <a:buSzPts val="1350"/>
              <a:buFont typeface="Assistant SemiBold"/>
              <a:buChar char="●"/>
            </a:pPr>
            <a:r>
              <a:rPr lang="en" sz="1350" b="1" dirty="0">
                <a:solidFill>
                  <a:schemeClr val="accent1"/>
                </a:solidFill>
              </a:rPr>
              <a:t>Doctor influence</a:t>
            </a:r>
            <a:r>
              <a:rPr lang="en" sz="1350" dirty="0">
                <a:solidFill>
                  <a:schemeClr val="accent1"/>
                </a:solidFill>
                <a:latin typeface="Assistant SemiBold"/>
                <a:ea typeface="Assistant SemiBold"/>
                <a:cs typeface="Assistant SemiBold"/>
                <a:sym typeface="Assistant SemiBold"/>
              </a:rPr>
              <a:t> </a:t>
            </a:r>
            <a:r>
              <a:rPr lang="en" sz="1350" dirty="0">
                <a:solidFill>
                  <a:schemeClr val="dk2"/>
                </a:solidFill>
                <a:latin typeface="Assistant SemiBold"/>
                <a:ea typeface="Assistant SemiBold"/>
                <a:cs typeface="Assistant SemiBold"/>
                <a:sym typeface="Assistant SemiBold"/>
              </a:rPr>
              <a:t>signals</a:t>
            </a:r>
            <a:endParaRPr sz="1350" dirty="0">
              <a:solidFill>
                <a:schemeClr val="dk2"/>
              </a:solidFill>
              <a:latin typeface="Assistant SemiBold"/>
              <a:ea typeface="Assistant SemiBold"/>
              <a:cs typeface="Assistant SemiBold"/>
              <a:sym typeface="Assistant SemiBold"/>
            </a:endParaRPr>
          </a:p>
          <a:p>
            <a:pPr marL="457200" lvl="0" indent="-314325" algn="l" rtl="0">
              <a:lnSpc>
                <a:spcPct val="150000"/>
              </a:lnSpc>
              <a:spcBef>
                <a:spcPts val="0"/>
              </a:spcBef>
              <a:spcAft>
                <a:spcPts val="0"/>
              </a:spcAft>
              <a:buClr>
                <a:schemeClr val="dk2"/>
              </a:buClr>
              <a:buSzPts val="1350"/>
              <a:buFont typeface="Assistant SemiBold"/>
              <a:buChar char="●"/>
            </a:pPr>
            <a:r>
              <a:rPr lang="en" sz="1350" b="1" dirty="0">
                <a:solidFill>
                  <a:schemeClr val="accent1"/>
                </a:solidFill>
              </a:rPr>
              <a:t>Interaction</a:t>
            </a:r>
            <a:r>
              <a:rPr lang="en" sz="1350" b="1" dirty="0">
                <a:solidFill>
                  <a:schemeClr val="dk2"/>
                </a:solidFill>
              </a:rPr>
              <a:t> </a:t>
            </a:r>
            <a:r>
              <a:rPr lang="en" sz="1350" dirty="0">
                <a:solidFill>
                  <a:schemeClr val="dk2"/>
                </a:solidFill>
                <a:latin typeface="Assistant SemiBold"/>
                <a:ea typeface="Assistant SemiBold"/>
                <a:cs typeface="Assistant SemiBold"/>
                <a:sym typeface="Assistant SemiBold"/>
              </a:rPr>
              <a:t>features</a:t>
            </a:r>
            <a:endParaRPr sz="1350" dirty="0">
              <a:solidFill>
                <a:schemeClr val="dk2"/>
              </a:solidFill>
              <a:latin typeface="Assistant SemiBold"/>
              <a:ea typeface="Assistant SemiBold"/>
              <a:cs typeface="Assistant SemiBold"/>
              <a:sym typeface="Assistant SemiBold"/>
            </a:endParaRPr>
          </a:p>
        </p:txBody>
      </p:sp>
      <p:sp>
        <p:nvSpPr>
          <p:cNvPr id="186" name="Google Shape;186;p2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6</a:t>
            </a:fld>
            <a:endParaRPr/>
          </a:p>
        </p:txBody>
      </p:sp>
      <p:sp>
        <p:nvSpPr>
          <p:cNvPr id="187" name="Google Shape;187;p26"/>
          <p:cNvSpPr txBox="1">
            <a:spLocks noGrp="1"/>
          </p:cNvSpPr>
          <p:nvPr>
            <p:ph type="body" idx="2"/>
          </p:nvPr>
        </p:nvSpPr>
        <p:spPr>
          <a:xfrm>
            <a:off x="6152700" y="1005850"/>
            <a:ext cx="2679600" cy="3657300"/>
          </a:xfrm>
          <a:prstGeom prst="rect">
            <a:avLst/>
          </a:prstGeom>
          <a:solidFill>
            <a:schemeClr val="accent6"/>
          </a:solidFill>
        </p:spPr>
        <p:txBody>
          <a:bodyPr spcFirstLastPara="1" wrap="square" lIns="91425" tIns="91425" rIns="91425" bIns="91425" anchor="t" anchorCtr="0">
            <a:normAutofit/>
          </a:bodyPr>
          <a:lstStyle/>
          <a:p>
            <a:pPr marL="0" lvl="0" indent="0" algn="ctr" rtl="0">
              <a:spcBef>
                <a:spcPts val="0"/>
              </a:spcBef>
              <a:spcAft>
                <a:spcPts val="0"/>
              </a:spcAft>
              <a:buNone/>
            </a:pPr>
            <a:r>
              <a:rPr lang="en" sz="1700" b="1" dirty="0">
                <a:solidFill>
                  <a:schemeClr val="accent1"/>
                </a:solidFill>
              </a:rPr>
              <a:t>Why This Feature Exists</a:t>
            </a:r>
            <a:endParaRPr sz="1700" b="1" dirty="0">
              <a:solidFill>
                <a:schemeClr val="accent1"/>
              </a:solidFill>
            </a:endParaRPr>
          </a:p>
          <a:p>
            <a:pPr marL="0" lvl="0" indent="0" algn="ctr" rtl="0">
              <a:spcBef>
                <a:spcPts val="1000"/>
              </a:spcBef>
              <a:spcAft>
                <a:spcPts val="0"/>
              </a:spcAft>
              <a:buNone/>
            </a:pPr>
            <a:endParaRPr sz="1600" b="1" dirty="0">
              <a:solidFill>
                <a:schemeClr val="dk2"/>
              </a:solidFill>
            </a:endParaRPr>
          </a:p>
          <a:p>
            <a:pPr marL="342900" lvl="0" indent="0" algn="l" rtl="0">
              <a:spcBef>
                <a:spcPts val="1200"/>
              </a:spcBef>
              <a:spcAft>
                <a:spcPts val="0"/>
              </a:spcAft>
              <a:buNone/>
            </a:pPr>
            <a:r>
              <a:rPr lang="en" sz="1350" dirty="0">
                <a:solidFill>
                  <a:schemeClr val="dk2"/>
                </a:solidFill>
                <a:latin typeface="Assistant SemiBold"/>
                <a:ea typeface="Assistant SemiBold"/>
                <a:cs typeface="Assistant SemiBold"/>
                <a:sym typeface="Assistant SemiBold"/>
              </a:rPr>
              <a:t>Mirrors how people weigh </a:t>
            </a:r>
            <a:r>
              <a:rPr lang="en" sz="1350" b="1" dirty="0">
                <a:solidFill>
                  <a:schemeClr val="accent1"/>
                </a:solidFill>
              </a:rPr>
              <a:t>pros</a:t>
            </a:r>
            <a:r>
              <a:rPr lang="en" sz="1350" b="1" dirty="0">
                <a:solidFill>
                  <a:schemeClr val="dk2"/>
                </a:solidFill>
              </a:rPr>
              <a:t> </a:t>
            </a:r>
            <a:r>
              <a:rPr lang="en" sz="1350" dirty="0">
                <a:solidFill>
                  <a:schemeClr val="dk2"/>
                </a:solidFill>
                <a:latin typeface="Assistant SemiBold"/>
                <a:ea typeface="Assistant SemiBold"/>
                <a:cs typeface="Assistant SemiBold"/>
                <a:sym typeface="Assistant SemiBold"/>
              </a:rPr>
              <a:t>vs. </a:t>
            </a:r>
            <a:r>
              <a:rPr lang="en" sz="1350" b="1" dirty="0">
                <a:solidFill>
                  <a:schemeClr val="accent1"/>
                </a:solidFill>
              </a:rPr>
              <a:t>cons</a:t>
            </a:r>
            <a:br>
              <a:rPr lang="en" sz="1350" dirty="0">
                <a:solidFill>
                  <a:schemeClr val="dk2"/>
                </a:solidFill>
                <a:latin typeface="Assistant SemiBold"/>
                <a:ea typeface="Assistant SemiBold"/>
                <a:cs typeface="Assistant SemiBold"/>
                <a:sym typeface="Assistant SemiBold"/>
              </a:rPr>
            </a:br>
            <a:endParaRPr sz="1350" dirty="0">
              <a:solidFill>
                <a:schemeClr val="dk2"/>
              </a:solidFill>
              <a:latin typeface="Assistant SemiBold"/>
              <a:ea typeface="Assistant SemiBold"/>
              <a:cs typeface="Assistant SemiBold"/>
              <a:sym typeface="Assistant SemiBold"/>
            </a:endParaRPr>
          </a:p>
          <a:p>
            <a:pPr marL="342900" lvl="0" indent="0" algn="l" rtl="0">
              <a:spcBef>
                <a:spcPts val="1200"/>
              </a:spcBef>
              <a:spcAft>
                <a:spcPts val="0"/>
              </a:spcAft>
              <a:buNone/>
            </a:pPr>
            <a:r>
              <a:rPr lang="en" sz="1350" dirty="0">
                <a:solidFill>
                  <a:schemeClr val="dk2"/>
                </a:solidFill>
                <a:latin typeface="Assistant SemiBold"/>
                <a:ea typeface="Assistant SemiBold"/>
                <a:cs typeface="Assistant SemiBold"/>
                <a:sym typeface="Assistant SemiBold"/>
              </a:rPr>
              <a:t>Combines multiple opinions into </a:t>
            </a:r>
            <a:r>
              <a:rPr lang="en" sz="1350" b="1" dirty="0">
                <a:solidFill>
                  <a:schemeClr val="accent1"/>
                </a:solidFill>
              </a:rPr>
              <a:t>one signal</a:t>
            </a:r>
            <a:br>
              <a:rPr lang="en" sz="1350" dirty="0">
                <a:solidFill>
                  <a:schemeClr val="dk2"/>
                </a:solidFill>
                <a:latin typeface="Assistant SemiBold"/>
                <a:ea typeface="Assistant SemiBold"/>
                <a:cs typeface="Assistant SemiBold"/>
                <a:sym typeface="Assistant SemiBold"/>
              </a:rPr>
            </a:br>
            <a:endParaRPr sz="1350" dirty="0">
              <a:solidFill>
                <a:schemeClr val="dk2"/>
              </a:solidFill>
              <a:latin typeface="Assistant SemiBold"/>
              <a:ea typeface="Assistant SemiBold"/>
              <a:cs typeface="Assistant SemiBold"/>
              <a:sym typeface="Assistant SemiBold"/>
            </a:endParaRPr>
          </a:p>
          <a:p>
            <a:pPr marL="342900" lvl="0" indent="0" algn="l" rtl="0">
              <a:spcBef>
                <a:spcPts val="1200"/>
              </a:spcBef>
              <a:spcAft>
                <a:spcPts val="1200"/>
              </a:spcAft>
              <a:buNone/>
            </a:pPr>
            <a:r>
              <a:rPr lang="en" sz="1350" dirty="0">
                <a:solidFill>
                  <a:schemeClr val="dk2"/>
                </a:solidFill>
                <a:latin typeface="Assistant SemiBold"/>
                <a:ea typeface="Assistant SemiBold"/>
                <a:cs typeface="Assistant SemiBold"/>
                <a:sym typeface="Assistant SemiBold"/>
              </a:rPr>
              <a:t>Represents a </a:t>
            </a:r>
            <a:r>
              <a:rPr lang="en" sz="1350" b="1" dirty="0">
                <a:solidFill>
                  <a:schemeClr val="accent1"/>
                </a:solidFill>
              </a:rPr>
              <a:t>mental decision balance</a:t>
            </a:r>
            <a:r>
              <a:rPr lang="en" sz="1350" dirty="0">
                <a:solidFill>
                  <a:schemeClr val="dk2"/>
                </a:solidFill>
                <a:latin typeface="Assistant SemiBold"/>
                <a:ea typeface="Assistant SemiBold"/>
                <a:cs typeface="Assistant SemiBold"/>
                <a:sym typeface="Assistant SemiBold"/>
              </a:rPr>
              <a:t>, not a statistic</a:t>
            </a:r>
            <a:endParaRPr sz="1350" dirty="0">
              <a:solidFill>
                <a:schemeClr val="dk2"/>
              </a:solidFill>
              <a:latin typeface="Assistant SemiBold"/>
              <a:ea typeface="Assistant SemiBold"/>
              <a:cs typeface="Assistant SemiBold"/>
              <a:sym typeface="Assistant SemiBold"/>
            </a:endParaRPr>
          </a:p>
        </p:txBody>
      </p:sp>
      <p:sp>
        <p:nvSpPr>
          <p:cNvPr id="188" name="Google Shape;188;p26"/>
          <p:cNvSpPr txBox="1">
            <a:spLocks noGrp="1"/>
          </p:cNvSpPr>
          <p:nvPr>
            <p:ph type="body" idx="3"/>
          </p:nvPr>
        </p:nvSpPr>
        <p:spPr>
          <a:xfrm>
            <a:off x="3232200" y="1005850"/>
            <a:ext cx="2679600" cy="3657300"/>
          </a:xfrm>
          <a:prstGeom prst="rect">
            <a:avLst/>
          </a:prstGeom>
          <a:solidFill>
            <a:schemeClr val="accent3"/>
          </a:solidFill>
        </p:spPr>
        <p:txBody>
          <a:bodyPr spcFirstLastPara="1" wrap="square" lIns="91425" tIns="91425" rIns="91425" bIns="91425" anchor="t" anchorCtr="0">
            <a:normAutofit fontScale="92500" lnSpcReduction="10000"/>
          </a:bodyPr>
          <a:lstStyle/>
          <a:p>
            <a:pPr marL="0" lvl="0" indent="0" algn="ctr" rtl="0">
              <a:spcBef>
                <a:spcPts val="0"/>
              </a:spcBef>
              <a:spcAft>
                <a:spcPts val="0"/>
              </a:spcAft>
              <a:buNone/>
            </a:pPr>
            <a:r>
              <a:rPr lang="en" sz="1700" b="1" dirty="0">
                <a:solidFill>
                  <a:schemeClr val="accent4"/>
                </a:solidFill>
              </a:rPr>
              <a:t>EXAMPLE:</a:t>
            </a:r>
            <a:endParaRPr sz="1700" b="1" dirty="0">
              <a:solidFill>
                <a:schemeClr val="accent4"/>
              </a:solidFill>
            </a:endParaRPr>
          </a:p>
          <a:p>
            <a:pPr marL="0" lvl="0" indent="0" algn="ctr" rtl="0">
              <a:spcBef>
                <a:spcPts val="1000"/>
              </a:spcBef>
              <a:spcAft>
                <a:spcPts val="0"/>
              </a:spcAft>
              <a:buNone/>
            </a:pPr>
            <a:endParaRPr sz="2772" b="1" dirty="0"/>
          </a:p>
          <a:p>
            <a:pPr marL="0" lvl="0" indent="0" algn="ctr" rtl="0">
              <a:lnSpc>
                <a:spcPct val="100000"/>
              </a:lnSpc>
              <a:spcBef>
                <a:spcPts val="1000"/>
              </a:spcBef>
              <a:spcAft>
                <a:spcPts val="0"/>
              </a:spcAft>
              <a:buClr>
                <a:schemeClr val="dk1"/>
              </a:buClr>
              <a:buSzPct val="73333"/>
              <a:buFont typeface="Arial"/>
              <a:buNone/>
            </a:pPr>
            <a:r>
              <a:rPr lang="en" sz="1500" dirty="0">
                <a:solidFill>
                  <a:schemeClr val="accent4"/>
                </a:solidFill>
                <a:latin typeface="Assistant SemiBold"/>
                <a:ea typeface="Assistant SemiBold"/>
                <a:cs typeface="Assistant SemiBold"/>
                <a:sym typeface="Assistant SemiBold"/>
              </a:rPr>
              <a:t>Belief</a:t>
            </a:r>
            <a:r>
              <a:rPr lang="en" sz="1500" dirty="0">
                <a:solidFill>
                  <a:schemeClr val="dk2"/>
                </a:solidFill>
                <a:latin typeface="Assistant SemiBold"/>
                <a:ea typeface="Assistant SemiBold"/>
                <a:cs typeface="Assistant SemiBold"/>
                <a:sym typeface="Assistant SemiBold"/>
              </a:rPr>
              <a:t> in Vaccine Effectiveness</a:t>
            </a:r>
            <a:endParaRPr sz="1500" dirty="0">
              <a:solidFill>
                <a:schemeClr val="dk2"/>
              </a:solidFill>
              <a:latin typeface="Assistant SemiBold"/>
              <a:ea typeface="Assistant SemiBold"/>
              <a:cs typeface="Assistant SemiBold"/>
              <a:sym typeface="Assistant SemiBold"/>
            </a:endParaRPr>
          </a:p>
          <a:p>
            <a:pPr marL="0" lvl="0" indent="0" algn="ctr" rtl="0">
              <a:lnSpc>
                <a:spcPct val="100000"/>
              </a:lnSpc>
              <a:spcBef>
                <a:spcPts val="1000"/>
              </a:spcBef>
              <a:spcAft>
                <a:spcPts val="0"/>
              </a:spcAft>
              <a:buClr>
                <a:schemeClr val="dk1"/>
              </a:buClr>
              <a:buSzPct val="68403"/>
              <a:buFont typeface="Arial"/>
              <a:buNone/>
            </a:pPr>
            <a:r>
              <a:rPr lang="en" sz="1608" b="1" dirty="0">
                <a:solidFill>
                  <a:schemeClr val="accent4"/>
                </a:solidFill>
              </a:rPr>
              <a:t>+</a:t>
            </a:r>
            <a:endParaRPr sz="1608" b="1" dirty="0">
              <a:solidFill>
                <a:schemeClr val="accent4"/>
              </a:solidFill>
            </a:endParaRPr>
          </a:p>
          <a:p>
            <a:pPr marL="0" lvl="0" indent="0" algn="ctr" rtl="0">
              <a:lnSpc>
                <a:spcPct val="100000"/>
              </a:lnSpc>
              <a:spcBef>
                <a:spcPts val="1000"/>
              </a:spcBef>
              <a:spcAft>
                <a:spcPts val="0"/>
              </a:spcAft>
              <a:buClr>
                <a:schemeClr val="dk1"/>
              </a:buClr>
              <a:buSzPct val="73333"/>
              <a:buFont typeface="Arial"/>
              <a:buNone/>
            </a:pPr>
            <a:r>
              <a:rPr lang="en" sz="1500" dirty="0">
                <a:solidFill>
                  <a:schemeClr val="bg2"/>
                </a:solidFill>
                <a:latin typeface="Assistant SemiBold"/>
                <a:ea typeface="Assistant SemiBold"/>
                <a:cs typeface="Assistant SemiBold"/>
                <a:sym typeface="Assistant SemiBold"/>
              </a:rPr>
              <a:t>Perceived</a:t>
            </a:r>
            <a:r>
              <a:rPr lang="en" sz="1500" dirty="0">
                <a:solidFill>
                  <a:schemeClr val="accent4"/>
                </a:solidFill>
                <a:latin typeface="Assistant SemiBold"/>
                <a:ea typeface="Assistant SemiBold"/>
                <a:cs typeface="Assistant SemiBold"/>
                <a:sym typeface="Assistant SemiBold"/>
              </a:rPr>
              <a:t> Risk </a:t>
            </a:r>
            <a:r>
              <a:rPr lang="en" sz="1500" dirty="0">
                <a:solidFill>
                  <a:schemeClr val="dk2"/>
                </a:solidFill>
                <a:latin typeface="Assistant SemiBold"/>
                <a:ea typeface="Assistant SemiBold"/>
                <a:cs typeface="Assistant SemiBold"/>
                <a:sym typeface="Assistant SemiBold"/>
              </a:rPr>
              <a:t>of Flu Without Vaccine</a:t>
            </a:r>
            <a:endParaRPr sz="1500" dirty="0">
              <a:solidFill>
                <a:schemeClr val="dk2"/>
              </a:solidFill>
              <a:latin typeface="Assistant SemiBold"/>
              <a:ea typeface="Assistant SemiBold"/>
              <a:cs typeface="Assistant SemiBold"/>
              <a:sym typeface="Assistant SemiBold"/>
            </a:endParaRPr>
          </a:p>
          <a:p>
            <a:pPr marL="0" lvl="0" indent="0" algn="ctr" rtl="0">
              <a:lnSpc>
                <a:spcPct val="100000"/>
              </a:lnSpc>
              <a:spcBef>
                <a:spcPts val="1000"/>
              </a:spcBef>
              <a:spcAft>
                <a:spcPts val="0"/>
              </a:spcAft>
              <a:buClr>
                <a:schemeClr val="dk1"/>
              </a:buClr>
              <a:buSzPct val="68403"/>
              <a:buFont typeface="Arial"/>
              <a:buNone/>
            </a:pPr>
            <a:r>
              <a:rPr lang="en" sz="1608" b="1" dirty="0">
                <a:solidFill>
                  <a:schemeClr val="accent4"/>
                </a:solidFill>
              </a:rPr>
              <a:t>–</a:t>
            </a:r>
            <a:endParaRPr sz="1608" b="1" dirty="0">
              <a:solidFill>
                <a:schemeClr val="accent4"/>
              </a:solidFill>
            </a:endParaRPr>
          </a:p>
          <a:p>
            <a:pPr marL="0" lvl="0" indent="0" algn="ctr" rtl="0">
              <a:lnSpc>
                <a:spcPct val="100000"/>
              </a:lnSpc>
              <a:spcBef>
                <a:spcPts val="1000"/>
              </a:spcBef>
              <a:spcAft>
                <a:spcPts val="0"/>
              </a:spcAft>
              <a:buClr>
                <a:schemeClr val="dk1"/>
              </a:buClr>
              <a:buSzPct val="73333"/>
              <a:buFont typeface="Arial"/>
              <a:buNone/>
            </a:pPr>
            <a:r>
              <a:rPr lang="en" sz="1500" dirty="0">
                <a:solidFill>
                  <a:schemeClr val="accent4"/>
                </a:solidFill>
                <a:latin typeface="Assistant SemiBold"/>
                <a:ea typeface="Assistant SemiBold"/>
                <a:cs typeface="Assistant SemiBold"/>
                <a:sym typeface="Assistant SemiBold"/>
              </a:rPr>
              <a:t>Fear</a:t>
            </a:r>
            <a:r>
              <a:rPr lang="en" sz="1500" dirty="0">
                <a:solidFill>
                  <a:schemeClr val="dk2"/>
                </a:solidFill>
                <a:latin typeface="Assistant SemiBold"/>
                <a:ea typeface="Assistant SemiBold"/>
                <a:cs typeface="Assistant SemiBold"/>
                <a:sym typeface="Assistant SemiBold"/>
              </a:rPr>
              <a:t> of Getting Sick from Vaccine</a:t>
            </a:r>
            <a:endParaRPr sz="1500" dirty="0">
              <a:solidFill>
                <a:schemeClr val="dk2"/>
              </a:solidFill>
              <a:latin typeface="Assistant SemiBold"/>
              <a:ea typeface="Assistant SemiBold"/>
              <a:cs typeface="Assistant SemiBold"/>
              <a:sym typeface="Assistant SemiBold"/>
            </a:endParaRPr>
          </a:p>
          <a:p>
            <a:pPr marL="0" lvl="0" indent="0" algn="ctr" rtl="0">
              <a:lnSpc>
                <a:spcPct val="100000"/>
              </a:lnSpc>
              <a:spcBef>
                <a:spcPts val="1000"/>
              </a:spcBef>
              <a:spcAft>
                <a:spcPts val="0"/>
              </a:spcAft>
              <a:buClr>
                <a:schemeClr val="dk1"/>
              </a:buClr>
              <a:buSzPct val="68403"/>
              <a:buFont typeface="Arial"/>
              <a:buNone/>
            </a:pPr>
            <a:r>
              <a:rPr lang="en" sz="1608" b="1" dirty="0">
                <a:solidFill>
                  <a:schemeClr val="accent4"/>
                </a:solidFill>
              </a:rPr>
              <a:t>=</a:t>
            </a:r>
            <a:endParaRPr sz="1608" b="1" dirty="0">
              <a:solidFill>
                <a:schemeClr val="accent4"/>
              </a:solidFill>
            </a:endParaRPr>
          </a:p>
          <a:p>
            <a:pPr marL="0" lvl="0" indent="0" algn="ctr" rtl="0">
              <a:lnSpc>
                <a:spcPct val="100000"/>
              </a:lnSpc>
              <a:spcBef>
                <a:spcPts val="1000"/>
              </a:spcBef>
              <a:spcAft>
                <a:spcPts val="0"/>
              </a:spcAft>
              <a:buClr>
                <a:schemeClr val="dk1"/>
              </a:buClr>
              <a:buSzPct val="68403"/>
              <a:buFont typeface="Arial"/>
              <a:buNone/>
            </a:pPr>
            <a:r>
              <a:rPr lang="en" sz="1608" b="1" dirty="0">
                <a:solidFill>
                  <a:schemeClr val="accent4"/>
                </a:solidFill>
              </a:rPr>
              <a:t>Pro-Vaccine Attitude Score</a:t>
            </a:r>
            <a:endParaRPr sz="1608" b="1" dirty="0">
              <a:solidFill>
                <a:schemeClr val="accent4"/>
              </a:solidFill>
            </a:endParaRPr>
          </a:p>
          <a:p>
            <a:pPr marL="0" lvl="0" indent="0" algn="l" rtl="0">
              <a:spcBef>
                <a:spcPts val="1000"/>
              </a:spcBef>
              <a:spcAft>
                <a:spcPts val="1000"/>
              </a:spcAft>
              <a:buNone/>
            </a:pPr>
            <a:endParaRPr dirty="0"/>
          </a:p>
        </p:txBody>
      </p:sp>
      <p:pic>
        <p:nvPicPr>
          <p:cNvPr id="189" name="Google Shape;189;p26"/>
          <p:cNvPicPr preferRelativeResize="0"/>
          <p:nvPr/>
        </p:nvPicPr>
        <p:blipFill>
          <a:blip r:embed="rId3">
            <a:alphaModFix/>
          </a:blip>
          <a:stretch>
            <a:fillRect/>
          </a:stretch>
        </p:blipFill>
        <p:spPr>
          <a:xfrm>
            <a:off x="6226572" y="1970225"/>
            <a:ext cx="272571" cy="274320"/>
          </a:xfrm>
          <a:prstGeom prst="rect">
            <a:avLst/>
          </a:prstGeom>
          <a:noFill/>
          <a:ln>
            <a:noFill/>
          </a:ln>
        </p:spPr>
      </p:pic>
      <p:pic>
        <p:nvPicPr>
          <p:cNvPr id="190" name="Google Shape;190;p26"/>
          <p:cNvPicPr preferRelativeResize="0"/>
          <p:nvPr/>
        </p:nvPicPr>
        <p:blipFill>
          <a:blip r:embed="rId3">
            <a:alphaModFix/>
          </a:blip>
          <a:stretch>
            <a:fillRect/>
          </a:stretch>
        </p:blipFill>
        <p:spPr>
          <a:xfrm>
            <a:off x="6226572" y="2824250"/>
            <a:ext cx="272571" cy="274320"/>
          </a:xfrm>
          <a:prstGeom prst="rect">
            <a:avLst/>
          </a:prstGeom>
          <a:noFill/>
          <a:ln>
            <a:noFill/>
          </a:ln>
        </p:spPr>
      </p:pic>
      <p:pic>
        <p:nvPicPr>
          <p:cNvPr id="191" name="Google Shape;191;p26"/>
          <p:cNvPicPr preferRelativeResize="0"/>
          <p:nvPr/>
        </p:nvPicPr>
        <p:blipFill>
          <a:blip r:embed="rId3">
            <a:alphaModFix/>
          </a:blip>
          <a:stretch>
            <a:fillRect/>
          </a:stretch>
        </p:blipFill>
        <p:spPr>
          <a:xfrm>
            <a:off x="6226572" y="3711150"/>
            <a:ext cx="272571" cy="274320"/>
          </a:xfrm>
          <a:prstGeom prst="rect">
            <a:avLst/>
          </a:prstGeom>
          <a:noFill/>
          <a:ln>
            <a:noFill/>
          </a:ln>
        </p:spPr>
      </p:pic>
      <p:pic>
        <p:nvPicPr>
          <p:cNvPr id="192" name="Google Shape;192;p26"/>
          <p:cNvPicPr preferRelativeResize="0"/>
          <p:nvPr/>
        </p:nvPicPr>
        <p:blipFill>
          <a:blip r:embed="rId4">
            <a:alphaModFix/>
          </a:blip>
          <a:stretch>
            <a:fillRect/>
          </a:stretch>
        </p:blipFill>
        <p:spPr>
          <a:xfrm>
            <a:off x="7224826" y="1338057"/>
            <a:ext cx="535333" cy="423474"/>
          </a:xfrm>
          <a:prstGeom prst="rect">
            <a:avLst/>
          </a:prstGeom>
          <a:noFill/>
          <a:ln>
            <a:noFill/>
          </a:ln>
        </p:spPr>
      </p:pic>
      <p:pic>
        <p:nvPicPr>
          <p:cNvPr id="193" name="Google Shape;193;p26"/>
          <p:cNvPicPr preferRelativeResize="0"/>
          <p:nvPr/>
        </p:nvPicPr>
        <p:blipFill>
          <a:blip r:embed="rId5">
            <a:alphaModFix/>
          </a:blip>
          <a:stretch>
            <a:fillRect/>
          </a:stretch>
        </p:blipFill>
        <p:spPr>
          <a:xfrm>
            <a:off x="4360257" y="1377901"/>
            <a:ext cx="423473" cy="4234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7"/>
          <p:cNvSpPr txBox="1">
            <a:spLocks noGrp="1"/>
          </p:cNvSpPr>
          <p:nvPr>
            <p:ph type="title"/>
          </p:nvPr>
        </p:nvSpPr>
        <p:spPr>
          <a:xfrm>
            <a:off x="311700" y="342900"/>
            <a:ext cx="2808000" cy="624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dk2"/>
                </a:solidFill>
              </a:rPr>
              <a:t>Model Selection</a:t>
            </a:r>
            <a:endParaRPr dirty="0">
              <a:solidFill>
                <a:schemeClr val="dk2"/>
              </a:solidFill>
            </a:endParaRPr>
          </a:p>
        </p:txBody>
      </p:sp>
      <p:sp>
        <p:nvSpPr>
          <p:cNvPr id="199" name="Google Shape;199;p27"/>
          <p:cNvSpPr txBox="1">
            <a:spLocks noGrp="1"/>
          </p:cNvSpPr>
          <p:nvPr>
            <p:ph type="body" idx="1"/>
          </p:nvPr>
        </p:nvSpPr>
        <p:spPr>
          <a:xfrm>
            <a:off x="311700" y="1030175"/>
            <a:ext cx="2740800" cy="1111500"/>
          </a:xfrm>
          <a:prstGeom prst="rect">
            <a:avLst/>
          </a:prstGeom>
          <a:solidFill>
            <a:schemeClr val="accent3"/>
          </a:solidFill>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sz="1400" b="1" dirty="0">
                <a:solidFill>
                  <a:schemeClr val="accent5"/>
                </a:solidFill>
              </a:rPr>
              <a:t>Challenge:</a:t>
            </a:r>
            <a:endParaRPr sz="1529" b="1" dirty="0">
              <a:solidFill>
                <a:schemeClr val="accent5"/>
              </a:solidFill>
            </a:endParaRPr>
          </a:p>
          <a:p>
            <a:pPr marL="0" lvl="0" indent="0" algn="l" rtl="0">
              <a:spcBef>
                <a:spcPts val="1000"/>
              </a:spcBef>
              <a:spcAft>
                <a:spcPts val="0"/>
              </a:spcAft>
              <a:buNone/>
            </a:pPr>
            <a:r>
              <a:rPr lang="en" sz="1100" b="1" dirty="0">
                <a:solidFill>
                  <a:schemeClr val="dk2"/>
                </a:solidFill>
              </a:rPr>
              <a:t>Seasonal Flu</a:t>
            </a:r>
            <a:r>
              <a:rPr lang="en" sz="1100" dirty="0">
                <a:solidFill>
                  <a:schemeClr val="dk2"/>
                </a:solidFill>
              </a:rPr>
              <a:t> dataset: </a:t>
            </a:r>
            <a:r>
              <a:rPr lang="en" sz="1100" b="1" dirty="0">
                <a:solidFill>
                  <a:schemeClr val="dk2"/>
                </a:solidFill>
              </a:rPr>
              <a:t>balanced </a:t>
            </a:r>
            <a:r>
              <a:rPr lang="en" sz="1100" dirty="0">
                <a:solidFill>
                  <a:schemeClr val="dk2"/>
                </a:solidFill>
              </a:rPr>
              <a:t>(53% No/ 47% Yes)</a:t>
            </a:r>
            <a:endParaRPr sz="1100" dirty="0">
              <a:solidFill>
                <a:schemeClr val="dk2"/>
              </a:solidFill>
            </a:endParaRPr>
          </a:p>
          <a:p>
            <a:pPr marL="0" lvl="0" indent="0" algn="l" rtl="0">
              <a:spcBef>
                <a:spcPts val="600"/>
              </a:spcBef>
              <a:spcAft>
                <a:spcPts val="600"/>
              </a:spcAft>
              <a:buNone/>
            </a:pPr>
            <a:r>
              <a:rPr lang="en" sz="1100" b="1" dirty="0">
                <a:solidFill>
                  <a:schemeClr val="dk2"/>
                </a:solidFill>
              </a:rPr>
              <a:t>H1N1 </a:t>
            </a:r>
            <a:r>
              <a:rPr lang="en" sz="1100" dirty="0">
                <a:solidFill>
                  <a:schemeClr val="dk2"/>
                </a:solidFill>
              </a:rPr>
              <a:t>dataset: heavily </a:t>
            </a:r>
            <a:r>
              <a:rPr lang="en" sz="1100" b="1" dirty="0">
                <a:solidFill>
                  <a:schemeClr val="dk2"/>
                </a:solidFill>
              </a:rPr>
              <a:t>skewed </a:t>
            </a:r>
            <a:r>
              <a:rPr lang="en" sz="1100" dirty="0">
                <a:solidFill>
                  <a:schemeClr val="dk2"/>
                </a:solidFill>
              </a:rPr>
              <a:t> (79% No / 21% Yes)</a:t>
            </a:r>
            <a:endParaRPr sz="1100" dirty="0">
              <a:solidFill>
                <a:schemeClr val="dk2"/>
              </a:solidFill>
            </a:endParaRPr>
          </a:p>
        </p:txBody>
      </p:sp>
      <p:sp>
        <p:nvSpPr>
          <p:cNvPr id="200" name="Google Shape;200;p2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7</a:t>
            </a:fld>
            <a:endParaRPr/>
          </a:p>
        </p:txBody>
      </p:sp>
      <p:sp>
        <p:nvSpPr>
          <p:cNvPr id="201" name="Google Shape;201;p27"/>
          <p:cNvSpPr txBox="1">
            <a:spLocks noGrp="1"/>
          </p:cNvSpPr>
          <p:nvPr>
            <p:ph type="body" idx="1"/>
          </p:nvPr>
        </p:nvSpPr>
        <p:spPr>
          <a:xfrm>
            <a:off x="311700" y="2204675"/>
            <a:ext cx="2740800" cy="1296300"/>
          </a:xfrm>
          <a:prstGeom prst="rect">
            <a:avLst/>
          </a:prstGeom>
          <a:solidFill>
            <a:schemeClr val="accent3"/>
          </a:solidFill>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chemeClr val="accent5"/>
                </a:solidFill>
              </a:rPr>
              <a:t>Tested Models:</a:t>
            </a:r>
            <a:endParaRPr b="1" dirty="0">
              <a:solidFill>
                <a:schemeClr val="accent5"/>
              </a:solidFill>
            </a:endParaRPr>
          </a:p>
          <a:p>
            <a:pPr marL="0" lvl="0" indent="0" algn="l" rtl="0">
              <a:spcBef>
                <a:spcPts val="600"/>
              </a:spcBef>
              <a:spcAft>
                <a:spcPts val="0"/>
              </a:spcAft>
              <a:buNone/>
            </a:pPr>
            <a:r>
              <a:rPr lang="en" sz="900" b="1" dirty="0">
                <a:solidFill>
                  <a:schemeClr val="dk2"/>
                </a:solidFill>
              </a:rPr>
              <a:t>Logistic Regression</a:t>
            </a:r>
            <a:r>
              <a:rPr lang="en" sz="900" dirty="0">
                <a:solidFill>
                  <a:schemeClr val="dk2"/>
                </a:solidFill>
              </a:rPr>
              <a:t>: Linear baseline</a:t>
            </a:r>
            <a:endParaRPr sz="900" dirty="0">
              <a:solidFill>
                <a:schemeClr val="dk2"/>
              </a:solidFill>
            </a:endParaRPr>
          </a:p>
          <a:p>
            <a:pPr marL="0" lvl="0" indent="0" algn="l" rtl="0">
              <a:spcBef>
                <a:spcPts val="600"/>
              </a:spcBef>
              <a:spcAft>
                <a:spcPts val="0"/>
              </a:spcAft>
              <a:buNone/>
            </a:pPr>
            <a:r>
              <a:rPr lang="en" sz="900" b="1" dirty="0">
                <a:solidFill>
                  <a:schemeClr val="dk2"/>
                </a:solidFill>
              </a:rPr>
              <a:t>Random Forest</a:t>
            </a:r>
            <a:r>
              <a:rPr lang="en" sz="900" dirty="0">
                <a:solidFill>
                  <a:schemeClr val="dk2"/>
                </a:solidFill>
              </a:rPr>
              <a:t>: Non-linear bagging ensemble</a:t>
            </a:r>
            <a:endParaRPr sz="900" dirty="0">
              <a:solidFill>
                <a:schemeClr val="dk2"/>
              </a:solidFill>
            </a:endParaRPr>
          </a:p>
          <a:p>
            <a:pPr marL="0" lvl="0" indent="0" algn="l" rtl="0">
              <a:spcBef>
                <a:spcPts val="600"/>
              </a:spcBef>
              <a:spcAft>
                <a:spcPts val="600"/>
              </a:spcAft>
              <a:buNone/>
            </a:pPr>
            <a:r>
              <a:rPr lang="en" sz="900" b="1" dirty="0">
                <a:solidFill>
                  <a:schemeClr val="dk2"/>
                </a:solidFill>
              </a:rPr>
              <a:t>LightGBM</a:t>
            </a:r>
            <a:r>
              <a:rPr lang="en" sz="900" dirty="0">
                <a:solidFill>
                  <a:schemeClr val="dk2"/>
                </a:solidFill>
              </a:rPr>
              <a:t>: Gradient boosting framework</a:t>
            </a:r>
            <a:endParaRPr sz="900" dirty="0"/>
          </a:p>
        </p:txBody>
      </p:sp>
      <p:sp>
        <p:nvSpPr>
          <p:cNvPr id="202" name="Google Shape;202;p27"/>
          <p:cNvSpPr txBox="1">
            <a:spLocks noGrp="1"/>
          </p:cNvSpPr>
          <p:nvPr>
            <p:ph type="body" idx="1"/>
          </p:nvPr>
        </p:nvSpPr>
        <p:spPr>
          <a:xfrm>
            <a:off x="311700" y="3563975"/>
            <a:ext cx="2740800" cy="1099200"/>
          </a:xfrm>
          <a:prstGeom prst="rect">
            <a:avLst/>
          </a:prstGeom>
          <a:solidFill>
            <a:schemeClr val="accent3"/>
          </a:solidFill>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250" b="1" dirty="0">
                <a:solidFill>
                  <a:schemeClr val="accent5"/>
                </a:solidFill>
              </a:rPr>
              <a:t>Selection Metric: </a:t>
            </a:r>
            <a:r>
              <a:rPr lang="en" b="1" dirty="0">
                <a:solidFill>
                  <a:schemeClr val="dk2"/>
                </a:solidFill>
              </a:rPr>
              <a:t>ROC-AUC</a:t>
            </a:r>
            <a:endParaRPr b="1" dirty="0">
              <a:solidFill>
                <a:schemeClr val="dk2"/>
              </a:solidFill>
            </a:endParaRPr>
          </a:p>
          <a:p>
            <a:pPr marL="0" lvl="0" indent="0" algn="l" rtl="0">
              <a:spcBef>
                <a:spcPts val="600"/>
              </a:spcBef>
              <a:spcAft>
                <a:spcPts val="0"/>
              </a:spcAft>
              <a:buNone/>
            </a:pPr>
            <a:r>
              <a:rPr lang="en" sz="1100" b="1" dirty="0">
                <a:solidFill>
                  <a:schemeClr val="accent5"/>
                </a:solidFill>
              </a:rPr>
              <a:t>Why?</a:t>
            </a:r>
            <a:endParaRPr sz="1100" b="1" dirty="0">
              <a:solidFill>
                <a:schemeClr val="accent5"/>
              </a:solidFill>
            </a:endParaRPr>
          </a:p>
          <a:p>
            <a:pPr marL="342900" lvl="0" indent="-299085" algn="l" rtl="0">
              <a:spcBef>
                <a:spcPts val="1000"/>
              </a:spcBef>
              <a:spcAft>
                <a:spcPts val="0"/>
              </a:spcAft>
              <a:buClr>
                <a:schemeClr val="dk2"/>
              </a:buClr>
              <a:buSzPct val="100000"/>
              <a:buFont typeface="Courier New" panose="02070309020205020404" pitchFamily="49" charset="0"/>
              <a:buChar char="o"/>
            </a:pPr>
            <a:r>
              <a:rPr lang="en" sz="900" dirty="0">
                <a:solidFill>
                  <a:schemeClr val="dk2"/>
                </a:solidFill>
              </a:rPr>
              <a:t>threshold independence</a:t>
            </a:r>
            <a:endParaRPr sz="900" dirty="0">
              <a:solidFill>
                <a:schemeClr val="dk2"/>
              </a:solidFill>
            </a:endParaRPr>
          </a:p>
          <a:p>
            <a:pPr marL="342900" lvl="0" indent="-299085" algn="l" rtl="0">
              <a:spcBef>
                <a:spcPts val="0"/>
              </a:spcBef>
              <a:spcAft>
                <a:spcPts val="0"/>
              </a:spcAft>
              <a:buClr>
                <a:schemeClr val="dk2"/>
              </a:buClr>
              <a:buSzPct val="100000"/>
              <a:buFont typeface="Courier New" panose="02070309020205020404" pitchFamily="49" charset="0"/>
              <a:buChar char="o"/>
            </a:pPr>
            <a:r>
              <a:rPr lang="en" sz="900" dirty="0">
                <a:solidFill>
                  <a:schemeClr val="dk2"/>
                </a:solidFill>
              </a:rPr>
              <a:t>robustness to imbalance</a:t>
            </a:r>
            <a:endParaRPr sz="900" dirty="0">
              <a:solidFill>
                <a:schemeClr val="dk2"/>
              </a:solidFill>
            </a:endParaRPr>
          </a:p>
        </p:txBody>
      </p:sp>
      <p:sp>
        <p:nvSpPr>
          <p:cNvPr id="203" name="Google Shape;203;p27"/>
          <p:cNvSpPr txBox="1">
            <a:spLocks noGrp="1"/>
          </p:cNvSpPr>
          <p:nvPr>
            <p:ph type="body" idx="1"/>
          </p:nvPr>
        </p:nvSpPr>
        <p:spPr>
          <a:xfrm>
            <a:off x="3119700" y="1030175"/>
            <a:ext cx="5712600" cy="381000"/>
          </a:xfrm>
          <a:prstGeom prst="rect">
            <a:avLst/>
          </a:prstGeom>
          <a:solidFill>
            <a:schemeClr val="accent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200000"/>
              </a:lnSpc>
              <a:spcBef>
                <a:spcPts val="0"/>
              </a:spcBef>
              <a:spcAft>
                <a:spcPts val="1000"/>
              </a:spcAft>
              <a:buNone/>
            </a:pPr>
            <a:r>
              <a:rPr lang="en" sz="1400" b="1" dirty="0">
                <a:solidFill>
                  <a:schemeClr val="accent4"/>
                </a:solidFill>
              </a:rPr>
              <a:t>WINNER: LightGBM</a:t>
            </a:r>
            <a:endParaRPr sz="1400" dirty="0">
              <a:solidFill>
                <a:schemeClr val="dk2"/>
              </a:solidFill>
            </a:endParaRPr>
          </a:p>
        </p:txBody>
      </p:sp>
      <p:pic>
        <p:nvPicPr>
          <p:cNvPr id="204" name="Google Shape;204;p27"/>
          <p:cNvPicPr preferRelativeResize="0"/>
          <p:nvPr/>
        </p:nvPicPr>
        <p:blipFill>
          <a:blip r:embed="rId3">
            <a:alphaModFix/>
          </a:blip>
          <a:stretch>
            <a:fillRect/>
          </a:stretch>
        </p:blipFill>
        <p:spPr>
          <a:xfrm>
            <a:off x="3104988" y="1487375"/>
            <a:ext cx="2837426" cy="2269929"/>
          </a:xfrm>
          <a:prstGeom prst="rect">
            <a:avLst/>
          </a:prstGeom>
          <a:noFill/>
          <a:ln>
            <a:noFill/>
          </a:ln>
        </p:spPr>
      </p:pic>
      <p:pic>
        <p:nvPicPr>
          <p:cNvPr id="205" name="Google Shape;205;p27"/>
          <p:cNvPicPr preferRelativeResize="0"/>
          <p:nvPr/>
        </p:nvPicPr>
        <p:blipFill>
          <a:blip r:embed="rId4">
            <a:alphaModFix/>
          </a:blip>
          <a:stretch>
            <a:fillRect/>
          </a:stretch>
        </p:blipFill>
        <p:spPr>
          <a:xfrm>
            <a:off x="5994925" y="1487363"/>
            <a:ext cx="2837426" cy="2269941"/>
          </a:xfrm>
          <a:prstGeom prst="rect">
            <a:avLst/>
          </a:prstGeom>
          <a:noFill/>
          <a:ln>
            <a:noFill/>
          </a:ln>
        </p:spPr>
      </p:pic>
      <p:sp>
        <p:nvSpPr>
          <p:cNvPr id="206" name="Google Shape;206;p27"/>
          <p:cNvSpPr txBox="1">
            <a:spLocks noGrp="1"/>
          </p:cNvSpPr>
          <p:nvPr>
            <p:ph type="body" idx="1"/>
          </p:nvPr>
        </p:nvSpPr>
        <p:spPr>
          <a:xfrm>
            <a:off x="3119700" y="3833500"/>
            <a:ext cx="2837400" cy="829500"/>
          </a:xfrm>
          <a:prstGeom prst="rect">
            <a:avLst/>
          </a:prstGeom>
          <a:solidFill>
            <a:schemeClr val="accent3"/>
          </a:solidFill>
        </p:spPr>
        <p:txBody>
          <a:bodyPr spcFirstLastPara="1" wrap="square" lIns="91425" tIns="91425" rIns="91425" bIns="91425" anchor="t" anchorCtr="0">
            <a:normAutofit/>
          </a:bodyPr>
          <a:lstStyle/>
          <a:p>
            <a:pPr marL="0" lvl="0" indent="0" algn="l" rtl="0">
              <a:spcBef>
                <a:spcPts val="0"/>
              </a:spcBef>
              <a:spcAft>
                <a:spcPts val="0"/>
              </a:spcAft>
              <a:buNone/>
            </a:pPr>
            <a:r>
              <a:rPr lang="en" sz="1091" b="1" dirty="0">
                <a:solidFill>
                  <a:schemeClr val="accent1"/>
                </a:solidFill>
              </a:rPr>
              <a:t>H1N1: </a:t>
            </a:r>
            <a:r>
              <a:rPr lang="en" sz="1091" b="1" dirty="0">
                <a:solidFill>
                  <a:schemeClr val="dk2"/>
                </a:solidFill>
              </a:rPr>
              <a:t>High Precision, Low Recall</a:t>
            </a:r>
            <a:endParaRPr sz="1091" b="1" dirty="0">
              <a:solidFill>
                <a:schemeClr val="dk2"/>
              </a:solidFill>
            </a:endParaRPr>
          </a:p>
          <a:p>
            <a:pPr marL="0" lvl="0" indent="0" algn="l" rtl="0">
              <a:spcBef>
                <a:spcPts val="1000"/>
              </a:spcBef>
              <a:spcAft>
                <a:spcPts val="1000"/>
              </a:spcAft>
              <a:buNone/>
            </a:pPr>
            <a:r>
              <a:rPr lang="en" sz="1000" dirty="0">
                <a:solidFill>
                  <a:schemeClr val="dk2"/>
                </a:solidFill>
              </a:rPr>
              <a:t>Misses </a:t>
            </a:r>
            <a:r>
              <a:rPr lang="en" sz="1000" b="1" dirty="0">
                <a:solidFill>
                  <a:schemeClr val="accent1"/>
                </a:solidFill>
              </a:rPr>
              <a:t>5%</a:t>
            </a:r>
            <a:r>
              <a:rPr lang="en" sz="1000" dirty="0">
                <a:solidFill>
                  <a:schemeClr val="dk2"/>
                </a:solidFill>
              </a:rPr>
              <a:t> of unvaccinated and </a:t>
            </a:r>
            <a:r>
              <a:rPr lang="en" sz="1000" b="1" dirty="0">
                <a:solidFill>
                  <a:schemeClr val="accent1"/>
                </a:solidFill>
              </a:rPr>
              <a:t>49%</a:t>
            </a:r>
            <a:r>
              <a:rPr lang="en" sz="1000" dirty="0">
                <a:solidFill>
                  <a:schemeClr val="dk2"/>
                </a:solidFill>
              </a:rPr>
              <a:t> of vaccinated</a:t>
            </a:r>
            <a:endParaRPr sz="1000" dirty="0">
              <a:solidFill>
                <a:schemeClr val="dk2"/>
              </a:solidFill>
            </a:endParaRPr>
          </a:p>
        </p:txBody>
      </p:sp>
      <p:sp>
        <p:nvSpPr>
          <p:cNvPr id="207" name="Google Shape;207;p27"/>
          <p:cNvSpPr txBox="1">
            <a:spLocks noGrp="1"/>
          </p:cNvSpPr>
          <p:nvPr>
            <p:ph type="body" idx="1"/>
          </p:nvPr>
        </p:nvSpPr>
        <p:spPr>
          <a:xfrm>
            <a:off x="6024300" y="3833500"/>
            <a:ext cx="2808000" cy="829500"/>
          </a:xfrm>
          <a:prstGeom prst="rect">
            <a:avLst/>
          </a:prstGeom>
          <a:solidFill>
            <a:schemeClr val="accent6"/>
          </a:solidFill>
        </p:spPr>
        <p:txBody>
          <a:bodyPr spcFirstLastPara="1" wrap="square" lIns="91425" tIns="91425" rIns="91425" bIns="91425" anchor="t" anchorCtr="0">
            <a:normAutofit fontScale="92500"/>
          </a:bodyPr>
          <a:lstStyle/>
          <a:p>
            <a:pPr marL="0" lvl="0" indent="0" algn="l" rtl="0">
              <a:spcBef>
                <a:spcPts val="0"/>
              </a:spcBef>
              <a:spcAft>
                <a:spcPts val="0"/>
              </a:spcAft>
              <a:buNone/>
            </a:pPr>
            <a:r>
              <a:rPr lang="en" sz="1091" b="1" dirty="0">
                <a:solidFill>
                  <a:schemeClr val="accent4"/>
                </a:solidFill>
              </a:rPr>
              <a:t>Seasonal Flu: </a:t>
            </a:r>
            <a:r>
              <a:rPr lang="en" sz="1091" b="1" dirty="0">
                <a:solidFill>
                  <a:schemeClr val="dk2"/>
                </a:solidFill>
              </a:rPr>
              <a:t>Balanced Performance</a:t>
            </a:r>
            <a:endParaRPr sz="1091" b="1" dirty="0">
              <a:solidFill>
                <a:schemeClr val="dk2"/>
              </a:solidFill>
            </a:endParaRPr>
          </a:p>
          <a:p>
            <a:pPr marL="0" lvl="0" indent="0" algn="l" rtl="0">
              <a:spcBef>
                <a:spcPts val="1000"/>
              </a:spcBef>
              <a:spcAft>
                <a:spcPts val="1000"/>
              </a:spcAft>
              <a:buNone/>
            </a:pPr>
            <a:r>
              <a:rPr lang="en" sz="1000" dirty="0">
                <a:solidFill>
                  <a:schemeClr val="dk2"/>
                </a:solidFill>
              </a:rPr>
              <a:t>Misses </a:t>
            </a:r>
            <a:r>
              <a:rPr lang="en" sz="1000" b="1" dirty="0">
                <a:solidFill>
                  <a:schemeClr val="accent4"/>
                </a:solidFill>
              </a:rPr>
              <a:t>19%</a:t>
            </a:r>
            <a:r>
              <a:rPr lang="en" sz="1000" dirty="0">
                <a:solidFill>
                  <a:schemeClr val="dk2"/>
                </a:solidFill>
              </a:rPr>
              <a:t> of unvaccinated and </a:t>
            </a:r>
            <a:r>
              <a:rPr lang="en" sz="1000" b="1" dirty="0">
                <a:solidFill>
                  <a:schemeClr val="accent4"/>
                </a:solidFill>
              </a:rPr>
              <a:t>24%</a:t>
            </a:r>
            <a:r>
              <a:rPr lang="en" sz="1000" dirty="0">
                <a:solidFill>
                  <a:schemeClr val="dk2"/>
                </a:solidFill>
              </a:rPr>
              <a:t> of vaccinated</a:t>
            </a:r>
            <a:endParaRPr sz="1000" dirty="0">
              <a:solidFill>
                <a:schemeClr val="dk2"/>
              </a:solidFill>
            </a:endParaRPr>
          </a:p>
        </p:txBody>
      </p:sp>
      <p:sp>
        <p:nvSpPr>
          <p:cNvPr id="208" name="Google Shape;208;p27"/>
          <p:cNvSpPr/>
          <p:nvPr/>
        </p:nvSpPr>
        <p:spPr>
          <a:xfrm>
            <a:off x="6833200" y="2857175"/>
            <a:ext cx="271800" cy="274200"/>
          </a:xfrm>
          <a:prstGeom prst="ellipse">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209" name="Google Shape;209;p27"/>
          <p:cNvSpPr/>
          <p:nvPr/>
        </p:nvSpPr>
        <p:spPr>
          <a:xfrm>
            <a:off x="7693850" y="1993750"/>
            <a:ext cx="271800" cy="274200"/>
          </a:xfrm>
          <a:prstGeom prst="ellipse">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210" name="Google Shape;210;p27"/>
          <p:cNvSpPr/>
          <p:nvPr/>
        </p:nvSpPr>
        <p:spPr>
          <a:xfrm>
            <a:off x="4805925" y="1993750"/>
            <a:ext cx="271800" cy="2742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211" name="Google Shape;211;p27"/>
          <p:cNvSpPr/>
          <p:nvPr/>
        </p:nvSpPr>
        <p:spPr>
          <a:xfrm>
            <a:off x="3942500" y="2857175"/>
            <a:ext cx="271800" cy="2742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8"/>
          <p:cNvSpPr txBox="1">
            <a:spLocks noGrp="1"/>
          </p:cNvSpPr>
          <p:nvPr>
            <p:ph type="title"/>
          </p:nvPr>
        </p:nvSpPr>
        <p:spPr>
          <a:xfrm>
            <a:off x="311700" y="342900"/>
            <a:ext cx="8077200"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SzPts val="990"/>
              <a:buNone/>
            </a:pPr>
            <a:r>
              <a:rPr lang="en" sz="2420">
                <a:solidFill>
                  <a:schemeClr val="dk2"/>
                </a:solidFill>
              </a:rPr>
              <a:t>Model Fine-Tuning</a:t>
            </a:r>
            <a:endParaRPr sz="2420">
              <a:solidFill>
                <a:schemeClr val="dk2"/>
              </a:solidFill>
            </a:endParaRPr>
          </a:p>
        </p:txBody>
      </p:sp>
      <p:sp>
        <p:nvSpPr>
          <p:cNvPr id="217" name="Google Shape;217;p28"/>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8</a:t>
            </a:fld>
            <a:endParaRPr/>
          </a:p>
        </p:txBody>
      </p:sp>
      <p:sp>
        <p:nvSpPr>
          <p:cNvPr id="218" name="Google Shape;218;p28"/>
          <p:cNvSpPr txBox="1">
            <a:spLocks noGrp="1"/>
          </p:cNvSpPr>
          <p:nvPr>
            <p:ph type="body" idx="1"/>
          </p:nvPr>
        </p:nvSpPr>
        <p:spPr>
          <a:xfrm>
            <a:off x="311723" y="2352550"/>
            <a:ext cx="2737800" cy="926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b="1" dirty="0">
                <a:solidFill>
                  <a:schemeClr val="accent4"/>
                </a:solidFill>
              </a:rPr>
              <a:t>Fix for Imbalance</a:t>
            </a:r>
            <a:endParaRPr sz="1100" b="1" dirty="0">
              <a:solidFill>
                <a:schemeClr val="accent4"/>
              </a:solidFill>
            </a:endParaRPr>
          </a:p>
          <a:p>
            <a:pPr marL="457200" lvl="0" indent="-298450" algn="l" rtl="0">
              <a:spcBef>
                <a:spcPts val="1000"/>
              </a:spcBef>
              <a:spcAft>
                <a:spcPts val="0"/>
              </a:spcAft>
              <a:buClr>
                <a:schemeClr val="dk2"/>
              </a:buClr>
              <a:buSzPts val="1100"/>
              <a:buChar char="➔"/>
            </a:pPr>
            <a:r>
              <a:rPr lang="en" sz="1100" b="1" dirty="0">
                <a:solidFill>
                  <a:schemeClr val="dk2"/>
                </a:solidFill>
                <a:latin typeface="Assistant SemiBold" pitchFamily="2" charset="-79"/>
                <a:cs typeface="Assistant SemiBold" pitchFamily="2" charset="-79"/>
              </a:rPr>
              <a:t>scale_pos_weight </a:t>
            </a:r>
            <a:r>
              <a:rPr lang="en" sz="1100" dirty="0">
                <a:solidFill>
                  <a:schemeClr val="dk2"/>
                </a:solidFill>
                <a:latin typeface="Assistant Medium"/>
                <a:ea typeface="Assistant Medium"/>
                <a:cs typeface="Assistant Medium"/>
                <a:sym typeface="Assistant Medium"/>
              </a:rPr>
              <a:t>applied to H1N1</a:t>
            </a:r>
            <a:endParaRPr sz="1100" dirty="0">
              <a:solidFill>
                <a:schemeClr val="dk2"/>
              </a:solidFill>
              <a:latin typeface="Assistant Medium"/>
              <a:ea typeface="Assistant Medium"/>
              <a:cs typeface="Assistant Medium"/>
              <a:sym typeface="Assistant Medium"/>
            </a:endParaRPr>
          </a:p>
        </p:txBody>
      </p:sp>
      <p:sp>
        <p:nvSpPr>
          <p:cNvPr id="219" name="Google Shape;219;p28"/>
          <p:cNvSpPr txBox="1">
            <a:spLocks noGrp="1"/>
          </p:cNvSpPr>
          <p:nvPr>
            <p:ph type="body" idx="3"/>
          </p:nvPr>
        </p:nvSpPr>
        <p:spPr>
          <a:xfrm>
            <a:off x="311700" y="1005850"/>
            <a:ext cx="2737800" cy="119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b="1" dirty="0">
                <a:solidFill>
                  <a:schemeClr val="accent4"/>
                </a:solidFill>
              </a:rPr>
              <a:t>Tuning Objective: F1-Score</a:t>
            </a:r>
            <a:r>
              <a:rPr lang="en" sz="1100" dirty="0">
                <a:solidFill>
                  <a:schemeClr val="accent4"/>
                </a:solidFill>
              </a:rPr>
              <a:t> </a:t>
            </a:r>
            <a:endParaRPr sz="1100" dirty="0">
              <a:solidFill>
                <a:schemeClr val="accent4"/>
              </a:solidFill>
            </a:endParaRPr>
          </a:p>
          <a:p>
            <a:pPr marL="400050" lvl="0" indent="-298450" algn="l" rtl="0">
              <a:spcBef>
                <a:spcPts val="1000"/>
              </a:spcBef>
              <a:spcAft>
                <a:spcPts val="0"/>
              </a:spcAft>
              <a:buClr>
                <a:schemeClr val="dk2"/>
              </a:buClr>
              <a:buSzPts val="1100"/>
              <a:buChar char="➔"/>
            </a:pPr>
            <a:r>
              <a:rPr lang="en" sz="1100" dirty="0">
                <a:solidFill>
                  <a:schemeClr val="dk2"/>
                </a:solidFill>
                <a:latin typeface="Assistant Medium"/>
                <a:ea typeface="Assistant Medium"/>
                <a:cs typeface="Assistant Medium"/>
                <a:sym typeface="Assistant Medium"/>
              </a:rPr>
              <a:t>to find the optimal "sweet spot" between </a:t>
            </a:r>
            <a:r>
              <a:rPr lang="en" sz="1100" b="1" dirty="0">
                <a:solidFill>
                  <a:schemeClr val="dk2"/>
                </a:solidFill>
                <a:latin typeface="Assistant SemiBold" pitchFamily="2" charset="-79"/>
                <a:cs typeface="Assistant SemiBold" pitchFamily="2" charset="-79"/>
              </a:rPr>
              <a:t>Precision</a:t>
            </a:r>
            <a:r>
              <a:rPr lang="en" sz="1100" b="1" dirty="0">
                <a:solidFill>
                  <a:schemeClr val="dk2"/>
                </a:solidFill>
              </a:rPr>
              <a:t> </a:t>
            </a:r>
            <a:r>
              <a:rPr lang="en" sz="1100" dirty="0">
                <a:solidFill>
                  <a:schemeClr val="dk2"/>
                </a:solidFill>
                <a:latin typeface="Assistant Medium"/>
                <a:ea typeface="Assistant Medium"/>
                <a:cs typeface="Assistant Medium"/>
                <a:sym typeface="Assistant Medium"/>
              </a:rPr>
              <a:t>and </a:t>
            </a:r>
            <a:r>
              <a:rPr lang="en" sz="1100" b="1" dirty="0">
                <a:solidFill>
                  <a:schemeClr val="dk2"/>
                </a:solidFill>
                <a:latin typeface="Assistant SemiBold" pitchFamily="2" charset="-79"/>
                <a:cs typeface="Assistant SemiBold" pitchFamily="2" charset="-79"/>
              </a:rPr>
              <a:t>Recall</a:t>
            </a:r>
            <a:endParaRPr sz="1100" b="1" dirty="0">
              <a:solidFill>
                <a:schemeClr val="dk2"/>
              </a:solidFill>
              <a:latin typeface="Assistant SemiBold" pitchFamily="2" charset="-79"/>
              <a:cs typeface="Assistant SemiBold" pitchFamily="2" charset="-79"/>
            </a:endParaRPr>
          </a:p>
        </p:txBody>
      </p:sp>
      <p:sp>
        <p:nvSpPr>
          <p:cNvPr id="220" name="Google Shape;220;p28"/>
          <p:cNvSpPr txBox="1">
            <a:spLocks noGrp="1"/>
          </p:cNvSpPr>
          <p:nvPr>
            <p:ph type="body" idx="1"/>
          </p:nvPr>
        </p:nvSpPr>
        <p:spPr>
          <a:xfrm>
            <a:off x="311700" y="3435400"/>
            <a:ext cx="2737800" cy="1227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100" b="1" dirty="0">
                <a:solidFill>
                  <a:schemeClr val="accent4"/>
                </a:solidFill>
              </a:rPr>
              <a:t>Hyperparameter Optimization</a:t>
            </a:r>
            <a:endParaRPr sz="1100" b="1" dirty="0">
              <a:solidFill>
                <a:schemeClr val="accent4"/>
              </a:solidFill>
            </a:endParaRPr>
          </a:p>
          <a:p>
            <a:pPr marL="457200" lvl="0" indent="-298450" algn="l" rtl="0">
              <a:spcBef>
                <a:spcPts val="1000"/>
              </a:spcBef>
              <a:spcAft>
                <a:spcPts val="0"/>
              </a:spcAft>
              <a:buClr>
                <a:schemeClr val="dk2"/>
              </a:buClr>
              <a:buSzPts val="1100"/>
              <a:buChar char="➔"/>
            </a:pPr>
            <a:r>
              <a:rPr lang="en" sz="1100" b="1" dirty="0">
                <a:solidFill>
                  <a:schemeClr val="dk2"/>
                </a:solidFill>
                <a:latin typeface="Assistant SemiBold" pitchFamily="2" charset="-79"/>
                <a:cs typeface="Assistant SemiBold" pitchFamily="2" charset="-79"/>
              </a:rPr>
              <a:t>RandomizedSearchCV </a:t>
            </a:r>
            <a:endParaRPr sz="1100" b="1" dirty="0">
              <a:solidFill>
                <a:schemeClr val="dk2"/>
              </a:solidFill>
              <a:latin typeface="Assistant SemiBold" pitchFamily="2" charset="-79"/>
              <a:cs typeface="Assistant SemiBold" pitchFamily="2" charset="-79"/>
            </a:endParaRPr>
          </a:p>
          <a:p>
            <a:pPr marL="457200" lvl="0" indent="-298450" algn="l" rtl="0">
              <a:spcBef>
                <a:spcPts val="0"/>
              </a:spcBef>
              <a:spcAft>
                <a:spcPts val="0"/>
              </a:spcAft>
              <a:buClr>
                <a:schemeClr val="accent3"/>
              </a:buClr>
              <a:buSzPts val="1100"/>
              <a:buChar char="➔"/>
            </a:pPr>
            <a:r>
              <a:rPr lang="en" sz="1100" dirty="0">
                <a:solidFill>
                  <a:schemeClr val="dk2"/>
                </a:solidFill>
                <a:latin typeface="Assistant Medium"/>
                <a:ea typeface="Assistant Medium"/>
                <a:cs typeface="Assistant Medium"/>
                <a:sym typeface="Assistant Medium"/>
              </a:rPr>
              <a:t>(30 iterations, 5-fold CV)</a:t>
            </a:r>
            <a:endParaRPr sz="1100" dirty="0">
              <a:solidFill>
                <a:schemeClr val="dk2"/>
              </a:solidFill>
              <a:latin typeface="Assistant Medium"/>
              <a:ea typeface="Assistant Medium"/>
              <a:cs typeface="Assistant Medium"/>
              <a:sym typeface="Assistant Medium"/>
            </a:endParaRPr>
          </a:p>
          <a:p>
            <a:pPr marL="457200" lvl="0" indent="-298450" algn="l" rtl="0">
              <a:spcBef>
                <a:spcPts val="0"/>
              </a:spcBef>
              <a:spcAft>
                <a:spcPts val="0"/>
              </a:spcAft>
              <a:buClr>
                <a:schemeClr val="dk2"/>
              </a:buClr>
              <a:buSzPts val="1100"/>
              <a:buChar char="➔"/>
            </a:pPr>
            <a:r>
              <a:rPr lang="en" sz="1100" b="1" dirty="0">
                <a:solidFill>
                  <a:schemeClr val="dk2"/>
                </a:solidFill>
                <a:latin typeface="Assistant SemiBold" pitchFamily="2" charset="-79"/>
                <a:cs typeface="Assistant SemiBold" pitchFamily="2" charset="-79"/>
              </a:rPr>
              <a:t>num_leaves</a:t>
            </a:r>
            <a:r>
              <a:rPr lang="en" sz="1100" dirty="0">
                <a:solidFill>
                  <a:schemeClr val="dk2"/>
                </a:solidFill>
              </a:rPr>
              <a:t>, </a:t>
            </a:r>
            <a:r>
              <a:rPr lang="en" sz="1100" b="1" dirty="0">
                <a:solidFill>
                  <a:schemeClr val="dk2"/>
                </a:solidFill>
                <a:latin typeface="Assistant SemiBold" pitchFamily="2" charset="-79"/>
                <a:cs typeface="Assistant SemiBold" pitchFamily="2" charset="-79"/>
              </a:rPr>
              <a:t>learning_rate</a:t>
            </a:r>
            <a:r>
              <a:rPr lang="en" sz="1100" dirty="0">
                <a:solidFill>
                  <a:schemeClr val="dk2"/>
                </a:solidFill>
              </a:rPr>
              <a:t>, </a:t>
            </a:r>
            <a:r>
              <a:rPr lang="en" sz="1100" dirty="0">
                <a:solidFill>
                  <a:schemeClr val="dk2"/>
                </a:solidFill>
                <a:latin typeface="Assistant Medium"/>
                <a:ea typeface="Assistant Medium"/>
                <a:cs typeface="Assistant Medium"/>
                <a:sym typeface="Assistant Medium"/>
              </a:rPr>
              <a:t>and </a:t>
            </a:r>
            <a:r>
              <a:rPr lang="en" sz="1100" b="1" dirty="0">
                <a:solidFill>
                  <a:schemeClr val="dk2"/>
                </a:solidFill>
                <a:latin typeface="Assistant SemiBold" pitchFamily="2" charset="-79"/>
                <a:cs typeface="Assistant SemiBold" pitchFamily="2" charset="-79"/>
              </a:rPr>
              <a:t>regularization</a:t>
            </a:r>
            <a:endParaRPr sz="1100" b="1" dirty="0">
              <a:solidFill>
                <a:schemeClr val="dk2"/>
              </a:solidFill>
              <a:latin typeface="Assistant SemiBold" pitchFamily="2" charset="-79"/>
              <a:cs typeface="Assistant SemiBold" pitchFamily="2" charset="-79"/>
            </a:endParaRPr>
          </a:p>
        </p:txBody>
      </p:sp>
      <p:graphicFrame>
        <p:nvGraphicFramePr>
          <p:cNvPr id="221" name="Google Shape;221;p28"/>
          <p:cNvGraphicFramePr/>
          <p:nvPr>
            <p:extLst>
              <p:ext uri="{D42A27DB-BD31-4B8C-83A1-F6EECF244321}">
                <p14:modId xmlns:p14="http://schemas.microsoft.com/office/powerpoint/2010/main" val="4151966520"/>
              </p:ext>
            </p:extLst>
          </p:nvPr>
        </p:nvGraphicFramePr>
        <p:xfrm>
          <a:off x="4350300" y="938650"/>
          <a:ext cx="4490575" cy="3331025"/>
        </p:xfrm>
        <a:graphic>
          <a:graphicData uri="http://schemas.openxmlformats.org/drawingml/2006/table">
            <a:tbl>
              <a:tblPr>
                <a:noFill/>
                <a:tableStyleId>{1ECB0DD0-7A76-43A5-AA74-EA01109FAF4E}</a:tableStyleId>
              </a:tblPr>
              <a:tblGrid>
                <a:gridCol w="833125">
                  <a:extLst>
                    <a:ext uri="{9D8B030D-6E8A-4147-A177-3AD203B41FA5}">
                      <a16:colId xmlns:a16="http://schemas.microsoft.com/office/drawing/2014/main" val="20000"/>
                    </a:ext>
                  </a:extLst>
                </a:gridCol>
                <a:gridCol w="833125">
                  <a:extLst>
                    <a:ext uri="{9D8B030D-6E8A-4147-A177-3AD203B41FA5}">
                      <a16:colId xmlns:a16="http://schemas.microsoft.com/office/drawing/2014/main" val="20001"/>
                    </a:ext>
                  </a:extLst>
                </a:gridCol>
                <a:gridCol w="833125">
                  <a:extLst>
                    <a:ext uri="{9D8B030D-6E8A-4147-A177-3AD203B41FA5}">
                      <a16:colId xmlns:a16="http://schemas.microsoft.com/office/drawing/2014/main" val="20002"/>
                    </a:ext>
                  </a:extLst>
                </a:gridCol>
                <a:gridCol w="1991200">
                  <a:extLst>
                    <a:ext uri="{9D8B030D-6E8A-4147-A177-3AD203B41FA5}">
                      <a16:colId xmlns:a16="http://schemas.microsoft.com/office/drawing/2014/main" val="20003"/>
                    </a:ext>
                  </a:extLst>
                </a:gridCol>
              </a:tblGrid>
              <a:tr h="339897">
                <a:tc>
                  <a:txBody>
                    <a:bodyPr/>
                    <a:lstStyle/>
                    <a:p>
                      <a:pPr marL="0" lvl="0" indent="0" algn="l" rtl="0">
                        <a:lnSpc>
                          <a:spcPct val="115000"/>
                        </a:lnSpc>
                        <a:spcBef>
                          <a:spcPts val="0"/>
                        </a:spcBef>
                        <a:spcAft>
                          <a:spcPts val="0"/>
                        </a:spcAft>
                        <a:buNone/>
                      </a:pPr>
                      <a:r>
                        <a:rPr lang="en" sz="1100" b="1" dirty="0">
                          <a:solidFill>
                            <a:schemeClr val="accent4"/>
                          </a:solidFill>
                          <a:latin typeface="Assistant"/>
                          <a:ea typeface="Assistant"/>
                          <a:cs typeface="Assistant"/>
                          <a:sym typeface="Assistant"/>
                        </a:rPr>
                        <a:t>Target</a:t>
                      </a:r>
                      <a:endParaRPr sz="1100" b="1" dirty="0">
                        <a:solidFill>
                          <a:schemeClr val="accent4"/>
                        </a:solidFill>
                        <a:latin typeface="Assistant"/>
                        <a:ea typeface="Assistant"/>
                        <a:cs typeface="Assistant"/>
                        <a:sym typeface="Assistant"/>
                      </a:endParaRPr>
                    </a:p>
                  </a:txBody>
                  <a:tcPr marL="28575" marR="28575" marT="19050" marB="19050" anchor="ctr">
                    <a:lnL w="12700" cmpd="sng">
                      <a:noFill/>
                      <a:prstDash val="solid"/>
                    </a:lnL>
                    <a:lnR w="12700" cmpd="sng">
                      <a:noFill/>
                      <a:prstDash val="solid"/>
                    </a:lnR>
                    <a:lnT w="12700" cmpd="sng">
                      <a:noFill/>
                      <a:prstDash val="soli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100" b="1" dirty="0">
                          <a:solidFill>
                            <a:schemeClr val="accent4"/>
                          </a:solidFill>
                          <a:latin typeface="Assistant"/>
                          <a:ea typeface="Assistant"/>
                          <a:cs typeface="Assistant"/>
                          <a:sym typeface="Assistant"/>
                        </a:rPr>
                        <a:t>Metric</a:t>
                      </a:r>
                      <a:endParaRPr sz="1100" b="1" dirty="0">
                        <a:solidFill>
                          <a:schemeClr val="accent4"/>
                        </a:solidFill>
                        <a:latin typeface="Assistant"/>
                        <a:ea typeface="Assistant"/>
                        <a:cs typeface="Assistant"/>
                        <a:sym typeface="Assistant"/>
                      </a:endParaRPr>
                    </a:p>
                  </a:txBody>
                  <a:tcPr marL="28575" marR="28575" marT="19050" marB="19050" anchor="ctr">
                    <a:lnL w="12700" cmpd="sng">
                      <a:noFill/>
                      <a:prstDash val="solid"/>
                    </a:lnL>
                    <a:lnR w="12700" cmpd="sng">
                      <a:noFill/>
                      <a:prstDash val="solid"/>
                    </a:lnR>
                    <a:lnT w="12700" cmpd="sng">
                      <a:noFill/>
                      <a:prstDash val="soli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100" b="1" dirty="0">
                          <a:solidFill>
                            <a:schemeClr val="accent4"/>
                          </a:solidFill>
                          <a:latin typeface="Assistant"/>
                          <a:ea typeface="Assistant"/>
                          <a:cs typeface="Assistant"/>
                          <a:sym typeface="Assistant"/>
                        </a:rPr>
                        <a:t>Change</a:t>
                      </a:r>
                      <a:endParaRPr sz="1100" b="1" dirty="0">
                        <a:solidFill>
                          <a:schemeClr val="accent4"/>
                        </a:solidFill>
                        <a:latin typeface="Assistant"/>
                        <a:ea typeface="Assistant"/>
                        <a:cs typeface="Assistant"/>
                        <a:sym typeface="Assistant"/>
                      </a:endParaRPr>
                    </a:p>
                  </a:txBody>
                  <a:tcPr marL="28575" marR="28575" marT="19050" marB="19050" anchor="ctr">
                    <a:lnL w="12700" cmpd="sng">
                      <a:noFill/>
                      <a:prstDash val="solid"/>
                    </a:lnL>
                    <a:lnR w="12700" cmpd="sng">
                      <a:noFill/>
                      <a:prstDash val="solid"/>
                    </a:lnR>
                    <a:lnT w="12700" cmpd="sng">
                      <a:noFill/>
                      <a:prstDash val="soli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100" b="1" dirty="0">
                          <a:solidFill>
                            <a:schemeClr val="accent4"/>
                          </a:solidFill>
                          <a:latin typeface="Assistant"/>
                          <a:ea typeface="Assistant"/>
                          <a:cs typeface="Assistant"/>
                          <a:sym typeface="Assistant"/>
                        </a:rPr>
                        <a:t>Implication</a:t>
                      </a:r>
                      <a:endParaRPr sz="1100" b="1" dirty="0">
                        <a:solidFill>
                          <a:schemeClr val="accent4"/>
                        </a:solidFill>
                        <a:latin typeface="Assistant"/>
                        <a:ea typeface="Assistant"/>
                        <a:cs typeface="Assistant"/>
                        <a:sym typeface="Assistant"/>
                      </a:endParaRPr>
                    </a:p>
                  </a:txBody>
                  <a:tcPr marL="28575" marR="28575" marT="19050" marB="19050" anchor="ctr">
                    <a:lnL w="12700" cmpd="sng">
                      <a:noFill/>
                      <a:prstDash val="solid"/>
                    </a:lnL>
                    <a:lnR w="12700" cmpd="sng">
                      <a:noFill/>
                      <a:prstDash val="solid"/>
                    </a:lnR>
                    <a:lnT w="12700" cmpd="sng">
                      <a:noFill/>
                      <a:prstDash val="soli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39897">
                <a:tc>
                  <a:txBody>
                    <a:bodyPr/>
                    <a:lstStyle/>
                    <a:p>
                      <a:pPr marL="0" lvl="0" indent="0" algn="l" rtl="0">
                        <a:lnSpc>
                          <a:spcPct val="115000"/>
                        </a:lnSpc>
                        <a:spcBef>
                          <a:spcPts val="0"/>
                        </a:spcBef>
                        <a:spcAft>
                          <a:spcPts val="0"/>
                        </a:spcAft>
                        <a:buNone/>
                      </a:pPr>
                      <a:r>
                        <a:rPr lang="en" sz="1100" b="1" dirty="0">
                          <a:solidFill>
                            <a:schemeClr val="accent4"/>
                          </a:solidFill>
                          <a:latin typeface="Assistant SemiBold" pitchFamily="2" charset="-79"/>
                          <a:ea typeface="Assistant"/>
                          <a:cs typeface="Assistant SemiBold" pitchFamily="2" charset="-79"/>
                          <a:sym typeface="Assistant"/>
                        </a:rPr>
                        <a:t>H1N1</a:t>
                      </a:r>
                      <a:endParaRPr sz="1100" b="1" dirty="0">
                        <a:solidFill>
                          <a:schemeClr val="accent4"/>
                        </a:solidFill>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317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100" b="1" dirty="0">
                          <a:solidFill>
                            <a:schemeClr val="dk2"/>
                          </a:solidFill>
                          <a:latin typeface="Assistant SemiBold" pitchFamily="2" charset="-79"/>
                          <a:ea typeface="Assistant"/>
                          <a:cs typeface="Assistant SemiBold" pitchFamily="2" charset="-79"/>
                          <a:sym typeface="Assistant"/>
                        </a:rPr>
                        <a:t>Recall</a:t>
                      </a:r>
                      <a:endParaRPr sz="1100" b="1" dirty="0">
                        <a:solidFill>
                          <a:schemeClr val="dk2"/>
                        </a:solidFill>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317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Medium"/>
                          <a:ea typeface="Assistant Medium"/>
                          <a:cs typeface="Assistant Medium"/>
                          <a:sym typeface="Assistant Medium"/>
                        </a:rPr>
                        <a:t>⬆️ </a:t>
                      </a:r>
                      <a:r>
                        <a:rPr lang="en" sz="1000" dirty="0">
                          <a:solidFill>
                            <a:schemeClr val="dk2"/>
                          </a:solidFill>
                          <a:latin typeface="Assistant SemiBold" pitchFamily="2" charset="-79"/>
                          <a:ea typeface="Assistant Medium"/>
                          <a:cs typeface="Assistant SemiBold" pitchFamily="2" charset="-79"/>
                          <a:sym typeface="Assistant Medium"/>
                        </a:rPr>
                        <a:t>+36.28%</a:t>
                      </a:r>
                      <a:endParaRPr sz="1000" dirty="0">
                        <a:solidFill>
                          <a:schemeClr val="dk2"/>
                        </a:solidFill>
                        <a:latin typeface="Assistant SemiBold" pitchFamily="2" charset="-79"/>
                        <a:ea typeface="Assistant Medium"/>
                        <a:cs typeface="Assistant SemiBold" pitchFamily="2" charset="-79"/>
                        <a:sym typeface="Assistant Medium"/>
                      </a:endParaRPr>
                    </a:p>
                  </a:txBody>
                  <a:tcPr marL="28575" marR="28575" marT="19050" marB="19050" anchor="b">
                    <a:lnL w="12700" cmpd="sng">
                      <a:noFill/>
                      <a:prstDash val="solid"/>
                    </a:lnL>
                    <a:lnR w="12700" cmpd="sng">
                      <a:noFill/>
                      <a:prstDash val="solid"/>
                    </a:lnR>
                    <a:lnT w="317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pitchFamily="2" charset="-79"/>
                          <a:ea typeface="Assistant Medium"/>
                          <a:cs typeface="Assistant" pitchFamily="2" charset="-79"/>
                          <a:sym typeface="Assistant Medium"/>
                        </a:rPr>
                        <a:t>Major Goal Achieved (</a:t>
                      </a:r>
                      <a:r>
                        <a:rPr lang="en" sz="1000" dirty="0">
                          <a:solidFill>
                            <a:schemeClr val="accent4"/>
                          </a:solidFill>
                          <a:latin typeface="Assistant" pitchFamily="2" charset="-79"/>
                          <a:ea typeface="Assistant Medium"/>
                          <a:cs typeface="Assistant" pitchFamily="2" charset="-79"/>
                          <a:sym typeface="Assistant Medium"/>
                        </a:rPr>
                        <a:t>Fewer Misses</a:t>
                      </a:r>
                      <a:r>
                        <a:rPr lang="en" sz="1000" dirty="0">
                          <a:solidFill>
                            <a:schemeClr val="dk2"/>
                          </a:solidFill>
                          <a:latin typeface="Assistant" pitchFamily="2" charset="-79"/>
                          <a:ea typeface="Assistant Medium"/>
                          <a:cs typeface="Assistant" pitchFamily="2" charset="-79"/>
                          <a:sym typeface="Assistant Medium"/>
                        </a:rPr>
                        <a:t>)</a:t>
                      </a:r>
                      <a:endParaRPr sz="1000" dirty="0">
                        <a:solidFill>
                          <a:schemeClr val="dk2"/>
                        </a:solidFill>
                        <a:latin typeface="Assistant" pitchFamily="2" charset="-79"/>
                        <a:ea typeface="Assistant Medium"/>
                        <a:cs typeface="Assistant" pitchFamily="2" charset="-79"/>
                        <a:sym typeface="Assistant Medium"/>
                      </a:endParaRPr>
                    </a:p>
                  </a:txBody>
                  <a:tcPr marL="28575" marR="28575" marT="19050" marB="19050" anchor="b">
                    <a:lnL w="12700" cmpd="sng">
                      <a:noFill/>
                      <a:prstDash val="solid"/>
                    </a:lnL>
                    <a:lnR w="12700" cmpd="sng">
                      <a:noFill/>
                      <a:prstDash val="solid"/>
                    </a:lnR>
                    <a:lnT w="317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39897">
                <a:tc>
                  <a:txBody>
                    <a:bodyPr/>
                    <a:lstStyle/>
                    <a:p>
                      <a:pPr marL="0" lvl="0" indent="0" algn="l" rtl="0">
                        <a:lnSpc>
                          <a:spcPct val="115000"/>
                        </a:lnSpc>
                        <a:spcBef>
                          <a:spcPts val="0"/>
                        </a:spcBef>
                        <a:spcAft>
                          <a:spcPts val="0"/>
                        </a:spcAft>
                        <a:buNone/>
                      </a:pPr>
                      <a:r>
                        <a:rPr lang="en" sz="1000" dirty="0">
                          <a:solidFill>
                            <a:srgbClr val="374151"/>
                          </a:solidFill>
                          <a:latin typeface="Assistant" pitchFamily="2" charset="-79"/>
                          <a:ea typeface="Assistant"/>
                          <a:cs typeface="Assistant" pitchFamily="2" charset="-79"/>
                          <a:sym typeface="Assistant"/>
                        </a:rPr>
                        <a:t>/Skewed/</a:t>
                      </a:r>
                      <a:endParaRPr sz="1000" dirty="0">
                        <a:solidFill>
                          <a:srgbClr val="374151"/>
                        </a:solidFill>
                        <a:latin typeface="Assistant" pitchFamily="2" charset="-79"/>
                        <a:ea typeface="Assistant"/>
                        <a:cs typeface="Assistant" pitchFamily="2" charset="-79"/>
                        <a:sym typeface="Assistant"/>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100" b="1" dirty="0">
                          <a:solidFill>
                            <a:schemeClr val="dk2"/>
                          </a:solidFill>
                          <a:latin typeface="Assistant SemiBold" pitchFamily="2" charset="-79"/>
                          <a:ea typeface="Assistant"/>
                          <a:cs typeface="Assistant SemiBold" pitchFamily="2" charset="-79"/>
                          <a:sym typeface="Assistant"/>
                        </a:rPr>
                        <a:t>Precision</a:t>
                      </a:r>
                      <a:endParaRPr sz="1100" b="1" dirty="0">
                        <a:solidFill>
                          <a:schemeClr val="dk2"/>
                        </a:solidFill>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Medium"/>
                          <a:ea typeface="Assistant Medium"/>
                          <a:cs typeface="Assistant Medium"/>
                          <a:sym typeface="Assistant Medium"/>
                        </a:rPr>
                        <a:t>⬇️ </a:t>
                      </a:r>
                      <a:r>
                        <a:rPr lang="en" sz="1000" dirty="0">
                          <a:solidFill>
                            <a:schemeClr val="dk2"/>
                          </a:solidFill>
                          <a:latin typeface="Assistant SemiBold" pitchFamily="2" charset="-79"/>
                          <a:ea typeface="Assistant Medium"/>
                          <a:cs typeface="Assistant SemiBold" pitchFamily="2" charset="-79"/>
                          <a:sym typeface="Assistant Medium"/>
                        </a:rPr>
                        <a:t>-18.85%</a:t>
                      </a:r>
                      <a:endParaRPr sz="1000" dirty="0">
                        <a:solidFill>
                          <a:schemeClr val="dk2"/>
                        </a:solidFill>
                        <a:latin typeface="Assistant SemiBold" pitchFamily="2" charset="-79"/>
                        <a:ea typeface="Assistant Medium"/>
                        <a:cs typeface="Assistant SemiBold" pitchFamily="2" charset="-79"/>
                        <a:sym typeface="Assistant Medium"/>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pitchFamily="2" charset="-79"/>
                          <a:ea typeface="Assistant Medium"/>
                          <a:cs typeface="Assistant" pitchFamily="2" charset="-79"/>
                          <a:sym typeface="Assistant Medium"/>
                        </a:rPr>
                        <a:t>Accepted trade-off for higher recall</a:t>
                      </a:r>
                      <a:endParaRPr sz="1000" dirty="0">
                        <a:solidFill>
                          <a:schemeClr val="dk2"/>
                        </a:solidFill>
                        <a:latin typeface="Assistant" pitchFamily="2" charset="-79"/>
                        <a:ea typeface="Assistant Medium"/>
                        <a:cs typeface="Assistant" pitchFamily="2" charset="-79"/>
                        <a:sym typeface="Assistant Medium"/>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07885">
                <a:tc>
                  <a:txBody>
                    <a:bodyPr/>
                    <a:lstStyle/>
                    <a:p>
                      <a:pPr marL="0" lvl="0" indent="0" algn="l" rtl="0">
                        <a:spcBef>
                          <a:spcPts val="0"/>
                        </a:spcBef>
                        <a:spcAft>
                          <a:spcPts val="0"/>
                        </a:spcAft>
                        <a:buNone/>
                      </a:pPr>
                      <a:endParaRPr sz="1500" dirty="0">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100" b="1" dirty="0">
                          <a:solidFill>
                            <a:schemeClr val="dk2"/>
                          </a:solidFill>
                          <a:latin typeface="Assistant SemiBold" pitchFamily="2" charset="-79"/>
                          <a:ea typeface="Assistant"/>
                          <a:cs typeface="Assistant SemiBold" pitchFamily="2" charset="-79"/>
                          <a:sym typeface="Assistant"/>
                        </a:rPr>
                        <a:t>F1-Score</a:t>
                      </a:r>
                      <a:endParaRPr sz="1100" b="1" dirty="0">
                        <a:solidFill>
                          <a:schemeClr val="dk2"/>
                        </a:solidFill>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Medium"/>
                          <a:ea typeface="Assistant Medium"/>
                          <a:cs typeface="Assistant Medium"/>
                          <a:sym typeface="Assistant Medium"/>
                        </a:rPr>
                        <a:t>⬆️ </a:t>
                      </a:r>
                      <a:r>
                        <a:rPr lang="en" sz="1000" dirty="0">
                          <a:solidFill>
                            <a:schemeClr val="dk2"/>
                          </a:solidFill>
                          <a:latin typeface="Assistant SemiBold" pitchFamily="2" charset="-79"/>
                          <a:ea typeface="Assistant Medium"/>
                          <a:cs typeface="Assistant SemiBold" pitchFamily="2" charset="-79"/>
                          <a:sym typeface="Assistant Medium"/>
                        </a:rPr>
                        <a:t>+5.96%</a:t>
                      </a:r>
                      <a:endParaRPr sz="1000" dirty="0">
                        <a:solidFill>
                          <a:schemeClr val="dk2"/>
                        </a:solidFill>
                        <a:latin typeface="Assistant SemiBold" pitchFamily="2" charset="-79"/>
                        <a:ea typeface="Assistant Medium"/>
                        <a:cs typeface="Assistant SemiBold" pitchFamily="2" charset="-79"/>
                        <a:sym typeface="Assistant Medium"/>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pitchFamily="2" charset="-79"/>
                          <a:ea typeface="Assistant Medium"/>
                          <a:cs typeface="Assistant" pitchFamily="2" charset="-79"/>
                          <a:sym typeface="Assistant Medium"/>
                        </a:rPr>
                        <a:t>Overall utility improved</a:t>
                      </a:r>
                      <a:endParaRPr sz="1000" dirty="0">
                        <a:solidFill>
                          <a:schemeClr val="dk2"/>
                        </a:solidFill>
                        <a:latin typeface="Assistant" pitchFamily="2" charset="-79"/>
                        <a:ea typeface="Assistant Medium"/>
                        <a:cs typeface="Assistant" pitchFamily="2" charset="-79"/>
                        <a:sym typeface="Assistant Medium"/>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07885">
                <a:tc>
                  <a:txBody>
                    <a:bodyPr/>
                    <a:lstStyle/>
                    <a:p>
                      <a:pPr marL="0" lvl="0" indent="0" algn="l" rtl="0">
                        <a:spcBef>
                          <a:spcPts val="0"/>
                        </a:spcBef>
                        <a:spcAft>
                          <a:spcPts val="0"/>
                        </a:spcAft>
                        <a:buNone/>
                      </a:pPr>
                      <a:endParaRPr sz="1500" dirty="0">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12700" cmpd="sng">
                      <a:noFill/>
                      <a:prstDash val="soli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100" b="1" dirty="0">
                          <a:solidFill>
                            <a:schemeClr val="dk2"/>
                          </a:solidFill>
                          <a:latin typeface="Assistant SemiBold" pitchFamily="2" charset="-79"/>
                          <a:ea typeface="Assistant"/>
                          <a:cs typeface="Assistant SemiBold" pitchFamily="2" charset="-79"/>
                          <a:sym typeface="Assistant"/>
                        </a:rPr>
                        <a:t>ROC-AUC</a:t>
                      </a:r>
                      <a:endParaRPr sz="1100" b="1" dirty="0">
                        <a:solidFill>
                          <a:schemeClr val="dk2"/>
                        </a:solidFill>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12700" cmpd="sng">
                      <a:noFill/>
                      <a:prstDash val="soli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Medium"/>
                          <a:ea typeface="Assistant Medium"/>
                          <a:cs typeface="Assistant Medium"/>
                          <a:sym typeface="Assistant Medium"/>
                        </a:rPr>
                        <a:t>⬆️ </a:t>
                      </a:r>
                      <a:r>
                        <a:rPr lang="en" sz="1000" dirty="0">
                          <a:solidFill>
                            <a:schemeClr val="dk2"/>
                          </a:solidFill>
                          <a:latin typeface="Assistant SemiBold" pitchFamily="2" charset="-79"/>
                          <a:ea typeface="Assistant Medium"/>
                          <a:cs typeface="Assistant SemiBold" pitchFamily="2" charset="-79"/>
                          <a:sym typeface="Assistant Medium"/>
                        </a:rPr>
                        <a:t>+0.48%</a:t>
                      </a:r>
                      <a:endParaRPr sz="1000" dirty="0">
                        <a:solidFill>
                          <a:schemeClr val="dk2"/>
                        </a:solidFill>
                        <a:latin typeface="Assistant SemiBold" pitchFamily="2" charset="-79"/>
                        <a:ea typeface="Assistant Medium"/>
                        <a:cs typeface="Assistant SemiBold" pitchFamily="2" charset="-79"/>
                        <a:sym typeface="Assistant Medium"/>
                      </a:endParaRPr>
                    </a:p>
                  </a:txBody>
                  <a:tcPr marL="28575" marR="28575" marT="19050" marB="19050" anchor="b">
                    <a:lnL w="12700" cmpd="sng">
                      <a:noFill/>
                      <a:prstDash val="solid"/>
                    </a:lnL>
                    <a:lnR w="12700" cmpd="sng">
                      <a:noFill/>
                      <a:prstDash val="solid"/>
                    </a:lnR>
                    <a:lnT w="12700" cmpd="sng">
                      <a:noFill/>
                      <a:prstDash val="soli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pitchFamily="2" charset="-79"/>
                          <a:ea typeface="Assistant Medium"/>
                          <a:cs typeface="Assistant" pitchFamily="2" charset="-79"/>
                          <a:sym typeface="Assistant Medium"/>
                        </a:rPr>
                        <a:t>Predictive power slightly improved</a:t>
                      </a:r>
                      <a:endParaRPr sz="1000" dirty="0">
                        <a:solidFill>
                          <a:schemeClr val="dk2"/>
                        </a:solidFill>
                        <a:latin typeface="Assistant" pitchFamily="2" charset="-79"/>
                        <a:ea typeface="Assistant Medium"/>
                        <a:cs typeface="Assistant" pitchFamily="2" charset="-79"/>
                        <a:sym typeface="Assistant Medium"/>
                      </a:endParaRPr>
                    </a:p>
                  </a:txBody>
                  <a:tcPr marL="28575" marR="28575" marT="19050" marB="19050" anchor="b">
                    <a:lnL w="12700" cmpd="sng">
                      <a:noFill/>
                      <a:prstDash val="solid"/>
                    </a:lnL>
                    <a:lnR w="12700" cmpd="sng">
                      <a:noFill/>
                      <a:prstDash val="solid"/>
                    </a:lnR>
                    <a:lnT w="12700" cmpd="sng">
                      <a:noFill/>
                      <a:prstDash val="soli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39897">
                <a:tc>
                  <a:txBody>
                    <a:bodyPr/>
                    <a:lstStyle/>
                    <a:p>
                      <a:pPr marL="0" lvl="0" indent="0" algn="l" rtl="0">
                        <a:lnSpc>
                          <a:spcPct val="115000"/>
                        </a:lnSpc>
                        <a:spcBef>
                          <a:spcPts val="0"/>
                        </a:spcBef>
                        <a:spcAft>
                          <a:spcPts val="0"/>
                        </a:spcAft>
                        <a:buNone/>
                      </a:pPr>
                      <a:r>
                        <a:rPr lang="en" sz="1100" b="1" dirty="0">
                          <a:solidFill>
                            <a:schemeClr val="accent4"/>
                          </a:solidFill>
                          <a:latin typeface="Assistant SemiBold" pitchFamily="2" charset="-79"/>
                          <a:ea typeface="Assistant"/>
                          <a:cs typeface="Assistant SemiBold" pitchFamily="2" charset="-79"/>
                          <a:sym typeface="Assistant"/>
                        </a:rPr>
                        <a:t>Seasonal</a:t>
                      </a:r>
                      <a:endParaRPr sz="1100" b="1" dirty="0">
                        <a:solidFill>
                          <a:schemeClr val="accent4"/>
                        </a:solidFill>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317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100" b="1" dirty="0">
                          <a:solidFill>
                            <a:schemeClr val="dk2"/>
                          </a:solidFill>
                          <a:latin typeface="Assistant SemiBold" pitchFamily="2" charset="-79"/>
                          <a:ea typeface="Assistant"/>
                          <a:cs typeface="Assistant SemiBold" pitchFamily="2" charset="-79"/>
                          <a:sym typeface="Assistant"/>
                        </a:rPr>
                        <a:t>Recall</a:t>
                      </a:r>
                      <a:endParaRPr sz="1100" b="1" dirty="0">
                        <a:solidFill>
                          <a:schemeClr val="dk2"/>
                        </a:solidFill>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317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Medium"/>
                          <a:ea typeface="Assistant Medium"/>
                          <a:cs typeface="Assistant Medium"/>
                          <a:sym typeface="Assistant Medium"/>
                        </a:rPr>
                        <a:t>➡️ </a:t>
                      </a:r>
                      <a:r>
                        <a:rPr lang="en" sz="1000" dirty="0">
                          <a:solidFill>
                            <a:schemeClr val="dk2"/>
                          </a:solidFill>
                          <a:latin typeface="Assistant SemiBold" pitchFamily="2" charset="-79"/>
                          <a:ea typeface="Assistant Medium"/>
                          <a:cs typeface="Assistant SemiBold" pitchFamily="2" charset="-79"/>
                          <a:sym typeface="Assistant Medium"/>
                        </a:rPr>
                        <a:t>-0.27%</a:t>
                      </a:r>
                      <a:endParaRPr sz="1000" dirty="0">
                        <a:solidFill>
                          <a:schemeClr val="dk2"/>
                        </a:solidFill>
                        <a:latin typeface="Assistant SemiBold" pitchFamily="2" charset="-79"/>
                        <a:ea typeface="Assistant Medium"/>
                        <a:cs typeface="Assistant SemiBold" pitchFamily="2" charset="-79"/>
                        <a:sym typeface="Assistant Medium"/>
                      </a:endParaRPr>
                    </a:p>
                  </a:txBody>
                  <a:tcPr marL="28575" marR="28575" marT="19050" marB="19050" anchor="b">
                    <a:lnL w="12700" cmpd="sng">
                      <a:noFill/>
                      <a:prstDash val="solid"/>
                    </a:lnL>
                    <a:lnR w="12700" cmpd="sng">
                      <a:noFill/>
                      <a:prstDash val="solid"/>
                    </a:lnR>
                    <a:lnT w="317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pitchFamily="2" charset="-79"/>
                          <a:ea typeface="Assistant Medium"/>
                          <a:cs typeface="Assistant" pitchFamily="2" charset="-79"/>
                          <a:sym typeface="Assistant Medium"/>
                        </a:rPr>
                        <a:t>Stable performance</a:t>
                      </a:r>
                      <a:endParaRPr sz="1000" dirty="0">
                        <a:solidFill>
                          <a:schemeClr val="dk2"/>
                        </a:solidFill>
                        <a:latin typeface="Assistant" pitchFamily="2" charset="-79"/>
                        <a:ea typeface="Assistant Medium"/>
                        <a:cs typeface="Assistant" pitchFamily="2" charset="-79"/>
                        <a:sym typeface="Assistant Medium"/>
                      </a:endParaRPr>
                    </a:p>
                  </a:txBody>
                  <a:tcPr marL="28575" marR="28575" marT="19050" marB="19050" anchor="b">
                    <a:lnL w="12700" cmpd="sng">
                      <a:noFill/>
                      <a:prstDash val="solid"/>
                    </a:lnL>
                    <a:lnR w="12700" cmpd="sng">
                      <a:noFill/>
                      <a:prstDash val="solid"/>
                    </a:lnR>
                    <a:lnT w="317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39897">
                <a:tc>
                  <a:txBody>
                    <a:bodyPr/>
                    <a:lstStyle/>
                    <a:p>
                      <a:pPr marL="0" lvl="0" indent="0" algn="l" rtl="0">
                        <a:lnSpc>
                          <a:spcPct val="115000"/>
                        </a:lnSpc>
                        <a:spcBef>
                          <a:spcPts val="0"/>
                        </a:spcBef>
                        <a:spcAft>
                          <a:spcPts val="0"/>
                        </a:spcAft>
                        <a:buNone/>
                      </a:pPr>
                      <a:r>
                        <a:rPr lang="en" sz="1000" dirty="0">
                          <a:solidFill>
                            <a:srgbClr val="374151"/>
                          </a:solidFill>
                          <a:latin typeface="Assistant" pitchFamily="2" charset="-79"/>
                          <a:ea typeface="Assistant"/>
                          <a:cs typeface="Assistant" pitchFamily="2" charset="-79"/>
                          <a:sym typeface="Assistant"/>
                        </a:rPr>
                        <a:t>/Balanced/</a:t>
                      </a:r>
                      <a:endParaRPr sz="1000" dirty="0">
                        <a:solidFill>
                          <a:srgbClr val="374151"/>
                        </a:solidFill>
                        <a:latin typeface="Assistant" pitchFamily="2" charset="-79"/>
                        <a:ea typeface="Assistant"/>
                        <a:cs typeface="Assistant" pitchFamily="2" charset="-79"/>
                        <a:sym typeface="Assistant"/>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100" b="1" dirty="0">
                          <a:solidFill>
                            <a:schemeClr val="dk2"/>
                          </a:solidFill>
                          <a:latin typeface="Assistant SemiBold" pitchFamily="2" charset="-79"/>
                          <a:ea typeface="Assistant"/>
                          <a:cs typeface="Assistant SemiBold" pitchFamily="2" charset="-79"/>
                          <a:sym typeface="Assistant"/>
                        </a:rPr>
                        <a:t>Precision</a:t>
                      </a:r>
                      <a:endParaRPr sz="1100" b="1" dirty="0">
                        <a:solidFill>
                          <a:schemeClr val="dk2"/>
                        </a:solidFill>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Medium"/>
                          <a:ea typeface="Assistant Medium"/>
                          <a:cs typeface="Assistant Medium"/>
                          <a:sym typeface="Assistant Medium"/>
                        </a:rPr>
                        <a:t>➡️ </a:t>
                      </a:r>
                      <a:r>
                        <a:rPr lang="en" sz="1000" dirty="0">
                          <a:solidFill>
                            <a:schemeClr val="dk2"/>
                          </a:solidFill>
                          <a:latin typeface="Assistant SemiBold" pitchFamily="2" charset="-79"/>
                          <a:ea typeface="Assistant Medium"/>
                          <a:cs typeface="Assistant SemiBold" pitchFamily="2" charset="-79"/>
                          <a:sym typeface="Assistant Medium"/>
                        </a:rPr>
                        <a:t>-0.46%</a:t>
                      </a:r>
                      <a:endParaRPr sz="1000" dirty="0">
                        <a:solidFill>
                          <a:schemeClr val="dk2"/>
                        </a:solidFill>
                        <a:latin typeface="Assistant SemiBold" pitchFamily="2" charset="-79"/>
                        <a:ea typeface="Assistant Medium"/>
                        <a:cs typeface="Assistant SemiBold" pitchFamily="2" charset="-79"/>
                        <a:sym typeface="Assistant Medium"/>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pitchFamily="2" charset="-79"/>
                          <a:ea typeface="Assistant Medium"/>
                          <a:cs typeface="Assistant" pitchFamily="2" charset="-79"/>
                          <a:sym typeface="Assistant Medium"/>
                        </a:rPr>
                        <a:t>Consistent precision</a:t>
                      </a:r>
                      <a:endParaRPr sz="1000" dirty="0">
                        <a:solidFill>
                          <a:schemeClr val="dk2"/>
                        </a:solidFill>
                        <a:latin typeface="Assistant" pitchFamily="2" charset="-79"/>
                        <a:ea typeface="Assistant Medium"/>
                        <a:cs typeface="Assistant" pitchFamily="2" charset="-79"/>
                        <a:sym typeface="Assistant Medium"/>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07885">
                <a:tc>
                  <a:txBody>
                    <a:bodyPr/>
                    <a:lstStyle/>
                    <a:p>
                      <a:pPr marL="0" lvl="0" indent="0" algn="l" rtl="0">
                        <a:spcBef>
                          <a:spcPts val="0"/>
                        </a:spcBef>
                        <a:spcAft>
                          <a:spcPts val="0"/>
                        </a:spcAft>
                        <a:buNone/>
                      </a:pPr>
                      <a:endParaRPr>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100" b="1" dirty="0">
                          <a:solidFill>
                            <a:schemeClr val="dk2"/>
                          </a:solidFill>
                          <a:latin typeface="Assistant SemiBold" pitchFamily="2" charset="-79"/>
                          <a:ea typeface="Assistant"/>
                          <a:cs typeface="Assistant SemiBold" pitchFamily="2" charset="-79"/>
                          <a:sym typeface="Assistant"/>
                        </a:rPr>
                        <a:t>F1-Score</a:t>
                      </a:r>
                      <a:endParaRPr sz="1100" b="1" dirty="0">
                        <a:solidFill>
                          <a:schemeClr val="dk2"/>
                        </a:solidFill>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Medium"/>
                          <a:ea typeface="Assistant Medium"/>
                          <a:cs typeface="Assistant Medium"/>
                          <a:sym typeface="Assistant Medium"/>
                        </a:rPr>
                        <a:t>➡️ </a:t>
                      </a:r>
                      <a:r>
                        <a:rPr lang="en" sz="1000" dirty="0">
                          <a:solidFill>
                            <a:schemeClr val="dk2"/>
                          </a:solidFill>
                          <a:latin typeface="Assistant SemiBold" pitchFamily="2" charset="-79"/>
                          <a:ea typeface="Assistant Medium"/>
                          <a:cs typeface="Assistant SemiBold" pitchFamily="2" charset="-79"/>
                          <a:sym typeface="Assistant Medium"/>
                        </a:rPr>
                        <a:t>-0.36%</a:t>
                      </a:r>
                      <a:endParaRPr sz="1000" dirty="0">
                        <a:solidFill>
                          <a:schemeClr val="dk2"/>
                        </a:solidFill>
                        <a:latin typeface="Assistant SemiBold" pitchFamily="2" charset="-79"/>
                        <a:ea typeface="Assistant Medium"/>
                        <a:cs typeface="Assistant SemiBold" pitchFamily="2" charset="-79"/>
                        <a:sym typeface="Assistant Medium"/>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pitchFamily="2" charset="-79"/>
                          <a:ea typeface="Assistant Medium"/>
                          <a:cs typeface="Assistant" pitchFamily="2" charset="-79"/>
                          <a:sym typeface="Assistant Medium"/>
                        </a:rPr>
                        <a:t>Consistent utility</a:t>
                      </a:r>
                      <a:endParaRPr sz="1000" dirty="0">
                        <a:solidFill>
                          <a:schemeClr val="dk2"/>
                        </a:solidFill>
                        <a:latin typeface="Assistant" pitchFamily="2" charset="-79"/>
                        <a:ea typeface="Assistant Medium"/>
                        <a:cs typeface="Assistant" pitchFamily="2" charset="-79"/>
                        <a:sym typeface="Assistant Medium"/>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407885">
                <a:tc>
                  <a:txBody>
                    <a:bodyPr/>
                    <a:lstStyle/>
                    <a:p>
                      <a:pPr marL="0" lvl="0" indent="0" algn="l" rtl="0">
                        <a:spcBef>
                          <a:spcPts val="0"/>
                        </a:spcBef>
                        <a:spcAft>
                          <a:spcPts val="0"/>
                        </a:spcAft>
                        <a:buNone/>
                      </a:pPr>
                      <a:endParaRPr dirty="0">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100" b="1" dirty="0">
                          <a:solidFill>
                            <a:schemeClr val="dk2"/>
                          </a:solidFill>
                          <a:latin typeface="Assistant SemiBold" pitchFamily="2" charset="-79"/>
                          <a:ea typeface="Assistant"/>
                          <a:cs typeface="Assistant SemiBold" pitchFamily="2" charset="-79"/>
                          <a:sym typeface="Assistant"/>
                        </a:rPr>
                        <a:t>ROC-AUC</a:t>
                      </a:r>
                      <a:endParaRPr sz="1100" b="1" dirty="0">
                        <a:solidFill>
                          <a:schemeClr val="dk2"/>
                        </a:solidFill>
                        <a:latin typeface="Assistant SemiBold" pitchFamily="2" charset="-79"/>
                        <a:ea typeface="Assistant"/>
                        <a:cs typeface="Assistant SemiBold" pitchFamily="2" charset="-79"/>
                        <a:sym typeface="Assistant"/>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Medium"/>
                          <a:ea typeface="Assistant Medium"/>
                          <a:cs typeface="Assistant Medium"/>
                          <a:sym typeface="Assistant Medium"/>
                        </a:rPr>
                        <a:t>➡️ </a:t>
                      </a:r>
                      <a:r>
                        <a:rPr lang="en" sz="1000" dirty="0">
                          <a:solidFill>
                            <a:schemeClr val="dk2"/>
                          </a:solidFill>
                          <a:latin typeface="Assistant SemiBold" pitchFamily="2" charset="-79"/>
                          <a:ea typeface="Assistant Medium"/>
                          <a:cs typeface="Assistant SemiBold" pitchFamily="2" charset="-79"/>
                          <a:sym typeface="Assistant Medium"/>
                        </a:rPr>
                        <a:t>+0.27%</a:t>
                      </a:r>
                      <a:endParaRPr sz="1000" dirty="0">
                        <a:solidFill>
                          <a:schemeClr val="dk2"/>
                        </a:solidFill>
                        <a:latin typeface="Assistant SemiBold" pitchFamily="2" charset="-79"/>
                        <a:ea typeface="Assistant Medium"/>
                        <a:cs typeface="Assistant SemiBold" pitchFamily="2" charset="-79"/>
                        <a:sym typeface="Assistant Medium"/>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 sz="1000" dirty="0">
                          <a:solidFill>
                            <a:schemeClr val="dk2"/>
                          </a:solidFill>
                          <a:latin typeface="Assistant" pitchFamily="2" charset="-79"/>
                          <a:ea typeface="Assistant Medium"/>
                          <a:cs typeface="Assistant" pitchFamily="2" charset="-79"/>
                          <a:sym typeface="Assistant Medium"/>
                        </a:rPr>
                        <a:t>Predictive power consistent</a:t>
                      </a:r>
                      <a:endParaRPr sz="1000" dirty="0">
                        <a:solidFill>
                          <a:schemeClr val="dk2"/>
                        </a:solidFill>
                        <a:latin typeface="Assistant" pitchFamily="2" charset="-79"/>
                        <a:ea typeface="Assistant Medium"/>
                        <a:cs typeface="Assistant" pitchFamily="2" charset="-79"/>
                        <a:sym typeface="Assistant Medium"/>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
        <p:nvSpPr>
          <p:cNvPr id="222" name="Google Shape;222;p28"/>
          <p:cNvSpPr/>
          <p:nvPr/>
        </p:nvSpPr>
        <p:spPr>
          <a:xfrm>
            <a:off x="3276525" y="1859200"/>
            <a:ext cx="838200" cy="1913400"/>
          </a:xfrm>
          <a:prstGeom prst="rightArrow">
            <a:avLst>
              <a:gd name="adj1" fmla="val 50000"/>
              <a:gd name="adj2" fmla="val 50000"/>
            </a:avLst>
          </a:prstGeom>
          <a:solidFill>
            <a:schemeClr val="accent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pic>
        <p:nvPicPr>
          <p:cNvPr id="223" name="Google Shape;223;p28"/>
          <p:cNvPicPr preferRelativeResize="0"/>
          <p:nvPr/>
        </p:nvPicPr>
        <p:blipFill>
          <a:blip r:embed="rId3">
            <a:alphaModFix/>
          </a:blip>
          <a:stretch>
            <a:fillRect/>
          </a:stretch>
        </p:blipFill>
        <p:spPr>
          <a:xfrm>
            <a:off x="3408368" y="2604163"/>
            <a:ext cx="423473" cy="423474"/>
          </a:xfrm>
          <a:prstGeom prst="rect">
            <a:avLst/>
          </a:prstGeom>
          <a:noFill/>
          <a:ln>
            <a:noFill/>
          </a:ln>
        </p:spPr>
      </p:pic>
      <p:sp>
        <p:nvSpPr>
          <p:cNvPr id="224" name="Google Shape;224;p28"/>
          <p:cNvSpPr/>
          <p:nvPr/>
        </p:nvSpPr>
        <p:spPr>
          <a:xfrm>
            <a:off x="5144925" y="1416700"/>
            <a:ext cx="1595400" cy="184787"/>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225" name="Google Shape;225;p28"/>
          <p:cNvSpPr/>
          <p:nvPr/>
        </p:nvSpPr>
        <p:spPr>
          <a:xfrm>
            <a:off x="5144925" y="1761062"/>
            <a:ext cx="1595400" cy="184787"/>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226" name="Google Shape;226;p28"/>
          <p:cNvSpPr/>
          <p:nvPr/>
        </p:nvSpPr>
        <p:spPr>
          <a:xfrm>
            <a:off x="5144925" y="2167763"/>
            <a:ext cx="1595400" cy="184787"/>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9"/>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SzPts val="990"/>
              <a:buNone/>
            </a:pPr>
            <a:r>
              <a:rPr lang="en" sz="2420">
                <a:solidFill>
                  <a:schemeClr val="dk2"/>
                </a:solidFill>
              </a:rPr>
              <a:t>Feature Importance Analysis (SHAP): Top 10</a:t>
            </a:r>
            <a:endParaRPr sz="2420">
              <a:solidFill>
                <a:schemeClr val="dk2"/>
              </a:solidFill>
            </a:endParaRPr>
          </a:p>
        </p:txBody>
      </p:sp>
      <p:sp>
        <p:nvSpPr>
          <p:cNvPr id="232" name="Google Shape;232;p2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9</a:t>
            </a:fld>
            <a:endParaRPr/>
          </a:p>
        </p:txBody>
      </p:sp>
      <p:pic>
        <p:nvPicPr>
          <p:cNvPr id="233" name="Google Shape;233;p29"/>
          <p:cNvPicPr preferRelativeResize="0"/>
          <p:nvPr/>
        </p:nvPicPr>
        <p:blipFill rotWithShape="1">
          <a:blip r:embed="rId3">
            <a:alphaModFix/>
          </a:blip>
          <a:srcRect l="37374" t="11909"/>
          <a:stretch/>
        </p:blipFill>
        <p:spPr>
          <a:xfrm>
            <a:off x="1835525" y="1346600"/>
            <a:ext cx="2458250" cy="3455802"/>
          </a:xfrm>
          <a:prstGeom prst="rect">
            <a:avLst/>
          </a:prstGeom>
          <a:noFill/>
          <a:ln>
            <a:noFill/>
          </a:ln>
        </p:spPr>
      </p:pic>
      <p:pic>
        <p:nvPicPr>
          <p:cNvPr id="234" name="Google Shape;234;p29"/>
          <p:cNvPicPr preferRelativeResize="0"/>
          <p:nvPr/>
        </p:nvPicPr>
        <p:blipFill rotWithShape="1">
          <a:blip r:embed="rId4">
            <a:alphaModFix/>
          </a:blip>
          <a:srcRect l="35687" t="11909"/>
          <a:stretch/>
        </p:blipFill>
        <p:spPr>
          <a:xfrm>
            <a:off x="5884225" y="1346600"/>
            <a:ext cx="2591675" cy="3455802"/>
          </a:xfrm>
          <a:prstGeom prst="rect">
            <a:avLst/>
          </a:prstGeom>
          <a:noFill/>
          <a:ln>
            <a:noFill/>
          </a:ln>
        </p:spPr>
      </p:pic>
      <p:sp>
        <p:nvSpPr>
          <p:cNvPr id="235" name="Google Shape;235;p29"/>
          <p:cNvSpPr txBox="1"/>
          <p:nvPr/>
        </p:nvSpPr>
        <p:spPr>
          <a:xfrm>
            <a:off x="295528" y="1207222"/>
            <a:ext cx="1513200" cy="3084300"/>
          </a:xfrm>
          <a:prstGeom prst="rect">
            <a:avLst/>
          </a:prstGeom>
          <a:noFill/>
          <a:ln>
            <a:noFill/>
          </a:ln>
        </p:spPr>
        <p:txBody>
          <a:bodyPr spcFirstLastPara="1" wrap="square" lIns="91425" tIns="91425" rIns="91425" bIns="91425" anchor="t" anchorCtr="0">
            <a:noAutofit/>
          </a:bodyPr>
          <a:lstStyle/>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Doc.recom. H1N1</a:t>
            </a:r>
            <a:endParaRPr sz="900" dirty="0">
              <a:solidFill>
                <a:schemeClr val="dk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accent5"/>
                </a:solidFill>
                <a:latin typeface="Assistant"/>
                <a:ea typeface="Assistant"/>
                <a:cs typeface="Assistant"/>
                <a:sym typeface="Assistant"/>
              </a:rPr>
              <a:t>Health Insur. </a:t>
            </a:r>
            <a:endParaRPr sz="900" dirty="0">
              <a:solidFill>
                <a:schemeClr val="accent5"/>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Opp.: H1N1-Vac is Effective</a:t>
            </a:r>
            <a:endParaRPr sz="900" dirty="0">
              <a:solidFill>
                <a:schemeClr val="dk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Opp.: Risk if no H1N1-Vac</a:t>
            </a:r>
            <a:endParaRPr sz="900" dirty="0">
              <a:solidFill>
                <a:schemeClr val="dk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accent5"/>
                </a:solidFill>
                <a:latin typeface="Assistant"/>
                <a:ea typeface="Assistant"/>
                <a:cs typeface="Assistant"/>
                <a:sym typeface="Assistant"/>
              </a:rPr>
              <a:t>- Health Insur. (unreported):</a:t>
            </a:r>
            <a:endParaRPr sz="900" dirty="0">
              <a:solidFill>
                <a:schemeClr val="accent5"/>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accent4"/>
                </a:solidFill>
                <a:latin typeface="Assistant"/>
                <a:ea typeface="Assistant"/>
                <a:cs typeface="Assistant"/>
                <a:sym typeface="Assistant"/>
              </a:rPr>
              <a:t>Pro-Vac Att. H1N1</a:t>
            </a:r>
            <a:endParaRPr sz="900" dirty="0">
              <a:solidFill>
                <a:schemeClr val="accent4"/>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accent1"/>
                </a:solidFill>
                <a:latin typeface="Assistant"/>
                <a:ea typeface="Assistant"/>
                <a:cs typeface="Assistant"/>
                <a:sym typeface="Assistant"/>
              </a:rPr>
              <a:t>Age</a:t>
            </a:r>
            <a:endParaRPr sz="900" dirty="0">
              <a:solidFill>
                <a:schemeClr val="accent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-Opp.: Sick from H1N1-Vac</a:t>
            </a:r>
            <a:endParaRPr sz="900" dirty="0">
              <a:solidFill>
                <a:schemeClr val="dk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Pro-Vac Att. Seas.Flu</a:t>
            </a:r>
            <a:endParaRPr sz="900" dirty="0">
              <a:solidFill>
                <a:schemeClr val="dk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Male Sex</a:t>
            </a:r>
            <a:endParaRPr sz="900" dirty="0">
              <a:solidFill>
                <a:schemeClr val="dk1"/>
              </a:solidFill>
              <a:latin typeface="Assistant"/>
              <a:ea typeface="Assistant"/>
              <a:cs typeface="Assistant"/>
              <a:sym typeface="Assistant"/>
            </a:endParaRPr>
          </a:p>
        </p:txBody>
      </p:sp>
      <p:sp>
        <p:nvSpPr>
          <p:cNvPr id="236" name="Google Shape;236;p29"/>
          <p:cNvSpPr txBox="1"/>
          <p:nvPr/>
        </p:nvSpPr>
        <p:spPr>
          <a:xfrm>
            <a:off x="4329126" y="1207343"/>
            <a:ext cx="1605000" cy="3084300"/>
          </a:xfrm>
          <a:prstGeom prst="rect">
            <a:avLst/>
          </a:prstGeom>
          <a:noFill/>
          <a:ln>
            <a:noFill/>
          </a:ln>
        </p:spPr>
        <p:txBody>
          <a:bodyPr spcFirstLastPara="1" wrap="square" lIns="91425" tIns="91425" rIns="91425" bIns="91425" anchor="t" anchorCtr="0">
            <a:noAutofit/>
          </a:bodyPr>
          <a:lstStyle/>
          <a:p>
            <a:pPr marL="0" lvl="0" indent="0" algn="r" rtl="0">
              <a:lnSpc>
                <a:spcPct val="215000"/>
              </a:lnSpc>
              <a:spcBef>
                <a:spcPts val="0"/>
              </a:spcBef>
              <a:spcAft>
                <a:spcPts val="0"/>
              </a:spcAft>
              <a:buNone/>
            </a:pPr>
            <a:r>
              <a:rPr lang="en" sz="900" dirty="0">
                <a:solidFill>
                  <a:schemeClr val="accent4"/>
                </a:solidFill>
                <a:latin typeface="Assistant"/>
                <a:ea typeface="Assistant"/>
                <a:cs typeface="Assistant"/>
                <a:sym typeface="Assistant"/>
              </a:rPr>
              <a:t>Pro-Vac Att. Seas. Flu</a:t>
            </a:r>
            <a:endParaRPr sz="900" dirty="0">
              <a:solidFill>
                <a:schemeClr val="accent4"/>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Doc.recom. Seas. Flu</a:t>
            </a:r>
            <a:endParaRPr sz="900" dirty="0">
              <a:solidFill>
                <a:schemeClr val="dk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accent1"/>
                </a:solidFill>
                <a:latin typeface="Assistant"/>
                <a:ea typeface="Assistant"/>
                <a:cs typeface="Assistant"/>
                <a:sym typeface="Assistant"/>
              </a:rPr>
              <a:t>Age </a:t>
            </a:r>
            <a:endParaRPr sz="900" dirty="0">
              <a:solidFill>
                <a:schemeClr val="accent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Opp.: Seas.Flu-Vac is Effective</a:t>
            </a:r>
            <a:endParaRPr sz="900" dirty="0">
              <a:solidFill>
                <a:schemeClr val="dk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Opp.: Risk if no Seas.Flu-Vac</a:t>
            </a:r>
            <a:endParaRPr sz="900" dirty="0">
              <a:solidFill>
                <a:schemeClr val="dk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accent5"/>
                </a:solidFill>
                <a:latin typeface="Assistant"/>
                <a:ea typeface="Assistant"/>
                <a:cs typeface="Assistant"/>
                <a:sym typeface="Assistant"/>
              </a:rPr>
              <a:t>Health Insur.</a:t>
            </a:r>
            <a:endParaRPr sz="900" dirty="0">
              <a:solidFill>
                <a:schemeClr val="accent5"/>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Pro-Vac Att. H1N1+Doc.recom.</a:t>
            </a:r>
            <a:endParaRPr sz="900" dirty="0">
              <a:solidFill>
                <a:schemeClr val="dk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-Opp.: Sick from Seas.Flu-Vac</a:t>
            </a:r>
            <a:endParaRPr sz="900" dirty="0">
              <a:solidFill>
                <a:schemeClr val="dk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H1N1 Knowledge</a:t>
            </a:r>
            <a:endParaRPr sz="900" dirty="0">
              <a:solidFill>
                <a:schemeClr val="dk1"/>
              </a:solidFill>
              <a:latin typeface="Assistant"/>
              <a:ea typeface="Assistant"/>
              <a:cs typeface="Assistant"/>
              <a:sym typeface="Assistant"/>
            </a:endParaRPr>
          </a:p>
          <a:p>
            <a:pPr marL="0" lvl="0" indent="0" algn="r" rtl="0">
              <a:lnSpc>
                <a:spcPct val="215000"/>
              </a:lnSpc>
              <a:spcBef>
                <a:spcPts val="0"/>
              </a:spcBef>
              <a:spcAft>
                <a:spcPts val="0"/>
              </a:spcAft>
              <a:buNone/>
            </a:pPr>
            <a:r>
              <a:rPr lang="en" sz="900" dirty="0">
                <a:solidFill>
                  <a:schemeClr val="dk1"/>
                </a:solidFill>
                <a:latin typeface="Assistant"/>
                <a:ea typeface="Assistant"/>
                <a:cs typeface="Assistant"/>
                <a:sym typeface="Assistant"/>
              </a:rPr>
              <a:t>Education</a:t>
            </a:r>
            <a:endParaRPr sz="900" dirty="0">
              <a:solidFill>
                <a:schemeClr val="dk1"/>
              </a:solidFill>
              <a:latin typeface="Assistant"/>
              <a:ea typeface="Assistant"/>
              <a:cs typeface="Assistant"/>
              <a:sym typeface="Assistant"/>
            </a:endParaRPr>
          </a:p>
        </p:txBody>
      </p:sp>
      <p:sp>
        <p:nvSpPr>
          <p:cNvPr id="237" name="Google Shape;237;p29"/>
          <p:cNvSpPr txBox="1"/>
          <p:nvPr/>
        </p:nvSpPr>
        <p:spPr>
          <a:xfrm>
            <a:off x="1763175" y="915600"/>
            <a:ext cx="2310600" cy="37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ssistant SemiBold"/>
                <a:ea typeface="Assistant SemiBold"/>
                <a:cs typeface="Assistant SemiBold"/>
                <a:sym typeface="Assistant SemiBold"/>
              </a:rPr>
              <a:t>H1N1 Model Feature Importance</a:t>
            </a:r>
            <a:endParaRPr sz="1200">
              <a:solidFill>
                <a:schemeClr val="dk1"/>
              </a:solidFill>
              <a:latin typeface="Assistant SemiBold"/>
              <a:ea typeface="Assistant SemiBold"/>
              <a:cs typeface="Assistant SemiBold"/>
              <a:sym typeface="Assistant SemiBold"/>
            </a:endParaRPr>
          </a:p>
        </p:txBody>
      </p:sp>
      <p:sp>
        <p:nvSpPr>
          <p:cNvPr id="238" name="Google Shape;238;p29"/>
          <p:cNvSpPr txBox="1"/>
          <p:nvPr/>
        </p:nvSpPr>
        <p:spPr>
          <a:xfrm>
            <a:off x="5796325" y="915600"/>
            <a:ext cx="2776200" cy="37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ssistant SemiBold"/>
                <a:ea typeface="Assistant SemiBold"/>
                <a:cs typeface="Assistant SemiBold"/>
                <a:sym typeface="Assistant SemiBold"/>
              </a:rPr>
              <a:t>Seasonal Flu Model Feature Importance</a:t>
            </a:r>
            <a:endParaRPr sz="1200">
              <a:solidFill>
                <a:schemeClr val="dk1"/>
              </a:solidFill>
              <a:latin typeface="Assistant SemiBold"/>
              <a:ea typeface="Assistant SemiBold"/>
              <a:cs typeface="Assistant SemiBold"/>
              <a:sym typeface="Assistant SemiBold"/>
            </a:endParaRPr>
          </a:p>
        </p:txBody>
      </p:sp>
      <p:pic>
        <p:nvPicPr>
          <p:cNvPr id="239" name="Google Shape;239;p29"/>
          <p:cNvPicPr preferRelativeResize="0"/>
          <p:nvPr/>
        </p:nvPicPr>
        <p:blipFill>
          <a:blip r:embed="rId5">
            <a:alphaModFix/>
          </a:blip>
          <a:stretch>
            <a:fillRect/>
          </a:stretch>
        </p:blipFill>
        <p:spPr>
          <a:xfrm>
            <a:off x="5278338" y="923138"/>
            <a:ext cx="423473" cy="423474"/>
          </a:xfrm>
          <a:prstGeom prst="rect">
            <a:avLst/>
          </a:prstGeom>
          <a:noFill/>
          <a:ln>
            <a:noFill/>
          </a:ln>
        </p:spPr>
      </p:pic>
      <p:pic>
        <p:nvPicPr>
          <p:cNvPr id="240" name="Google Shape;240;p29"/>
          <p:cNvPicPr preferRelativeResize="0"/>
          <p:nvPr/>
        </p:nvPicPr>
        <p:blipFill>
          <a:blip r:embed="rId6">
            <a:alphaModFix/>
          </a:blip>
          <a:stretch>
            <a:fillRect/>
          </a:stretch>
        </p:blipFill>
        <p:spPr>
          <a:xfrm>
            <a:off x="1222345" y="923138"/>
            <a:ext cx="423473" cy="423474"/>
          </a:xfrm>
          <a:prstGeom prst="rect">
            <a:avLst/>
          </a:prstGeom>
          <a:noFill/>
          <a:ln>
            <a:noFill/>
          </a:ln>
        </p:spPr>
      </p:pic>
      <p:cxnSp>
        <p:nvCxnSpPr>
          <p:cNvPr id="241" name="Google Shape;241;p29"/>
          <p:cNvCxnSpPr/>
          <p:nvPr/>
        </p:nvCxnSpPr>
        <p:spPr>
          <a:xfrm rot="-5400000" flipH="1">
            <a:off x="2333525" y="3100400"/>
            <a:ext cx="600" cy="6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242" name="Google Shape;242;p29"/>
          <p:cNvCxnSpPr>
            <a:cxnSpLocks/>
          </p:cNvCxnSpPr>
          <p:nvPr/>
        </p:nvCxnSpPr>
        <p:spPr>
          <a:xfrm flipV="1">
            <a:off x="2347850" y="1488300"/>
            <a:ext cx="2430538" cy="1497650"/>
          </a:xfrm>
          <a:prstGeom prst="curvedConnector3">
            <a:avLst>
              <a:gd name="adj1" fmla="val 50000"/>
            </a:avLst>
          </a:prstGeom>
          <a:noFill/>
          <a:ln w="9525" cap="flat" cmpd="sng">
            <a:solidFill>
              <a:schemeClr val="accent4"/>
            </a:solidFill>
            <a:prstDash val="solid"/>
            <a:round/>
            <a:headEnd type="none" w="med" len="med"/>
            <a:tailEnd type="none" w="med" len="med"/>
          </a:ln>
        </p:spPr>
      </p:cxnSp>
      <p:cxnSp>
        <p:nvCxnSpPr>
          <p:cNvPr id="243" name="Google Shape;243;p29"/>
          <p:cNvCxnSpPr>
            <a:cxnSpLocks/>
          </p:cNvCxnSpPr>
          <p:nvPr/>
        </p:nvCxnSpPr>
        <p:spPr>
          <a:xfrm flipV="1">
            <a:off x="2320138" y="2080009"/>
            <a:ext cx="3302088" cy="1223763"/>
          </a:xfrm>
          <a:prstGeom prst="curvedConnector3">
            <a:avLst>
              <a:gd name="adj1" fmla="val 50000"/>
            </a:avLst>
          </a:prstGeom>
          <a:noFill/>
          <a:ln w="9525" cap="flat" cmpd="sng">
            <a:solidFill>
              <a:schemeClr val="accent1"/>
            </a:solidFill>
            <a:prstDash val="solid"/>
            <a:round/>
            <a:headEnd type="none" w="med" len="med"/>
            <a:tailEnd type="none" w="med" len="med"/>
          </a:ln>
        </p:spPr>
      </p:cxnSp>
      <p:cxnSp>
        <p:nvCxnSpPr>
          <p:cNvPr id="244" name="Google Shape;244;p29"/>
          <p:cNvCxnSpPr>
            <a:cxnSpLocks/>
          </p:cNvCxnSpPr>
          <p:nvPr/>
        </p:nvCxnSpPr>
        <p:spPr>
          <a:xfrm>
            <a:off x="3259776" y="1788266"/>
            <a:ext cx="1920874" cy="1174096"/>
          </a:xfrm>
          <a:prstGeom prst="curvedConnector3">
            <a:avLst>
              <a:gd name="adj1" fmla="val 50000"/>
            </a:avLst>
          </a:prstGeom>
          <a:noFill/>
          <a:ln w="9525" cap="flat" cmpd="sng">
            <a:solidFill>
              <a:schemeClr val="accent5"/>
            </a:solidFill>
            <a:prstDash val="solid"/>
            <a:round/>
            <a:headEnd type="none" w="med" len="med"/>
            <a:tailEnd type="none" w="med" len="med"/>
          </a:ln>
        </p:spPr>
      </p:cxnSp>
      <p:cxnSp>
        <p:nvCxnSpPr>
          <p:cNvPr id="245" name="Google Shape;245;p29"/>
          <p:cNvCxnSpPr>
            <a:cxnSpLocks/>
          </p:cNvCxnSpPr>
          <p:nvPr/>
        </p:nvCxnSpPr>
        <p:spPr>
          <a:xfrm>
            <a:off x="3034600" y="2671175"/>
            <a:ext cx="2146050" cy="291187"/>
          </a:xfrm>
          <a:prstGeom prst="curvedConnector3">
            <a:avLst>
              <a:gd name="adj1" fmla="val 50000"/>
            </a:avLst>
          </a:prstGeom>
          <a:noFill/>
          <a:ln w="9525" cap="flat" cmpd="sng">
            <a:solidFill>
              <a:schemeClr val="accent5"/>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0"/>
          <p:cNvSpPr txBox="1">
            <a:spLocks noGrp="1"/>
          </p:cNvSpPr>
          <p:nvPr>
            <p:ph type="title"/>
          </p:nvPr>
        </p:nvSpPr>
        <p:spPr>
          <a:xfrm>
            <a:off x="311700" y="342900"/>
            <a:ext cx="8154900" cy="578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dk2"/>
                </a:solidFill>
              </a:rPr>
              <a:t>Model Performance and Deployment</a:t>
            </a:r>
            <a:endParaRPr dirty="0">
              <a:solidFill>
                <a:schemeClr val="dk2"/>
              </a:solidFill>
            </a:endParaRPr>
          </a:p>
        </p:txBody>
      </p:sp>
      <p:sp>
        <p:nvSpPr>
          <p:cNvPr id="251" name="Google Shape;251;p30"/>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10</a:t>
            </a:fld>
            <a:endParaRPr/>
          </a:p>
        </p:txBody>
      </p:sp>
      <p:pic>
        <p:nvPicPr>
          <p:cNvPr id="252" name="Google Shape;252;p30"/>
          <p:cNvPicPr preferRelativeResize="0"/>
          <p:nvPr/>
        </p:nvPicPr>
        <p:blipFill>
          <a:blip r:embed="rId3">
            <a:alphaModFix/>
          </a:blip>
          <a:stretch>
            <a:fillRect/>
          </a:stretch>
        </p:blipFill>
        <p:spPr>
          <a:xfrm>
            <a:off x="3534738" y="921173"/>
            <a:ext cx="2074518" cy="3841501"/>
          </a:xfrm>
          <a:prstGeom prst="rect">
            <a:avLst/>
          </a:prstGeom>
          <a:noFill/>
          <a:ln>
            <a:solidFill>
              <a:schemeClr val="accent1"/>
            </a:solidFill>
          </a:ln>
        </p:spPr>
      </p:pic>
      <p:sp>
        <p:nvSpPr>
          <p:cNvPr id="253" name="Google Shape;253;p30"/>
          <p:cNvSpPr txBox="1">
            <a:spLocks noGrp="1"/>
          </p:cNvSpPr>
          <p:nvPr>
            <p:ph type="body" idx="1"/>
          </p:nvPr>
        </p:nvSpPr>
        <p:spPr>
          <a:xfrm>
            <a:off x="311700" y="921175"/>
            <a:ext cx="2934300" cy="3841500"/>
          </a:xfrm>
          <a:prstGeom prst="rect">
            <a:avLst/>
          </a:prstGeom>
          <a:solidFill>
            <a:schemeClr val="accent3"/>
          </a:solidFill>
        </p:spPr>
        <p:txBody>
          <a:bodyPr spcFirstLastPara="1" wrap="square" lIns="91425" tIns="91425" rIns="91425" bIns="91425" anchor="t" anchorCtr="0">
            <a:normAutofit/>
          </a:bodyPr>
          <a:lstStyle/>
          <a:p>
            <a:pPr marL="0" lvl="0" indent="0" algn="l" rtl="0">
              <a:spcBef>
                <a:spcPts val="0"/>
              </a:spcBef>
              <a:spcAft>
                <a:spcPts val="0"/>
              </a:spcAft>
              <a:buNone/>
            </a:pPr>
            <a:r>
              <a:rPr lang="en" b="1" dirty="0">
                <a:latin typeface="Assistant SemiBold" pitchFamily="2" charset="-79"/>
                <a:cs typeface="Assistant SemiBold" pitchFamily="2" charset="-79"/>
              </a:rPr>
              <a:t>Full feature models </a:t>
            </a:r>
            <a:r>
              <a:rPr lang="en" dirty="0"/>
              <a:t>achieve averaged </a:t>
            </a:r>
          </a:p>
          <a:p>
            <a:pPr marL="0" lvl="0" indent="0" algn="l" rtl="0">
              <a:spcBef>
                <a:spcPts val="0"/>
              </a:spcBef>
              <a:spcAft>
                <a:spcPts val="0"/>
              </a:spcAft>
              <a:buNone/>
            </a:pPr>
            <a:r>
              <a:rPr lang="en" dirty="0">
                <a:solidFill>
                  <a:schemeClr val="accent4"/>
                </a:solidFill>
              </a:rPr>
              <a:t>ROC-AUC</a:t>
            </a:r>
            <a:r>
              <a:rPr lang="en" b="1" dirty="0"/>
              <a:t> </a:t>
            </a:r>
            <a:r>
              <a:rPr lang="en" b="1" dirty="0">
                <a:solidFill>
                  <a:schemeClr val="accent4"/>
                </a:solidFill>
              </a:rPr>
              <a:t>0.8613</a:t>
            </a:r>
            <a:r>
              <a:rPr lang="en" dirty="0">
                <a:solidFill>
                  <a:schemeClr val="accent4"/>
                </a:solidFill>
              </a:rPr>
              <a:t> </a:t>
            </a:r>
            <a:r>
              <a:rPr lang="en" dirty="0"/>
              <a:t>on the </a:t>
            </a:r>
            <a:r>
              <a:rPr lang="en" dirty="0">
                <a:solidFill>
                  <a:schemeClr val="accent4"/>
                </a:solidFill>
              </a:rPr>
              <a:t>test dataset</a:t>
            </a:r>
            <a:endParaRPr dirty="0">
              <a:solidFill>
                <a:schemeClr val="accent4"/>
              </a:solidFill>
            </a:endParaRPr>
          </a:p>
          <a:p>
            <a:pPr marL="0" lvl="0" indent="0" algn="l" rtl="0">
              <a:spcBef>
                <a:spcPts val="1000"/>
              </a:spcBef>
              <a:spcAft>
                <a:spcPts val="0"/>
              </a:spcAft>
              <a:buNone/>
            </a:pPr>
            <a:r>
              <a:rPr lang="en" dirty="0">
                <a:solidFill>
                  <a:schemeClr val="accent4"/>
                </a:solidFill>
              </a:rPr>
              <a:t>(&lt;1%</a:t>
            </a:r>
            <a:r>
              <a:rPr lang="en" dirty="0"/>
              <a:t> the known best result)</a:t>
            </a:r>
            <a:endParaRPr dirty="0"/>
          </a:p>
          <a:p>
            <a:pPr marL="0" lvl="0" indent="0" algn="l" rtl="0">
              <a:spcBef>
                <a:spcPts val="1000"/>
              </a:spcBef>
              <a:spcAft>
                <a:spcPts val="0"/>
              </a:spcAft>
              <a:buNone/>
            </a:pPr>
            <a:endParaRPr sz="100" b="1" dirty="0"/>
          </a:p>
          <a:p>
            <a:pPr marL="0" lvl="0" indent="0" algn="l" rtl="0">
              <a:spcBef>
                <a:spcPts val="1000"/>
              </a:spcBef>
              <a:spcAft>
                <a:spcPts val="0"/>
              </a:spcAft>
              <a:buNone/>
            </a:pPr>
            <a:r>
              <a:rPr lang="en" b="1" dirty="0">
                <a:latin typeface="Assistant SemiBold" pitchFamily="2" charset="-79"/>
                <a:cs typeface="Assistant SemiBold" pitchFamily="2" charset="-79"/>
              </a:rPr>
              <a:t>Light 9-feature</a:t>
            </a:r>
            <a:r>
              <a:rPr lang="en" dirty="0">
                <a:latin typeface="Assistant SemiBold" pitchFamily="2" charset="-79"/>
                <a:cs typeface="Assistant SemiBold" pitchFamily="2" charset="-79"/>
              </a:rPr>
              <a:t> </a:t>
            </a:r>
            <a:r>
              <a:rPr lang="en" b="1" dirty="0">
                <a:latin typeface="Assistant SemiBold" pitchFamily="2" charset="-79"/>
                <a:cs typeface="Assistant SemiBold" pitchFamily="2" charset="-79"/>
              </a:rPr>
              <a:t>models </a:t>
            </a:r>
            <a:r>
              <a:rPr lang="en" dirty="0"/>
              <a:t>perform with</a:t>
            </a:r>
          </a:p>
          <a:p>
            <a:pPr marL="0" lvl="0" indent="0" algn="l" rtl="0">
              <a:spcAft>
                <a:spcPts val="0"/>
              </a:spcAft>
              <a:buNone/>
            </a:pPr>
            <a:r>
              <a:rPr lang="en" dirty="0">
                <a:solidFill>
                  <a:schemeClr val="accent4"/>
                </a:solidFill>
              </a:rPr>
              <a:t>&lt;3%</a:t>
            </a:r>
            <a:r>
              <a:rPr lang="en" dirty="0"/>
              <a:t> </a:t>
            </a:r>
            <a:r>
              <a:rPr lang="en" dirty="0">
                <a:solidFill>
                  <a:schemeClr val="accent4"/>
                </a:solidFill>
              </a:rPr>
              <a:t>ROC-AUC loss</a:t>
            </a:r>
            <a:endParaRPr dirty="0">
              <a:solidFill>
                <a:schemeClr val="accent4"/>
              </a:solidFill>
            </a:endParaRPr>
          </a:p>
          <a:p>
            <a:pPr marL="0" lvl="0" indent="0" algn="l" rtl="0">
              <a:spcBef>
                <a:spcPts val="1000"/>
              </a:spcBef>
              <a:spcAft>
                <a:spcPts val="0"/>
              </a:spcAft>
              <a:buNone/>
            </a:pPr>
            <a:endParaRPr b="1" dirty="0"/>
          </a:p>
          <a:p>
            <a:pPr marL="0" lvl="0" indent="0" algn="l" rtl="0">
              <a:spcBef>
                <a:spcPts val="0"/>
              </a:spcBef>
              <a:spcAft>
                <a:spcPts val="0"/>
              </a:spcAft>
              <a:buNone/>
            </a:pPr>
            <a:r>
              <a:rPr lang="en" b="1" dirty="0">
                <a:latin typeface="Assistant SemiBold" pitchFamily="2" charset="-79"/>
                <a:cs typeface="Assistant SemiBold" pitchFamily="2" charset="-79"/>
              </a:rPr>
              <a:t>Light Models</a:t>
            </a:r>
            <a:r>
              <a:rPr lang="en" dirty="0">
                <a:latin typeface="Assistant SemiBold" pitchFamily="2" charset="-79"/>
                <a:cs typeface="Assistant SemiBold" pitchFamily="2" charset="-79"/>
              </a:rPr>
              <a:t> </a:t>
            </a:r>
            <a:r>
              <a:rPr lang="en" dirty="0"/>
              <a:t>deployed on the </a:t>
            </a:r>
            <a:endParaRPr dirty="0"/>
          </a:p>
          <a:p>
            <a:pPr marL="0" lvl="0" indent="0" algn="l" rtl="0">
              <a:spcBef>
                <a:spcPts val="0"/>
              </a:spcBef>
              <a:spcAft>
                <a:spcPts val="0"/>
              </a:spcAft>
              <a:buNone/>
            </a:pPr>
            <a:r>
              <a:rPr lang="en" dirty="0">
                <a:solidFill>
                  <a:schemeClr val="accent4"/>
                </a:solidFill>
              </a:rPr>
              <a:t>Streamlit </a:t>
            </a:r>
            <a:r>
              <a:rPr lang="en" dirty="0">
                <a:solidFill>
                  <a:schemeClr val="tx1"/>
                </a:solidFill>
              </a:rPr>
              <a:t>platform</a:t>
            </a:r>
            <a:r>
              <a:rPr lang="en" dirty="0"/>
              <a:t>:</a:t>
            </a:r>
            <a:endParaRPr dirty="0"/>
          </a:p>
          <a:p>
            <a:pPr marL="0" lvl="0" indent="0" algn="l" rtl="0">
              <a:spcBef>
                <a:spcPts val="1000"/>
              </a:spcBef>
              <a:spcAft>
                <a:spcPts val="0"/>
              </a:spcAft>
              <a:buNone/>
            </a:pPr>
            <a:endParaRPr dirty="0"/>
          </a:p>
          <a:p>
            <a:pPr marL="0" lvl="0" indent="0" algn="l" rtl="0">
              <a:spcBef>
                <a:spcPts val="1000"/>
              </a:spcBef>
              <a:spcAft>
                <a:spcPts val="1000"/>
              </a:spcAft>
              <a:buNone/>
            </a:pPr>
            <a:endParaRPr sz="1000" dirty="0"/>
          </a:p>
        </p:txBody>
      </p:sp>
      <p:pic>
        <p:nvPicPr>
          <p:cNvPr id="254" name="Google Shape;254;p30"/>
          <p:cNvPicPr preferRelativeResize="0"/>
          <p:nvPr/>
        </p:nvPicPr>
        <p:blipFill>
          <a:blip r:embed="rId4">
            <a:alphaModFix/>
          </a:blip>
          <a:stretch>
            <a:fillRect/>
          </a:stretch>
        </p:blipFill>
        <p:spPr>
          <a:xfrm>
            <a:off x="1244988" y="3437650"/>
            <a:ext cx="1067726" cy="1067726"/>
          </a:xfrm>
          <a:prstGeom prst="rect">
            <a:avLst/>
          </a:prstGeom>
          <a:noFill/>
          <a:ln>
            <a:noFill/>
          </a:ln>
        </p:spPr>
      </p:pic>
      <p:sp>
        <p:nvSpPr>
          <p:cNvPr id="255" name="Google Shape;255;p30"/>
          <p:cNvSpPr txBox="1">
            <a:spLocks noGrp="1"/>
          </p:cNvSpPr>
          <p:nvPr>
            <p:ph type="body" idx="1"/>
          </p:nvPr>
        </p:nvSpPr>
        <p:spPr>
          <a:xfrm>
            <a:off x="5841650" y="921174"/>
            <a:ext cx="2990700" cy="3841501"/>
          </a:xfrm>
          <a:prstGeom prst="rect">
            <a:avLst/>
          </a:prstGeom>
          <a:solidFill>
            <a:schemeClr val="accent3"/>
          </a:solidFill>
        </p:spPr>
        <p:txBody>
          <a:bodyPr spcFirstLastPara="1" wrap="square" lIns="91425" tIns="91425" rIns="91425" bIns="91425" anchor="t" anchorCtr="0">
            <a:normAutofit/>
          </a:bodyPr>
          <a:lstStyle/>
          <a:p>
            <a:pPr marL="0" lvl="0" indent="0" algn="ctr" rtl="0">
              <a:spcBef>
                <a:spcPts val="0"/>
              </a:spcBef>
              <a:spcAft>
                <a:spcPts val="0"/>
              </a:spcAft>
              <a:buNone/>
            </a:pPr>
            <a:r>
              <a:rPr lang="en" sz="1400" b="1" dirty="0">
                <a:solidFill>
                  <a:schemeClr val="accent4"/>
                </a:solidFill>
              </a:rPr>
              <a:t>Try-Out:</a:t>
            </a:r>
            <a:endParaRPr sz="1400" b="1" dirty="0">
              <a:solidFill>
                <a:schemeClr val="accent4"/>
              </a:solidFill>
            </a:endParaRPr>
          </a:p>
          <a:p>
            <a:pPr marL="457200" lvl="0" indent="-298450" algn="l" rtl="0">
              <a:spcBef>
                <a:spcPts val="1200"/>
              </a:spcBef>
              <a:spcAft>
                <a:spcPts val="0"/>
              </a:spcAft>
              <a:buSzPts val="1100"/>
              <a:buFont typeface="Arial"/>
              <a:buChar char="★"/>
            </a:pPr>
            <a:r>
              <a:rPr lang="en" sz="1100" dirty="0"/>
              <a:t>Start with </a:t>
            </a:r>
            <a:r>
              <a:rPr lang="en" sz="1100" dirty="0">
                <a:solidFill>
                  <a:schemeClr val="accent4"/>
                </a:solidFill>
              </a:rPr>
              <a:t>doctor recommendation</a:t>
            </a:r>
            <a:r>
              <a:rPr lang="en" sz="1100" dirty="0"/>
              <a:t>:</a:t>
            </a:r>
            <a:endParaRPr sz="1100" dirty="0"/>
          </a:p>
          <a:p>
            <a:pPr marL="457200" lvl="0" indent="0" algn="l" rtl="0">
              <a:spcBef>
                <a:spcPts val="1200"/>
              </a:spcBef>
              <a:spcAft>
                <a:spcPts val="0"/>
              </a:spcAft>
              <a:buNone/>
            </a:pPr>
            <a:r>
              <a:rPr lang="en" sz="1100" dirty="0"/>
              <a:t>This option produces the largest change, especially for </a:t>
            </a:r>
            <a:r>
              <a:rPr lang="en" sz="1100" b="1" dirty="0">
                <a:solidFill>
                  <a:schemeClr val="accent1"/>
                </a:solidFill>
              </a:rPr>
              <a:t>H1N1</a:t>
            </a:r>
            <a:r>
              <a:rPr lang="en" sz="1100" dirty="0"/>
              <a:t>.</a:t>
            </a:r>
            <a:endParaRPr sz="1100" dirty="0"/>
          </a:p>
          <a:p>
            <a:pPr marL="457200" lvl="0" indent="-298450" algn="l" rtl="0">
              <a:spcBef>
                <a:spcPts val="1200"/>
              </a:spcBef>
              <a:spcAft>
                <a:spcPts val="0"/>
              </a:spcAft>
              <a:buSzPts val="1100"/>
              <a:buChar char="★"/>
            </a:pPr>
            <a:r>
              <a:rPr lang="en" sz="1100" dirty="0"/>
              <a:t>Beliefs drive predictions:</a:t>
            </a:r>
            <a:endParaRPr sz="1100" dirty="0"/>
          </a:p>
          <a:p>
            <a:pPr marL="457200" lvl="0" indent="0" algn="l" rtl="0">
              <a:spcBef>
                <a:spcPts val="1200"/>
              </a:spcBef>
              <a:spcAft>
                <a:spcPts val="0"/>
              </a:spcAft>
              <a:buNone/>
            </a:pPr>
            <a:r>
              <a:rPr lang="en" sz="1100" dirty="0">
                <a:solidFill>
                  <a:schemeClr val="accent4"/>
                </a:solidFill>
              </a:rPr>
              <a:t>Vaccine effectiveness</a:t>
            </a:r>
            <a:r>
              <a:rPr lang="en" sz="1100" dirty="0"/>
              <a:t>, </a:t>
            </a:r>
            <a:r>
              <a:rPr lang="en" sz="1100" dirty="0">
                <a:solidFill>
                  <a:schemeClr val="accent4"/>
                </a:solidFill>
              </a:rPr>
              <a:t>risk if unvaccinated</a:t>
            </a:r>
            <a:r>
              <a:rPr lang="en" sz="1100" dirty="0"/>
              <a:t>, and </a:t>
            </a:r>
            <a:r>
              <a:rPr lang="en" sz="1100" dirty="0">
                <a:solidFill>
                  <a:schemeClr val="accent4"/>
                </a:solidFill>
              </a:rPr>
              <a:t>fear of side effects</a:t>
            </a:r>
            <a:r>
              <a:rPr lang="en" sz="1100" dirty="0"/>
              <a:t> matter more than demographics.</a:t>
            </a:r>
            <a:endParaRPr sz="1100" dirty="0"/>
          </a:p>
          <a:p>
            <a:pPr marL="457200" lvl="0" indent="-298450" algn="l" rtl="0">
              <a:spcBef>
                <a:spcPts val="1200"/>
              </a:spcBef>
              <a:spcAft>
                <a:spcPts val="0"/>
              </a:spcAft>
              <a:buSzPts val="1100"/>
              <a:buChar char="★"/>
            </a:pPr>
            <a:r>
              <a:rPr lang="en" sz="1100" b="1" dirty="0">
                <a:solidFill>
                  <a:schemeClr val="accent1"/>
                </a:solidFill>
              </a:rPr>
              <a:t>Seasonal Flu </a:t>
            </a:r>
            <a:r>
              <a:rPr lang="en" sz="1100" dirty="0"/>
              <a:t>vs.</a:t>
            </a:r>
            <a:r>
              <a:rPr lang="en" sz="1100" b="1" dirty="0"/>
              <a:t> </a:t>
            </a:r>
            <a:r>
              <a:rPr lang="en" sz="1100" b="1" dirty="0">
                <a:solidFill>
                  <a:schemeClr val="accent1"/>
                </a:solidFill>
              </a:rPr>
              <a:t>H1N1</a:t>
            </a:r>
            <a:r>
              <a:rPr lang="en" sz="1100" b="1" dirty="0"/>
              <a:t> </a:t>
            </a:r>
            <a:r>
              <a:rPr lang="en" sz="1100" dirty="0"/>
              <a:t>differ:</a:t>
            </a:r>
            <a:endParaRPr sz="1100" dirty="0"/>
          </a:p>
          <a:p>
            <a:pPr marL="457200" lvl="0" indent="0" algn="l" rtl="0">
              <a:spcBef>
                <a:spcPts val="1200"/>
              </a:spcBef>
              <a:spcAft>
                <a:spcPts val="1200"/>
              </a:spcAft>
              <a:buNone/>
            </a:pPr>
            <a:r>
              <a:rPr lang="en" sz="1100" dirty="0">
                <a:solidFill>
                  <a:schemeClr val="accent4"/>
                </a:solidFill>
              </a:rPr>
              <a:t>Age </a:t>
            </a:r>
            <a:r>
              <a:rPr lang="en" sz="1100" dirty="0"/>
              <a:t>matters more for </a:t>
            </a:r>
            <a:r>
              <a:rPr lang="en" sz="1100" b="1" dirty="0">
                <a:solidFill>
                  <a:schemeClr val="accent1"/>
                </a:solidFill>
              </a:rPr>
              <a:t>Seasonal flu</a:t>
            </a:r>
            <a:r>
              <a:rPr lang="en" sz="1100" dirty="0"/>
              <a:t>; </a:t>
            </a:r>
            <a:r>
              <a:rPr lang="en" sz="1100" dirty="0">
                <a:solidFill>
                  <a:schemeClr val="accent4"/>
                </a:solidFill>
              </a:rPr>
              <a:t>being a male (vs female) </a:t>
            </a:r>
            <a:r>
              <a:rPr lang="en" sz="1100" dirty="0"/>
              <a:t>matters for </a:t>
            </a:r>
            <a:r>
              <a:rPr lang="en" sz="1100" b="1" dirty="0">
                <a:solidFill>
                  <a:schemeClr val="accent1"/>
                </a:solidFill>
              </a:rPr>
              <a:t>H1N1</a:t>
            </a:r>
            <a:r>
              <a:rPr lang="en" sz="1100" dirty="0"/>
              <a:t>.</a:t>
            </a:r>
            <a:endParaRPr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1"/>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SzPts val="990"/>
              <a:buNone/>
            </a:pPr>
            <a:r>
              <a:rPr lang="en" sz="2420" dirty="0">
                <a:solidFill>
                  <a:schemeClr val="dk2"/>
                </a:solidFill>
              </a:rPr>
              <a:t>What We Learned</a:t>
            </a:r>
            <a:endParaRPr sz="2420" dirty="0">
              <a:solidFill>
                <a:schemeClr val="dk2"/>
              </a:solidFill>
            </a:endParaRPr>
          </a:p>
        </p:txBody>
      </p:sp>
      <p:sp>
        <p:nvSpPr>
          <p:cNvPr id="261" name="Google Shape;261;p31"/>
          <p:cNvSpPr txBox="1">
            <a:spLocks noGrp="1"/>
          </p:cNvSpPr>
          <p:nvPr>
            <p:ph type="body" idx="1"/>
          </p:nvPr>
        </p:nvSpPr>
        <p:spPr>
          <a:xfrm>
            <a:off x="311700" y="915600"/>
            <a:ext cx="8520600" cy="3747600"/>
          </a:xfrm>
          <a:prstGeom prst="rect">
            <a:avLst/>
          </a:prstGeom>
          <a:noFill/>
        </p:spPr>
        <p:txBody>
          <a:bodyPr spcFirstLastPara="1" wrap="square" lIns="91425" tIns="91425" rIns="91425" bIns="91425" anchor="t" anchorCtr="0">
            <a:normAutofit fontScale="92500"/>
          </a:bodyPr>
          <a:lstStyle/>
          <a:p>
            <a:pPr marL="457200" lvl="0" indent="-304800" algn="l" rtl="0">
              <a:spcBef>
                <a:spcPts val="1200"/>
              </a:spcBef>
              <a:spcAft>
                <a:spcPts val="0"/>
              </a:spcAft>
              <a:buSzPts val="1200"/>
              <a:buChar char="➢"/>
            </a:pPr>
            <a:r>
              <a:rPr lang="en" sz="1200" b="1" dirty="0">
                <a:solidFill>
                  <a:schemeClr val="accent4"/>
                </a:solidFill>
              </a:rPr>
              <a:t>Attitudes</a:t>
            </a:r>
            <a:r>
              <a:rPr lang="en" sz="1200" b="1" dirty="0"/>
              <a:t> </a:t>
            </a:r>
            <a:r>
              <a:rPr lang="en" sz="1200" dirty="0"/>
              <a:t>and </a:t>
            </a:r>
            <a:r>
              <a:rPr lang="en" sz="1200" b="1" dirty="0">
                <a:solidFill>
                  <a:schemeClr val="accent4"/>
                </a:solidFill>
              </a:rPr>
              <a:t>physician recommendation</a:t>
            </a:r>
            <a:r>
              <a:rPr lang="en" sz="1200" dirty="0">
                <a:solidFill>
                  <a:schemeClr val="accent4"/>
                </a:solidFill>
              </a:rPr>
              <a:t> </a:t>
            </a:r>
            <a:r>
              <a:rPr lang="en" sz="1200" dirty="0"/>
              <a:t>dominate prediction for both vaccines, while </a:t>
            </a:r>
            <a:r>
              <a:rPr lang="en" sz="1200" b="1" dirty="0">
                <a:solidFill>
                  <a:schemeClr val="accent4"/>
                </a:solidFill>
              </a:rPr>
              <a:t>demographic</a:t>
            </a:r>
            <a:r>
              <a:rPr lang="en" sz="1200" b="1" dirty="0"/>
              <a:t> </a:t>
            </a:r>
            <a:r>
              <a:rPr lang="en" sz="1200" dirty="0"/>
              <a:t>traits play a secondary role</a:t>
            </a:r>
            <a:br>
              <a:rPr lang="en" sz="1200" dirty="0"/>
            </a:br>
            <a:endParaRPr sz="1200" dirty="0"/>
          </a:p>
          <a:p>
            <a:pPr marL="457200" lvl="0" indent="-304800" algn="l" rtl="0">
              <a:spcBef>
                <a:spcPts val="0"/>
              </a:spcBef>
              <a:spcAft>
                <a:spcPts val="0"/>
              </a:spcAft>
              <a:buSzPts val="1200"/>
              <a:buChar char="➢"/>
            </a:pPr>
            <a:r>
              <a:rPr lang="en" sz="1200" b="1" dirty="0">
                <a:solidFill>
                  <a:schemeClr val="accent1"/>
                </a:solidFill>
              </a:rPr>
              <a:t>Seasonal flu</a:t>
            </a:r>
            <a:r>
              <a:rPr lang="en" sz="1200" dirty="0">
                <a:solidFill>
                  <a:schemeClr val="accent1"/>
                </a:solidFill>
              </a:rPr>
              <a:t> </a:t>
            </a:r>
            <a:r>
              <a:rPr lang="en" sz="1200" dirty="0"/>
              <a:t>vaccination reflects habitual behavior: a strong, </a:t>
            </a:r>
            <a:r>
              <a:rPr lang="en" sz="1200" b="1" dirty="0">
                <a:solidFill>
                  <a:schemeClr val="accent4"/>
                </a:solidFill>
              </a:rPr>
              <a:t>integrated pro-vaccine attitude</a:t>
            </a:r>
            <a:r>
              <a:rPr lang="en" sz="1200" dirty="0">
                <a:solidFill>
                  <a:schemeClr val="accent4"/>
                </a:solidFill>
              </a:rPr>
              <a:t> </a:t>
            </a:r>
            <a:r>
              <a:rPr lang="en" sz="1200" dirty="0"/>
              <a:t>is the most important predictor</a:t>
            </a:r>
            <a:br>
              <a:rPr lang="en" sz="1200" dirty="0"/>
            </a:br>
            <a:endParaRPr sz="1200" dirty="0"/>
          </a:p>
          <a:p>
            <a:pPr marL="457200" lvl="0" indent="-304800" algn="l" rtl="0">
              <a:spcBef>
                <a:spcPts val="0"/>
              </a:spcBef>
              <a:spcAft>
                <a:spcPts val="0"/>
              </a:spcAft>
              <a:buSzPts val="1200"/>
              <a:buChar char="➢"/>
            </a:pPr>
            <a:r>
              <a:rPr lang="en" sz="1200" b="1" dirty="0">
                <a:solidFill>
                  <a:schemeClr val="accent1"/>
                </a:solidFill>
              </a:rPr>
              <a:t>H1N1</a:t>
            </a:r>
            <a:r>
              <a:rPr lang="en" sz="1200" b="1" dirty="0"/>
              <a:t> </a:t>
            </a:r>
            <a:r>
              <a:rPr lang="en" sz="1200" dirty="0"/>
              <a:t>vaccination followed a different logic: uptake depended more on specific beliefs (</a:t>
            </a:r>
            <a:r>
              <a:rPr lang="en" sz="1200" b="1" dirty="0">
                <a:solidFill>
                  <a:schemeClr val="accent4"/>
                </a:solidFill>
              </a:rPr>
              <a:t>effectiveness</a:t>
            </a:r>
            <a:r>
              <a:rPr lang="en" sz="1200" dirty="0"/>
              <a:t>, </a:t>
            </a:r>
            <a:r>
              <a:rPr lang="en" sz="1200" b="1" dirty="0">
                <a:solidFill>
                  <a:schemeClr val="accent4"/>
                </a:solidFill>
              </a:rPr>
              <a:t>perceived risk</a:t>
            </a:r>
            <a:r>
              <a:rPr lang="en" sz="1200" dirty="0"/>
              <a:t>) and direct </a:t>
            </a:r>
            <a:r>
              <a:rPr lang="en" sz="1200" b="1" dirty="0">
                <a:solidFill>
                  <a:schemeClr val="accent4"/>
                </a:solidFill>
              </a:rPr>
              <a:t>doctor recommendation</a:t>
            </a:r>
            <a:r>
              <a:rPr lang="en" sz="1200" dirty="0"/>
              <a:t> than on general pro-vaccine attitudes</a:t>
            </a:r>
            <a:br>
              <a:rPr lang="en" sz="1200" dirty="0"/>
            </a:br>
            <a:endParaRPr sz="1200" dirty="0"/>
          </a:p>
          <a:p>
            <a:pPr marL="457200" lvl="0" indent="-304800" algn="l" rtl="0">
              <a:spcBef>
                <a:spcPts val="0"/>
              </a:spcBef>
              <a:spcAft>
                <a:spcPts val="0"/>
              </a:spcAft>
              <a:buSzPts val="1200"/>
              <a:buChar char="➢"/>
            </a:pPr>
            <a:r>
              <a:rPr lang="en" sz="1200" b="1" dirty="0">
                <a:solidFill>
                  <a:schemeClr val="accent4"/>
                </a:solidFill>
              </a:rPr>
              <a:t>Doctor recommendation</a:t>
            </a:r>
            <a:r>
              <a:rPr lang="en" sz="1200" dirty="0">
                <a:solidFill>
                  <a:schemeClr val="accent4"/>
                </a:solidFill>
              </a:rPr>
              <a:t> </a:t>
            </a:r>
            <a:r>
              <a:rPr lang="en" sz="1200" dirty="0"/>
              <a:t>is especially influential in outbreak contexts, acting as a key amplifier of existing beliefs</a:t>
            </a:r>
            <a:br>
              <a:rPr lang="en" sz="1200" dirty="0"/>
            </a:br>
            <a:endParaRPr sz="1200" dirty="0"/>
          </a:p>
          <a:p>
            <a:pPr marL="457200" lvl="0" indent="-304800" algn="l" rtl="0">
              <a:spcBef>
                <a:spcPts val="0"/>
              </a:spcBef>
              <a:spcAft>
                <a:spcPts val="0"/>
              </a:spcAft>
              <a:buSzPts val="1200"/>
              <a:buChar char="➢"/>
            </a:pPr>
            <a:r>
              <a:rPr lang="en" sz="1200" dirty="0"/>
              <a:t>Access matters: </a:t>
            </a:r>
            <a:r>
              <a:rPr lang="en" sz="1200" b="1" dirty="0">
                <a:solidFill>
                  <a:schemeClr val="accent4"/>
                </a:solidFill>
              </a:rPr>
              <a:t>health insurance status </a:t>
            </a:r>
            <a:r>
              <a:rPr lang="en" sz="1200" dirty="0"/>
              <a:t>was an important predictor for </a:t>
            </a:r>
            <a:r>
              <a:rPr lang="en" sz="1200" b="1" dirty="0">
                <a:solidFill>
                  <a:schemeClr val="accent1"/>
                </a:solidFill>
              </a:rPr>
              <a:t>H1N1</a:t>
            </a:r>
            <a:r>
              <a:rPr lang="en" sz="1200" b="1" dirty="0"/>
              <a:t> </a:t>
            </a:r>
            <a:r>
              <a:rPr lang="en" sz="1200" dirty="0"/>
              <a:t>vaccination, pointing to structural barriers rather than hesitancy alone</a:t>
            </a:r>
            <a:br>
              <a:rPr lang="en" sz="1200" dirty="0"/>
            </a:br>
            <a:endParaRPr sz="1200" dirty="0"/>
          </a:p>
          <a:p>
            <a:pPr marL="457200" lvl="0" indent="-304800" algn="l" rtl="0">
              <a:spcBef>
                <a:spcPts val="0"/>
              </a:spcBef>
              <a:spcAft>
                <a:spcPts val="0"/>
              </a:spcAft>
              <a:buSzPts val="1200"/>
              <a:buChar char="➢"/>
            </a:pPr>
            <a:r>
              <a:rPr lang="en" sz="1200" b="1" dirty="0">
                <a:solidFill>
                  <a:schemeClr val="accent4"/>
                </a:solidFill>
              </a:rPr>
              <a:t>Positive vaccination attitudes</a:t>
            </a:r>
            <a:r>
              <a:rPr lang="en" sz="1200" dirty="0">
                <a:solidFill>
                  <a:schemeClr val="accent4"/>
                </a:solidFill>
              </a:rPr>
              <a:t> </a:t>
            </a:r>
            <a:r>
              <a:rPr lang="en" sz="1200" dirty="0"/>
              <a:t>carry over across vaccines, increasing uptake during emergency situations</a:t>
            </a:r>
            <a:endParaRPr sz="1100" dirty="0"/>
          </a:p>
          <a:p>
            <a:pPr marL="0" lvl="0" indent="0" algn="ctr" rtl="0">
              <a:spcBef>
                <a:spcPts val="1200"/>
              </a:spcBef>
              <a:spcAft>
                <a:spcPts val="0"/>
              </a:spcAft>
              <a:buNone/>
            </a:pPr>
            <a:r>
              <a:rPr lang="en" sz="1416" b="1" dirty="0">
                <a:solidFill>
                  <a:schemeClr val="accent1"/>
                </a:solidFill>
              </a:rPr>
              <a:t>Key takeaway:</a:t>
            </a:r>
            <a:endParaRPr sz="1416" b="1" dirty="0">
              <a:solidFill>
                <a:schemeClr val="accent1"/>
              </a:solidFill>
            </a:endParaRPr>
          </a:p>
          <a:p>
            <a:pPr marL="0" lvl="0" indent="0" algn="ctr" rtl="0">
              <a:spcBef>
                <a:spcPts val="1200"/>
              </a:spcBef>
              <a:spcAft>
                <a:spcPts val="1200"/>
              </a:spcAft>
              <a:buNone/>
            </a:pPr>
            <a:r>
              <a:rPr lang="en" sz="1208" dirty="0"/>
              <a:t>Effective vaccination strategies should prioritize </a:t>
            </a:r>
            <a:r>
              <a:rPr lang="en" sz="1208" b="1" dirty="0">
                <a:solidFill>
                  <a:schemeClr val="accent4"/>
                </a:solidFill>
              </a:rPr>
              <a:t>trusted messengers</a:t>
            </a:r>
            <a:r>
              <a:rPr lang="en" sz="1208" dirty="0"/>
              <a:t>, </a:t>
            </a:r>
            <a:r>
              <a:rPr lang="en" sz="1208" b="1" dirty="0">
                <a:solidFill>
                  <a:schemeClr val="accent4"/>
                </a:solidFill>
              </a:rPr>
              <a:t>clear risk-benefit communication</a:t>
            </a:r>
            <a:r>
              <a:rPr lang="en" sz="1208" dirty="0"/>
              <a:t>, and </a:t>
            </a:r>
            <a:r>
              <a:rPr lang="en" sz="1208" b="1" dirty="0">
                <a:solidFill>
                  <a:schemeClr val="accent4"/>
                </a:solidFill>
              </a:rPr>
              <a:t>access</a:t>
            </a:r>
            <a:endParaRPr sz="1908" dirty="0">
              <a:solidFill>
                <a:schemeClr val="accent4"/>
              </a:solidFill>
            </a:endParaRPr>
          </a:p>
        </p:txBody>
      </p:sp>
      <p:sp>
        <p:nvSpPr>
          <p:cNvPr id="262" name="Google Shape;262;p3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11</a:t>
            </a:fld>
            <a:endParaRPr/>
          </a:p>
        </p:txBody>
      </p:sp>
      <p:pic>
        <p:nvPicPr>
          <p:cNvPr id="263" name="Google Shape;263;p31"/>
          <p:cNvPicPr preferRelativeResize="0"/>
          <p:nvPr/>
        </p:nvPicPr>
        <p:blipFill>
          <a:blip r:embed="rId3">
            <a:alphaModFix/>
          </a:blip>
          <a:stretch>
            <a:fillRect/>
          </a:stretch>
        </p:blipFill>
        <p:spPr>
          <a:xfrm>
            <a:off x="311695" y="3991733"/>
            <a:ext cx="538965" cy="4234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12</a:t>
            </a:fld>
            <a:endParaRPr/>
          </a:p>
        </p:txBody>
      </p:sp>
      <p:sp>
        <p:nvSpPr>
          <p:cNvPr id="269" name="Google Shape;269;p32"/>
          <p:cNvSpPr txBox="1">
            <a:spLocks noGrp="1"/>
          </p:cNvSpPr>
          <p:nvPr>
            <p:ph type="body" idx="4294967295"/>
          </p:nvPr>
        </p:nvSpPr>
        <p:spPr>
          <a:xfrm>
            <a:off x="1596900" y="2586975"/>
            <a:ext cx="5767500" cy="1019100"/>
          </a:xfrm>
          <a:prstGeom prst="rect">
            <a:avLst/>
          </a:prstGeom>
          <a:noFill/>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400" b="1">
                <a:solidFill>
                  <a:schemeClr val="dk2"/>
                </a:solidFill>
              </a:rPr>
              <a:t>Sergii Makhin</a:t>
            </a:r>
            <a:br>
              <a:rPr lang="en" sz="1400"/>
            </a:br>
            <a:r>
              <a:rPr lang="en" sz="1400"/>
              <a:t>Psychologist, Cognitive Neuroscientist</a:t>
            </a:r>
            <a:endParaRPr sz="1400"/>
          </a:p>
          <a:p>
            <a:pPr marL="0" lvl="0" indent="0" algn="l" rtl="0">
              <a:spcBef>
                <a:spcPts val="0"/>
              </a:spcBef>
              <a:spcAft>
                <a:spcPts val="1000"/>
              </a:spcAft>
              <a:buNone/>
            </a:pPr>
            <a:r>
              <a:rPr lang="en" sz="1400">
                <a:solidFill>
                  <a:schemeClr val="accent1"/>
                </a:solidFill>
              </a:rPr>
              <a:t>https://www.linkedin.com/in/sergii-makhin/</a:t>
            </a:r>
            <a:endParaRPr sz="1400">
              <a:solidFill>
                <a:schemeClr val="accent1"/>
              </a:solidFill>
            </a:endParaRPr>
          </a:p>
        </p:txBody>
      </p:sp>
      <p:sp>
        <p:nvSpPr>
          <p:cNvPr id="270" name="Google Shape;270;p32"/>
          <p:cNvSpPr txBox="1">
            <a:spLocks noGrp="1"/>
          </p:cNvSpPr>
          <p:nvPr>
            <p:ph type="title"/>
          </p:nvPr>
        </p:nvSpPr>
        <p:spPr>
          <a:xfrm>
            <a:off x="1536275" y="859100"/>
            <a:ext cx="6730200" cy="1392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4220"/>
              <a:t>Thank you very much! </a:t>
            </a:r>
            <a:endParaRPr sz="4220"/>
          </a:p>
          <a:p>
            <a:pPr marL="0" lvl="0" indent="0" algn="l" rtl="0">
              <a:spcBef>
                <a:spcPts val="0"/>
              </a:spcBef>
              <a:spcAft>
                <a:spcPts val="0"/>
              </a:spcAft>
              <a:buSzPts val="990"/>
              <a:buNone/>
            </a:pPr>
            <a:r>
              <a:rPr lang="en" sz="4220"/>
              <a:t>Any questions?</a:t>
            </a:r>
            <a:endParaRPr sz="4220"/>
          </a:p>
        </p:txBody>
      </p:sp>
      <p:sp>
        <p:nvSpPr>
          <p:cNvPr id="271" name="Google Shape;271;p32"/>
          <p:cNvSpPr txBox="1">
            <a:spLocks noGrp="1"/>
          </p:cNvSpPr>
          <p:nvPr>
            <p:ph type="body" idx="4294967295"/>
          </p:nvPr>
        </p:nvSpPr>
        <p:spPr>
          <a:xfrm>
            <a:off x="1596900" y="3743575"/>
            <a:ext cx="5767500" cy="1019100"/>
          </a:xfrm>
          <a:prstGeom prst="rect">
            <a:avLst/>
          </a:prstGeom>
          <a:noFill/>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400" b="1">
                <a:solidFill>
                  <a:schemeClr val="dk2"/>
                </a:solidFill>
              </a:rPr>
              <a:t>Americano Guerrero Diana Paola</a:t>
            </a:r>
            <a:br>
              <a:rPr lang="en" sz="1400">
                <a:solidFill>
                  <a:schemeClr val="dk2"/>
                </a:solidFill>
              </a:rPr>
            </a:br>
            <a:r>
              <a:rPr lang="en" sz="1400">
                <a:solidFill>
                  <a:srgbClr val="434343"/>
                </a:solidFill>
              </a:rPr>
              <a:t>Psychologist, Cognitive Neuroscientist</a:t>
            </a:r>
            <a:endParaRPr sz="1400">
              <a:solidFill>
                <a:srgbClr val="434343"/>
              </a:solidFill>
            </a:endParaRPr>
          </a:p>
          <a:p>
            <a:pPr marL="0" lvl="0" indent="0" algn="l" rtl="0">
              <a:spcBef>
                <a:spcPts val="0"/>
              </a:spcBef>
              <a:spcAft>
                <a:spcPts val="1000"/>
              </a:spcAft>
              <a:buNone/>
            </a:pPr>
            <a:r>
              <a:rPr lang="en" sz="1400">
                <a:solidFill>
                  <a:schemeClr val="accent1"/>
                </a:solidFill>
              </a:rPr>
              <a:t>https://www.linkedin.com/in/dpamericanog/</a:t>
            </a:r>
            <a:endParaRPr sz="1400">
              <a:solidFill>
                <a:schemeClr val="accent1"/>
              </a:solidFill>
            </a:endParaRPr>
          </a:p>
        </p:txBody>
      </p:sp>
      <p:pic>
        <p:nvPicPr>
          <p:cNvPr id="272" name="Google Shape;272;p32" title="Untitled.jpg"/>
          <p:cNvPicPr preferRelativeResize="0"/>
          <p:nvPr/>
        </p:nvPicPr>
        <p:blipFill>
          <a:blip r:embed="rId3">
            <a:alphaModFix/>
          </a:blip>
          <a:stretch>
            <a:fillRect/>
          </a:stretch>
        </p:blipFill>
        <p:spPr>
          <a:xfrm>
            <a:off x="564772" y="2586976"/>
            <a:ext cx="971491" cy="964300"/>
          </a:xfrm>
          <a:prstGeom prst="rect">
            <a:avLst/>
          </a:prstGeom>
          <a:noFill/>
          <a:ln>
            <a:noFill/>
          </a:ln>
        </p:spPr>
      </p:pic>
      <p:pic>
        <p:nvPicPr>
          <p:cNvPr id="273" name="Google Shape;273;p32" title="Untitled2.jpg"/>
          <p:cNvPicPr preferRelativeResize="0"/>
          <p:nvPr/>
        </p:nvPicPr>
        <p:blipFill>
          <a:blip r:embed="rId4">
            <a:alphaModFix/>
          </a:blip>
          <a:stretch>
            <a:fillRect/>
          </a:stretch>
        </p:blipFill>
        <p:spPr>
          <a:xfrm>
            <a:off x="564774" y="3673188"/>
            <a:ext cx="971500" cy="96788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D5D5D"/>
      </a:dk2>
      <a:lt2>
        <a:srgbClr val="DADADA"/>
      </a:lt2>
      <a:accent1>
        <a:srgbClr val="58ADC5"/>
      </a:accent1>
      <a:accent2>
        <a:srgbClr val="8AC6D6"/>
      </a:accent2>
      <a:accent3>
        <a:srgbClr val="CDE6EE"/>
      </a:accent3>
      <a:accent4>
        <a:srgbClr val="EA5B25"/>
      </a:accent4>
      <a:accent5>
        <a:srgbClr val="F08C66"/>
      </a:accent5>
      <a:accent6>
        <a:srgbClr val="F9CEBE"/>
      </a:accent6>
      <a:hlink>
        <a:srgbClr val="58AD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2302</Words>
  <Application>Microsoft Office PowerPoint</Application>
  <PresentationFormat>On-screen Show (16:9)</PresentationFormat>
  <Paragraphs>228</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Assistant Medium</vt:lpstr>
      <vt:lpstr>Assistant</vt:lpstr>
      <vt:lpstr>Wingdings</vt:lpstr>
      <vt:lpstr>Assistant SemiBold</vt:lpstr>
      <vt:lpstr>Courier New</vt:lpstr>
      <vt:lpstr>Arial</vt:lpstr>
      <vt:lpstr>Simple Light</vt:lpstr>
      <vt:lpstr>A Flu Shot Learning Project</vt:lpstr>
      <vt:lpstr>Understanding Flu Vaccination Decisions</vt:lpstr>
      <vt:lpstr>Project Workflow</vt:lpstr>
      <vt:lpstr>Socio-Economic Composition</vt:lpstr>
      <vt:lpstr>Feature Strategy: From Raw Data to Meaningful Signals</vt:lpstr>
      <vt:lpstr>Feature Engineering</vt:lpstr>
      <vt:lpstr>Model Selection</vt:lpstr>
      <vt:lpstr>Model Fine-Tuning</vt:lpstr>
      <vt:lpstr>Feature Importance Analysis (SHAP): Top 10</vt:lpstr>
      <vt:lpstr>Model Performance and Deployment</vt:lpstr>
      <vt:lpstr>What We Learned</vt:lpstr>
      <vt:lpstr>Thank you very much!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 M</dc:creator>
  <cp:lastModifiedBy>S M</cp:lastModifiedBy>
  <cp:revision>4</cp:revision>
  <dcterms:modified xsi:type="dcterms:W3CDTF">2025-12-10T10:33:41Z</dcterms:modified>
</cp:coreProperties>
</file>